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7" r:id="rId18"/>
    <p:sldId id="257" r:id="rId3"/>
    <p:sldId id="258" r:id="rId4"/>
    <p:sldId id="259" r:id="rId5"/>
    <p:sldId id="260" r:id="rId6"/>
    <p:sldId id="261" r:id="rId7"/>
    <p:sldId id="262" r:id="rId8"/>
    <p:sldId id="263" r:id="rId9"/>
    <p:sldId id="264" r:id="rId10"/>
    <p:sldId id="265" r:id="rId11"/>
    <p:sldId id="268" r:id="rId19"/>
    <p:sldId id="269" r:id="rId20"/>
    <p:sldId id="270" r:id="rId21"/>
    <p:sldId id="266" r:id="rId12"/>
  </p:sldIdLst>
  <p:notesMasterIdLst>
    <p:notesMasterId r:id="rId1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2"/>
        </a:solidFill>
      </p:bgPr>
    </p:bg>
    <p:spTree>
      <p:nvGrpSpPr>
        <p:cNvPr id="1" name=""/>
        <p:cNvGrpSpPr/>
        <p:nvPr/>
      </p:nvGrpSpPr>
      <p:grpSpPr>
        <a:xfrm>
          <a:off x="0" y="0"/>
          <a:ext cx="0" cy="0"/>
          <a:chOff x="0" y="0"/>
          <a:chExt cx="0" cy="0"/>
        </a:xfrm>
      </p:grpSpPr>
      <p:sp>
        <p:nvSpPr>
          <p:cNvPr id="2" name="Shape 0"/>
          <p:cNvSpPr/>
          <p:nvPr/>
        </p:nvSpPr>
        <p:spPr>
          <a:xfrm>
            <a:off x="952500" y="1007269"/>
            <a:ext cx="152400" cy="152400"/>
          </a:xfrm>
          <a:prstGeom prst="rect">
            <a:avLst/>
          </a:prstGeom>
          <a:solidFill>
            <a:srgbClr val="57D2E6"/>
          </a:solidFill>
          <a:ln/>
        </p:spPr>
      </p:sp>
      <p:sp>
        <p:nvSpPr>
          <p:cNvPr id="3" name="Text 1"/>
          <p:cNvSpPr/>
          <p:nvPr/>
        </p:nvSpPr>
        <p:spPr>
          <a:xfrm>
            <a:off x="1295400" y="952500"/>
            <a:ext cx="4103169"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ISB CAPSTONE PROJECT</a:t>
            </a:r>
            <a:endParaRPr lang="en-US" sz="1800" dirty="0"/>
          </a:p>
        </p:txBody>
      </p:sp>
      <p:sp>
        <p:nvSpPr>
          <p:cNvPr id="4" name="Text 2"/>
          <p:cNvSpPr/>
          <p:nvPr/>
        </p:nvSpPr>
        <p:spPr>
          <a:xfrm>
            <a:off x="952500" y="3567113"/>
            <a:ext cx="16344900" cy="1104900"/>
          </a:xfrm>
          <a:prstGeom prst="rect">
            <a:avLst/>
          </a:prstGeom>
          <a:noFill/>
          <a:ln/>
        </p:spPr>
        <p:txBody>
          <a:bodyPr wrap="square" lIns="25400" tIns="25400" rIns="25400" bIns="25400" rtlCol="0" anchor="t">
            <a:normAutofit/>
          </a:bodyPr>
          <a:lstStyle/>
          <a:p>
            <a:pPr algn="l" indent="0" marL="0">
              <a:lnSpc>
                <a:spcPct val="87160"/>
              </a:lnSpc>
              <a:buNone/>
            </a:pPr>
            <a:r>
              <a:rPr lang="en-US" sz="8400" b="1" spc="-252" kern="0" dirty="0">
                <a:solidFill>
                  <a:srgbClr val="EDF2F8"/>
                </a:solidFill>
                <a:latin typeface="Arial" pitchFamily="34" charset="0"/>
                <a:ea typeface="Arial" pitchFamily="34" charset="-122"/>
                <a:cs typeface="Arial" pitchFamily="34" charset="-120"/>
              </a:rPr>
              <a:t>Supply Chain Intelligence</a:t>
            </a:r>
            <a:endParaRPr lang="en-US" sz="8400" dirty="0"/>
          </a:p>
        </p:txBody>
      </p:sp>
      <p:sp>
        <p:nvSpPr>
          <p:cNvPr id="5" name="Shape 3"/>
          <p:cNvSpPr/>
          <p:nvPr/>
        </p:nvSpPr>
        <p:spPr>
          <a:xfrm>
            <a:off x="952500" y="4976813"/>
            <a:ext cx="14859000" cy="19050"/>
          </a:xfrm>
          <a:prstGeom prst="rect">
            <a:avLst/>
          </a:prstGeom>
          <a:solidFill>
            <a:srgbClr val="57D2E6"/>
          </a:solidFill>
          <a:ln/>
        </p:spPr>
      </p:sp>
      <p:sp>
        <p:nvSpPr>
          <p:cNvPr id="6" name="Text 4"/>
          <p:cNvSpPr/>
          <p:nvPr/>
        </p:nvSpPr>
        <p:spPr>
          <a:xfrm>
            <a:off x="952500" y="5338763"/>
            <a:ext cx="16344900" cy="561975"/>
          </a:xfrm>
          <a:prstGeom prst="rect">
            <a:avLst/>
          </a:prstGeom>
          <a:noFill/>
          <a:ln/>
        </p:spPr>
        <p:txBody>
          <a:bodyPr wrap="square" lIns="25400" tIns="25400" rIns="25400" bIns="25400" rtlCol="0" anchor="t">
            <a:normAutofit/>
          </a:bodyPr>
          <a:lstStyle/>
          <a:p>
            <a:pPr algn="l" indent="0" marL="0">
              <a:lnSpc>
                <a:spcPct val="107843"/>
              </a:lnSpc>
              <a:buNone/>
            </a:pPr>
            <a:r>
              <a:rPr lang="en-US" sz="3300" dirty="0">
                <a:solidFill>
                  <a:srgbClr val="93A5BB"/>
                </a:solidFill>
                <a:latin typeface="Arial" pitchFamily="34" charset="0"/>
                <a:ea typeface="Arial" pitchFamily="34" charset="-122"/>
                <a:cs typeface="Arial" pitchFamily="34" charset="-120"/>
              </a:rPr>
              <a:t>AI Demand Forecasting &amp; Quality Analytics</a:t>
            </a:r>
            <a:endParaRPr lang="en-US" sz="3300" dirty="0"/>
          </a:p>
        </p:txBody>
      </p:sp>
      <p:sp>
        <p:nvSpPr>
          <p:cNvPr id="7" name="Shape 5"/>
          <p:cNvSpPr/>
          <p:nvPr/>
        </p:nvSpPr>
        <p:spPr>
          <a:xfrm>
            <a:off x="952500" y="8215313"/>
            <a:ext cx="16383000" cy="19050"/>
          </a:xfrm>
          <a:prstGeom prst="rect">
            <a:avLst/>
          </a:prstGeom>
          <a:solidFill>
            <a:srgbClr val="E2ECF7">
              <a:alpha val="22000"/>
            </a:srgbClr>
          </a:solidFill>
          <a:ln/>
        </p:spPr>
      </p:sp>
      <p:sp>
        <p:nvSpPr>
          <p:cNvPr id="8" name="Shape 6"/>
          <p:cNvSpPr/>
          <p:nvPr/>
        </p:nvSpPr>
        <p:spPr>
          <a:xfrm>
            <a:off x="5057775" y="8234363"/>
            <a:ext cx="19050" cy="1290638"/>
          </a:xfrm>
          <a:prstGeom prst="rect">
            <a:avLst/>
          </a:prstGeom>
          <a:solidFill>
            <a:srgbClr val="E2ECF7">
              <a:alpha val="22000"/>
            </a:srgbClr>
          </a:solidFill>
          <a:ln/>
        </p:spPr>
      </p:sp>
      <p:sp>
        <p:nvSpPr>
          <p:cNvPr id="9" name="Text 7"/>
          <p:cNvSpPr/>
          <p:nvPr/>
        </p:nvSpPr>
        <p:spPr>
          <a:xfrm>
            <a:off x="952500" y="8615363"/>
            <a:ext cx="4012883"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93A5BB"/>
                </a:solidFill>
                <a:latin typeface="Arial" pitchFamily="34" charset="0"/>
                <a:ea typeface="Arial" pitchFamily="34" charset="-122"/>
                <a:cs typeface="Arial" pitchFamily="34" charset="-120"/>
              </a:rPr>
              <a:t>SPONSOR</a:t>
            </a:r>
            <a:endParaRPr lang="en-US" sz="1800" dirty="0"/>
          </a:p>
        </p:txBody>
      </p:sp>
      <p:sp>
        <p:nvSpPr>
          <p:cNvPr id="10" name="Text 8"/>
          <p:cNvSpPr/>
          <p:nvPr/>
        </p:nvSpPr>
        <p:spPr>
          <a:xfrm>
            <a:off x="952500" y="9010650"/>
            <a:ext cx="4012883" cy="390525"/>
          </a:xfrm>
          <a:prstGeom prst="rect">
            <a:avLst/>
          </a:prstGeom>
          <a:noFill/>
          <a:ln/>
        </p:spPr>
        <p:txBody>
          <a:bodyPr wrap="square" lIns="25400" tIns="25400" rIns="25400" bIns="25400" rtlCol="0" anchor="t">
            <a:normAutofit/>
          </a:bodyPr>
          <a:lstStyle/>
          <a:p>
            <a:pPr algn="l" indent="0" marL="0">
              <a:buNone/>
            </a:pPr>
            <a:r>
              <a:rPr lang="en-US" sz="2550" dirty="0">
                <a:solidFill>
                  <a:srgbClr val="EDF2F8"/>
                </a:solidFill>
                <a:latin typeface="Arial" pitchFamily="34" charset="0"/>
                <a:ea typeface="Arial" pitchFamily="34" charset="-122"/>
                <a:cs typeface="Arial" pitchFamily="34" charset="-120"/>
              </a:rPr>
              <a:t>Deloitte</a:t>
            </a:r>
            <a:endParaRPr lang="en-US" sz="2550" dirty="0"/>
          </a:p>
        </p:txBody>
      </p:sp>
      <p:sp>
        <p:nvSpPr>
          <p:cNvPr id="11" name="Text 9"/>
          <p:cNvSpPr/>
          <p:nvPr/>
        </p:nvSpPr>
        <p:spPr>
          <a:xfrm>
            <a:off x="5534025" y="8615363"/>
            <a:ext cx="844486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93A5BB"/>
                </a:solidFill>
                <a:latin typeface="Arial" pitchFamily="34" charset="0"/>
                <a:ea typeface="Arial" pitchFamily="34" charset="-122"/>
                <a:cs typeface="Arial" pitchFamily="34" charset="-120"/>
              </a:rPr>
              <a:t>TEAM</a:t>
            </a:r>
            <a:endParaRPr lang="en-US" sz="1800" dirty="0"/>
          </a:p>
        </p:txBody>
      </p:sp>
      <p:sp>
        <p:nvSpPr>
          <p:cNvPr id="12" name="Text 10"/>
          <p:cNvSpPr/>
          <p:nvPr/>
        </p:nvSpPr>
        <p:spPr>
          <a:xfrm>
            <a:off x="5534025" y="9010650"/>
            <a:ext cx="8444865" cy="552450"/>
          </a:xfrm>
          <a:prstGeom prst="rect">
            <a:avLst/>
          </a:prstGeom>
          <a:noFill/>
          <a:ln/>
        </p:spPr>
        <p:txBody>
          <a:bodyPr wrap="square" lIns="25400" tIns="25400" rIns="25400" bIns="25400" rtlCol="0" anchor="t">
            <a:normAutofit/>
          </a:bodyPr>
          <a:lstStyle/>
          <a:p>
            <a:pPr algn="l" indent="0" marL="0">
              <a:buNone/>
            </a:pPr>
            <a:r>
              <a:rPr lang="en-US" sz="2550" dirty="0">
                <a:solidFill>
                  <a:srgbClr val="EDF2F8"/>
                </a:solidFill>
                <a:latin typeface="Arial" pitchFamily="34" charset="0"/>
                <a:ea typeface="Arial" pitchFamily="34" charset="-122"/>
                <a:cs typeface="Arial" pitchFamily="34" charset="-120"/>
              </a:rPr>
              <a:t>Sai Prashanth, Arvind, Hariharan, Vani, Vedika</a:t>
            </a:r>
            <a:endParaRPr lang="en-US" sz="2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02 — CONTEXT</a:t>
            </a:r>
            <a:endParaRPr lang="en-US" sz="1800" dirty="0"/>
          </a:p>
        </p:txBody>
      </p:sp>
      <p:sp>
        <p:nvSpPr>
          <p:cNvPr id="3" name="Text 1"/>
          <p:cNvSpPr/>
          <p:nvPr/>
        </p:nvSpPr>
        <p:spPr>
          <a:xfrm>
            <a:off x="952500" y="1423988"/>
            <a:ext cx="14716125"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Five hubs and 154 SKUs carry the South India room AC business</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9124950" y="3127028"/>
            <a:ext cx="19050" cy="6397972"/>
          </a:xfrm>
          <a:prstGeom prst="rect">
            <a:avLst/>
          </a:prstGeom>
          <a:solidFill>
            <a:srgbClr val="E2ECF7">
              <a:alpha val="22000"/>
            </a:srgbClr>
          </a:solidFill>
          <a:ln/>
        </p:spPr>
      </p:sp>
      <p:sp>
        <p:nvSpPr>
          <p:cNvPr id="6" name="Text 4"/>
          <p:cNvSpPr/>
          <p:nvPr/>
        </p:nvSpPr>
        <p:spPr>
          <a:xfrm>
            <a:off x="952500" y="3622328"/>
            <a:ext cx="7632763" cy="1446758"/>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EDF2F8"/>
                </a:solidFill>
                <a:latin typeface="Arial" pitchFamily="34" charset="0"/>
                <a:ea typeface="Arial" pitchFamily="34" charset="-122"/>
                <a:cs typeface="Arial" pitchFamily="34" charset="-120"/>
              </a:rPr>
              <a:t>Forecasting demand and optimizing supply chain distribution for Room Air Conditioners across South India.</a:t>
            </a:r>
            <a:endParaRPr lang="en-US" sz="2550" dirty="0"/>
          </a:p>
        </p:txBody>
      </p:sp>
      <p:sp>
        <p:nvSpPr>
          <p:cNvPr id="7" name="Text 5"/>
          <p:cNvSpPr/>
          <p:nvPr/>
        </p:nvSpPr>
        <p:spPr>
          <a:xfrm>
            <a:off x="952500" y="5297686"/>
            <a:ext cx="7632763" cy="1278210"/>
          </a:xfrm>
          <a:prstGeom prst="rect">
            <a:avLst/>
          </a:prstGeom>
          <a:noFill/>
          <a:ln/>
        </p:spPr>
        <p:txBody>
          <a:bodyPr wrap="square" lIns="25400" tIns="25400" rIns="25400" bIns="25400" rtlCol="0" anchor="t">
            <a:normAutofit/>
          </a:bodyPr>
          <a:lstStyle/>
          <a:p>
            <a:pPr algn="l" indent="0" marL="0">
              <a:lnSpc>
                <a:spcPct val="133538"/>
              </a:lnSpc>
              <a:buNone/>
            </a:pPr>
            <a:r>
              <a:rPr lang="en-US" sz="2100" dirty="0">
                <a:solidFill>
                  <a:srgbClr val="93A5BB"/>
                </a:solidFill>
                <a:latin typeface="Arial" pitchFamily="34" charset="0"/>
                <a:ea typeface="Arial" pitchFamily="34" charset="-122"/>
                <a:cs typeface="Arial" pitchFamily="34" charset="-120"/>
              </a:rPr>
              <a:t>Better forecasts at hub level translate directly into lower safety stock, fewer inter-hub transfers and fewer stockouts in peak season.</a:t>
            </a:r>
            <a:endParaRPr lang="en-US" sz="2100" dirty="0"/>
          </a:p>
        </p:txBody>
      </p:sp>
      <p:sp>
        <p:nvSpPr>
          <p:cNvPr id="8" name="Text 6"/>
          <p:cNvSpPr/>
          <p:nvPr/>
        </p:nvSpPr>
        <p:spPr>
          <a:xfrm>
            <a:off x="952500" y="8382000"/>
            <a:ext cx="815149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93A5BB"/>
                </a:solidFill>
                <a:latin typeface="Arial" pitchFamily="34" charset="0"/>
                <a:ea typeface="Arial" pitchFamily="34" charset="-122"/>
                <a:cs typeface="Arial" pitchFamily="34" charset="-120"/>
              </a:rPr>
              <a:t>REGIONAL HUBS</a:t>
            </a:r>
            <a:endParaRPr lang="en-US" sz="1800" dirty="0"/>
          </a:p>
        </p:txBody>
      </p:sp>
      <p:sp>
        <p:nvSpPr>
          <p:cNvPr id="9" name="Shape 7"/>
          <p:cNvSpPr/>
          <p:nvPr/>
        </p:nvSpPr>
        <p:spPr>
          <a:xfrm>
            <a:off x="952500" y="9505950"/>
            <a:ext cx="7410450" cy="19050"/>
          </a:xfrm>
          <a:prstGeom prst="rect">
            <a:avLst/>
          </a:prstGeom>
          <a:solidFill>
            <a:srgbClr val="E2ECF7">
              <a:alpha val="22000"/>
            </a:srgbClr>
          </a:solidFill>
          <a:ln/>
        </p:spPr>
      </p:sp>
      <p:sp>
        <p:nvSpPr>
          <p:cNvPr id="10" name="Shape 8"/>
          <p:cNvSpPr/>
          <p:nvPr/>
        </p:nvSpPr>
        <p:spPr>
          <a:xfrm>
            <a:off x="952500" y="8758238"/>
            <a:ext cx="7410450" cy="19050"/>
          </a:xfrm>
          <a:prstGeom prst="rect">
            <a:avLst/>
          </a:prstGeom>
          <a:solidFill>
            <a:srgbClr val="E2ECF7">
              <a:alpha val="22000"/>
            </a:srgbClr>
          </a:solidFill>
          <a:ln/>
        </p:spPr>
      </p:sp>
      <p:sp>
        <p:nvSpPr>
          <p:cNvPr id="11" name="Shape 9"/>
          <p:cNvSpPr/>
          <p:nvPr/>
        </p:nvSpPr>
        <p:spPr>
          <a:xfrm>
            <a:off x="2266950" y="8777288"/>
            <a:ext cx="19050" cy="728663"/>
          </a:xfrm>
          <a:prstGeom prst="rect">
            <a:avLst/>
          </a:prstGeom>
          <a:solidFill>
            <a:srgbClr val="E2ECF7">
              <a:alpha val="22000"/>
            </a:srgbClr>
          </a:solidFill>
          <a:ln/>
        </p:spPr>
      </p:sp>
      <p:sp>
        <p:nvSpPr>
          <p:cNvPr id="12" name="Text 10"/>
          <p:cNvSpPr/>
          <p:nvPr/>
        </p:nvSpPr>
        <p:spPr>
          <a:xfrm>
            <a:off x="952500" y="8986838"/>
            <a:ext cx="1390650"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MAA</a:t>
            </a:r>
            <a:endParaRPr lang="en-US" sz="2100" dirty="0"/>
          </a:p>
        </p:txBody>
      </p:sp>
      <p:sp>
        <p:nvSpPr>
          <p:cNvPr id="13" name="Shape 11"/>
          <p:cNvSpPr/>
          <p:nvPr/>
        </p:nvSpPr>
        <p:spPr>
          <a:xfrm>
            <a:off x="3790950" y="8777288"/>
            <a:ext cx="19050" cy="728663"/>
          </a:xfrm>
          <a:prstGeom prst="rect">
            <a:avLst/>
          </a:prstGeom>
          <a:solidFill>
            <a:srgbClr val="E2ECF7">
              <a:alpha val="22000"/>
            </a:srgbClr>
          </a:solidFill>
          <a:ln/>
        </p:spPr>
      </p:sp>
      <p:sp>
        <p:nvSpPr>
          <p:cNvPr id="14" name="Text 12"/>
          <p:cNvSpPr/>
          <p:nvPr/>
        </p:nvSpPr>
        <p:spPr>
          <a:xfrm>
            <a:off x="2476500" y="8986838"/>
            <a:ext cx="1390650"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SBD</a:t>
            </a:r>
            <a:endParaRPr lang="en-US" sz="2100" dirty="0"/>
          </a:p>
        </p:txBody>
      </p:sp>
      <p:sp>
        <p:nvSpPr>
          <p:cNvPr id="15" name="Shape 13"/>
          <p:cNvSpPr/>
          <p:nvPr/>
        </p:nvSpPr>
        <p:spPr>
          <a:xfrm>
            <a:off x="5314950" y="8777288"/>
            <a:ext cx="19050" cy="728663"/>
          </a:xfrm>
          <a:prstGeom prst="rect">
            <a:avLst/>
          </a:prstGeom>
          <a:solidFill>
            <a:srgbClr val="E2ECF7">
              <a:alpha val="22000"/>
            </a:srgbClr>
          </a:solidFill>
          <a:ln/>
        </p:spPr>
      </p:sp>
      <p:sp>
        <p:nvSpPr>
          <p:cNvPr id="16" name="Text 14"/>
          <p:cNvSpPr/>
          <p:nvPr/>
        </p:nvSpPr>
        <p:spPr>
          <a:xfrm>
            <a:off x="4000500" y="8986838"/>
            <a:ext cx="1390650"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SBD1</a:t>
            </a:r>
            <a:endParaRPr lang="en-US" sz="2100" dirty="0"/>
          </a:p>
        </p:txBody>
      </p:sp>
      <p:sp>
        <p:nvSpPr>
          <p:cNvPr id="17" name="Shape 15"/>
          <p:cNvSpPr/>
          <p:nvPr/>
        </p:nvSpPr>
        <p:spPr>
          <a:xfrm>
            <a:off x="6838950" y="8777288"/>
            <a:ext cx="19050" cy="728663"/>
          </a:xfrm>
          <a:prstGeom prst="rect">
            <a:avLst/>
          </a:prstGeom>
          <a:solidFill>
            <a:srgbClr val="E2ECF7">
              <a:alpha val="22000"/>
            </a:srgbClr>
          </a:solidFill>
          <a:ln/>
        </p:spPr>
      </p:sp>
      <p:sp>
        <p:nvSpPr>
          <p:cNvPr id="18" name="Text 16"/>
          <p:cNvSpPr/>
          <p:nvPr/>
        </p:nvSpPr>
        <p:spPr>
          <a:xfrm>
            <a:off x="5524500" y="8986838"/>
            <a:ext cx="1390650"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COK</a:t>
            </a:r>
            <a:endParaRPr lang="en-US" sz="2100" dirty="0"/>
          </a:p>
        </p:txBody>
      </p:sp>
      <p:sp>
        <p:nvSpPr>
          <p:cNvPr id="19" name="Text 17"/>
          <p:cNvSpPr/>
          <p:nvPr/>
        </p:nvSpPr>
        <p:spPr>
          <a:xfrm>
            <a:off x="7048500" y="8986838"/>
            <a:ext cx="1390650"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BLR</a:t>
            </a:r>
            <a:endParaRPr lang="en-US" sz="2100" dirty="0"/>
          </a:p>
        </p:txBody>
      </p:sp>
      <p:sp>
        <p:nvSpPr>
          <p:cNvPr id="20" name="Shape 18"/>
          <p:cNvSpPr/>
          <p:nvPr/>
        </p:nvSpPr>
        <p:spPr>
          <a:xfrm>
            <a:off x="9906000" y="5436840"/>
            <a:ext cx="7429500" cy="19050"/>
          </a:xfrm>
          <a:prstGeom prst="rect">
            <a:avLst/>
          </a:prstGeom>
          <a:solidFill>
            <a:srgbClr val="E2ECF7">
              <a:alpha val="22000"/>
            </a:srgbClr>
          </a:solidFill>
          <a:ln/>
        </p:spPr>
      </p:sp>
      <p:sp>
        <p:nvSpPr>
          <p:cNvPr id="21" name="Text 19"/>
          <p:cNvSpPr/>
          <p:nvPr/>
        </p:nvSpPr>
        <p:spPr>
          <a:xfrm>
            <a:off x="9906000" y="3622328"/>
            <a:ext cx="8172450" cy="1085850"/>
          </a:xfrm>
          <a:prstGeom prst="rect">
            <a:avLst/>
          </a:prstGeom>
          <a:noFill/>
          <a:ln/>
        </p:spPr>
        <p:txBody>
          <a:bodyPr wrap="square" lIns="25400" tIns="25400" rIns="25400" bIns="25400" rtlCol="0" anchor="t">
            <a:normAutofit/>
          </a:bodyPr>
          <a:lstStyle/>
          <a:p>
            <a:pPr algn="l" indent="0" marL="0">
              <a:lnSpc>
                <a:spcPct val="86957"/>
              </a:lnSpc>
              <a:buNone/>
            </a:pPr>
            <a:r>
              <a:rPr lang="en-US" sz="8250" b="1" spc="-330" kern="0" dirty="0">
                <a:solidFill>
                  <a:srgbClr val="57D2E6"/>
                </a:solidFill>
                <a:latin typeface="Arial" pitchFamily="34" charset="0"/>
                <a:ea typeface="Arial" pitchFamily="34" charset="-122"/>
                <a:cs typeface="Arial" pitchFamily="34" charset="-120"/>
              </a:rPr>
              <a:t>154</a:t>
            </a:r>
            <a:endParaRPr lang="en-US" sz="8250" dirty="0"/>
          </a:p>
        </p:txBody>
      </p:sp>
      <p:sp>
        <p:nvSpPr>
          <p:cNvPr id="22" name="Text 20"/>
          <p:cNvSpPr/>
          <p:nvPr/>
        </p:nvSpPr>
        <p:spPr>
          <a:xfrm>
            <a:off x="9906000" y="4765328"/>
            <a:ext cx="81724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Active SKUs in scope</a:t>
            </a:r>
            <a:endParaRPr lang="en-US" sz="2100" dirty="0"/>
          </a:p>
        </p:txBody>
      </p:sp>
      <p:sp>
        <p:nvSpPr>
          <p:cNvPr id="23" name="Shape 21"/>
          <p:cNvSpPr/>
          <p:nvPr/>
        </p:nvSpPr>
        <p:spPr>
          <a:xfrm>
            <a:off x="9906000" y="7651403"/>
            <a:ext cx="7429500" cy="19050"/>
          </a:xfrm>
          <a:prstGeom prst="rect">
            <a:avLst/>
          </a:prstGeom>
          <a:solidFill>
            <a:srgbClr val="E2ECF7">
              <a:alpha val="22000"/>
            </a:srgbClr>
          </a:solidFill>
          <a:ln/>
        </p:spPr>
      </p:sp>
      <p:sp>
        <p:nvSpPr>
          <p:cNvPr id="24" name="Text 22"/>
          <p:cNvSpPr/>
          <p:nvPr/>
        </p:nvSpPr>
        <p:spPr>
          <a:xfrm>
            <a:off x="9906000" y="5836890"/>
            <a:ext cx="8172450" cy="1085850"/>
          </a:xfrm>
          <a:prstGeom prst="rect">
            <a:avLst/>
          </a:prstGeom>
          <a:noFill/>
          <a:ln/>
        </p:spPr>
        <p:txBody>
          <a:bodyPr wrap="square" lIns="25400" tIns="25400" rIns="25400" bIns="25400" rtlCol="0" anchor="t">
            <a:normAutofit/>
          </a:bodyPr>
          <a:lstStyle/>
          <a:p>
            <a:pPr algn="l" indent="0" marL="0">
              <a:lnSpc>
                <a:spcPct val="86957"/>
              </a:lnSpc>
              <a:buNone/>
            </a:pPr>
            <a:r>
              <a:rPr lang="en-US" sz="8250" b="1" spc="-330" kern="0" dirty="0">
                <a:solidFill>
                  <a:srgbClr val="57D2E6"/>
                </a:solidFill>
                <a:latin typeface="Arial" pitchFamily="34" charset="0"/>
                <a:ea typeface="Arial" pitchFamily="34" charset="-122"/>
                <a:cs typeface="Arial" pitchFamily="34" charset="-120"/>
              </a:rPr>
              <a:t>5</a:t>
            </a:r>
            <a:endParaRPr lang="en-US" sz="8250" dirty="0"/>
          </a:p>
        </p:txBody>
      </p:sp>
      <p:sp>
        <p:nvSpPr>
          <p:cNvPr id="25" name="Text 23"/>
          <p:cNvSpPr/>
          <p:nvPr/>
        </p:nvSpPr>
        <p:spPr>
          <a:xfrm>
            <a:off x="9906000" y="6979890"/>
            <a:ext cx="81724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Regional distribution hubs</a:t>
            </a:r>
            <a:endParaRPr lang="en-US" sz="2100" dirty="0"/>
          </a:p>
        </p:txBody>
      </p:sp>
      <p:sp>
        <p:nvSpPr>
          <p:cNvPr id="26" name="Text 24"/>
          <p:cNvSpPr/>
          <p:nvPr/>
        </p:nvSpPr>
        <p:spPr>
          <a:xfrm>
            <a:off x="9906000" y="8051453"/>
            <a:ext cx="8172450" cy="1085850"/>
          </a:xfrm>
          <a:prstGeom prst="rect">
            <a:avLst/>
          </a:prstGeom>
          <a:noFill/>
          <a:ln/>
        </p:spPr>
        <p:txBody>
          <a:bodyPr wrap="square" lIns="25400" tIns="25400" rIns="25400" bIns="25400" rtlCol="0" anchor="t">
            <a:normAutofit/>
          </a:bodyPr>
          <a:lstStyle/>
          <a:p>
            <a:pPr algn="l" indent="0" marL="0">
              <a:lnSpc>
                <a:spcPct val="86957"/>
              </a:lnSpc>
              <a:buNone/>
            </a:pPr>
            <a:r>
              <a:rPr lang="en-US" sz="8250" b="1" spc="-330" kern="0" dirty="0">
                <a:solidFill>
                  <a:srgbClr val="57D2E6"/>
                </a:solidFill>
                <a:latin typeface="Arial" pitchFamily="34" charset="0"/>
                <a:ea typeface="Arial" pitchFamily="34" charset="-122"/>
                <a:cs typeface="Arial" pitchFamily="34" charset="-120"/>
              </a:rPr>
              <a:t>3</a:t>
            </a:r>
            <a:endParaRPr lang="en-US" sz="8250" dirty="0"/>
          </a:p>
        </p:txBody>
      </p:sp>
      <p:sp>
        <p:nvSpPr>
          <p:cNvPr id="27" name="Text 25"/>
          <p:cNvSpPr/>
          <p:nvPr/>
        </p:nvSpPr>
        <p:spPr>
          <a:xfrm>
            <a:off x="9906000" y="9194453"/>
            <a:ext cx="81724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Fiscal years of billing data — Jul 2022 to Jun 2024</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03 — DATA</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The billing data is 95% complete, but a structural gap in Q1 FY24-25 caps the usable history</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952500" y="5752058"/>
            <a:ext cx="16383000" cy="19050"/>
          </a:xfrm>
          <a:prstGeom prst="rect">
            <a:avLst/>
          </a:prstGeom>
          <a:solidFill>
            <a:srgbClr val="E2ECF7">
              <a:alpha val="22000"/>
            </a:srgbClr>
          </a:solidFill>
          <a:ln/>
        </p:spPr>
      </p:sp>
      <p:sp>
        <p:nvSpPr>
          <p:cNvPr id="6" name="Shape 4"/>
          <p:cNvSpPr/>
          <p:nvPr/>
        </p:nvSpPr>
        <p:spPr>
          <a:xfrm>
            <a:off x="952500" y="3622328"/>
            <a:ext cx="16383000" cy="19050"/>
          </a:xfrm>
          <a:prstGeom prst="rect">
            <a:avLst/>
          </a:prstGeom>
          <a:solidFill>
            <a:srgbClr val="E2ECF7">
              <a:alpha val="22000"/>
            </a:srgbClr>
          </a:solidFill>
          <a:ln/>
        </p:spPr>
      </p:sp>
      <p:sp>
        <p:nvSpPr>
          <p:cNvPr id="7" name="Shape 5"/>
          <p:cNvSpPr/>
          <p:nvPr/>
        </p:nvSpPr>
        <p:spPr>
          <a:xfrm>
            <a:off x="5029200" y="3641378"/>
            <a:ext cx="19050" cy="2110680"/>
          </a:xfrm>
          <a:prstGeom prst="rect">
            <a:avLst/>
          </a:prstGeom>
          <a:solidFill>
            <a:srgbClr val="E2ECF7">
              <a:alpha val="22000"/>
            </a:srgbClr>
          </a:solidFill>
          <a:ln/>
        </p:spPr>
      </p:sp>
      <p:sp>
        <p:nvSpPr>
          <p:cNvPr id="8" name="Text 6"/>
          <p:cNvSpPr/>
          <p:nvPr/>
        </p:nvSpPr>
        <p:spPr>
          <a:xfrm>
            <a:off x="952500" y="3984278"/>
            <a:ext cx="4065270" cy="628650"/>
          </a:xfrm>
          <a:prstGeom prst="rect">
            <a:avLst/>
          </a:prstGeom>
          <a:noFill/>
          <a:ln/>
        </p:spPr>
        <p:txBody>
          <a:bodyPr wrap="square" lIns="25400" tIns="25400" rIns="25400" bIns="25400" rtlCol="0" anchor="t">
            <a:normAutofit/>
          </a:bodyPr>
          <a:lstStyle/>
          <a:p>
            <a:pPr algn="l" indent="0" marL="0">
              <a:lnSpc>
                <a:spcPct val="87324"/>
              </a:lnSpc>
              <a:buNone/>
            </a:pPr>
            <a:r>
              <a:rPr lang="en-US" sz="4650" b="1" spc="-139" kern="0" dirty="0">
                <a:solidFill>
                  <a:srgbClr val="EDF2F8"/>
                </a:solidFill>
                <a:latin typeface="Arial" pitchFamily="34" charset="0"/>
                <a:ea typeface="Arial" pitchFamily="34" charset="-122"/>
                <a:cs typeface="Arial" pitchFamily="34" charset="-120"/>
              </a:rPr>
              <a:t>82,034</a:t>
            </a:r>
            <a:endParaRPr lang="en-US" sz="4650" dirty="0"/>
          </a:p>
        </p:txBody>
      </p:sp>
      <p:sp>
        <p:nvSpPr>
          <p:cNvPr id="9" name="Text 7"/>
          <p:cNvSpPr/>
          <p:nvPr/>
        </p:nvSpPr>
        <p:spPr>
          <a:xfrm>
            <a:off x="952500" y="4689128"/>
            <a:ext cx="406527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93A5BB"/>
                </a:solidFill>
                <a:latin typeface="Arial" pitchFamily="34" charset="0"/>
                <a:ea typeface="Arial" pitchFamily="34" charset="-122"/>
                <a:cs typeface="Arial" pitchFamily="34" charset="-120"/>
              </a:rPr>
              <a:t>Transaction records</a:t>
            </a:r>
            <a:endParaRPr lang="en-US" sz="2100" dirty="0"/>
          </a:p>
        </p:txBody>
      </p:sp>
      <p:sp>
        <p:nvSpPr>
          <p:cNvPr id="10" name="Shape 8"/>
          <p:cNvSpPr/>
          <p:nvPr/>
        </p:nvSpPr>
        <p:spPr>
          <a:xfrm>
            <a:off x="9124950" y="3641378"/>
            <a:ext cx="19050" cy="2110680"/>
          </a:xfrm>
          <a:prstGeom prst="rect">
            <a:avLst/>
          </a:prstGeom>
          <a:solidFill>
            <a:srgbClr val="E2ECF7">
              <a:alpha val="22000"/>
            </a:srgbClr>
          </a:solidFill>
          <a:ln/>
        </p:spPr>
      </p:sp>
      <p:sp>
        <p:nvSpPr>
          <p:cNvPr id="11" name="Text 9"/>
          <p:cNvSpPr/>
          <p:nvPr/>
        </p:nvSpPr>
        <p:spPr>
          <a:xfrm>
            <a:off x="5429250" y="3984278"/>
            <a:ext cx="3646170" cy="628650"/>
          </a:xfrm>
          <a:prstGeom prst="rect">
            <a:avLst/>
          </a:prstGeom>
          <a:noFill/>
          <a:ln/>
        </p:spPr>
        <p:txBody>
          <a:bodyPr wrap="square" lIns="25400" tIns="25400" rIns="25400" bIns="25400" rtlCol="0" anchor="t">
            <a:normAutofit/>
          </a:bodyPr>
          <a:lstStyle/>
          <a:p>
            <a:pPr algn="l" indent="0" marL="0">
              <a:lnSpc>
                <a:spcPct val="87324"/>
              </a:lnSpc>
              <a:buNone/>
            </a:pPr>
            <a:r>
              <a:rPr lang="en-US" sz="4650" b="1" spc="-139" kern="0" dirty="0">
                <a:solidFill>
                  <a:srgbClr val="57D2E6"/>
                </a:solidFill>
                <a:latin typeface="Arial" pitchFamily="34" charset="0"/>
                <a:ea typeface="Arial" pitchFamily="34" charset="-122"/>
                <a:cs typeface="Arial" pitchFamily="34" charset="-120"/>
              </a:rPr>
              <a:t>94.99%</a:t>
            </a:r>
            <a:endParaRPr lang="en-US" sz="4650" dirty="0"/>
          </a:p>
        </p:txBody>
      </p:sp>
      <p:sp>
        <p:nvSpPr>
          <p:cNvPr id="12" name="Text 10"/>
          <p:cNvSpPr/>
          <p:nvPr/>
        </p:nvSpPr>
        <p:spPr>
          <a:xfrm>
            <a:off x="5429250" y="4689128"/>
            <a:ext cx="364617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93A5BB"/>
                </a:solidFill>
                <a:latin typeface="Arial" pitchFamily="34" charset="0"/>
                <a:ea typeface="Arial" pitchFamily="34" charset="-122"/>
                <a:cs typeface="Arial" pitchFamily="34" charset="-120"/>
              </a:rPr>
              <a:t>Field completeness</a:t>
            </a:r>
            <a:endParaRPr lang="en-US" sz="2100" dirty="0"/>
          </a:p>
        </p:txBody>
      </p:sp>
      <p:sp>
        <p:nvSpPr>
          <p:cNvPr id="13" name="Shape 11"/>
          <p:cNvSpPr/>
          <p:nvPr/>
        </p:nvSpPr>
        <p:spPr>
          <a:xfrm>
            <a:off x="13220700" y="3641378"/>
            <a:ext cx="19050" cy="2110680"/>
          </a:xfrm>
          <a:prstGeom prst="rect">
            <a:avLst/>
          </a:prstGeom>
          <a:solidFill>
            <a:srgbClr val="E2ECF7">
              <a:alpha val="22000"/>
            </a:srgbClr>
          </a:solidFill>
          <a:ln/>
        </p:spPr>
      </p:sp>
      <p:sp>
        <p:nvSpPr>
          <p:cNvPr id="14" name="Text 12"/>
          <p:cNvSpPr/>
          <p:nvPr/>
        </p:nvSpPr>
        <p:spPr>
          <a:xfrm>
            <a:off x="9525000" y="3984278"/>
            <a:ext cx="3646170" cy="628650"/>
          </a:xfrm>
          <a:prstGeom prst="rect">
            <a:avLst/>
          </a:prstGeom>
          <a:noFill/>
          <a:ln/>
        </p:spPr>
        <p:txBody>
          <a:bodyPr wrap="square" lIns="25400" tIns="25400" rIns="25400" bIns="25400" rtlCol="0" anchor="t">
            <a:normAutofit/>
          </a:bodyPr>
          <a:lstStyle/>
          <a:p>
            <a:pPr algn="l" indent="0" marL="0">
              <a:lnSpc>
                <a:spcPct val="87324"/>
              </a:lnSpc>
              <a:buNone/>
            </a:pPr>
            <a:r>
              <a:rPr lang="en-US" sz="4650" b="1" spc="-139" kern="0" dirty="0">
                <a:solidFill>
                  <a:srgbClr val="EDF2F8"/>
                </a:solidFill>
                <a:latin typeface="Arial" pitchFamily="34" charset="0"/>
                <a:ea typeface="Arial" pitchFamily="34" charset="-122"/>
                <a:cs typeface="Arial" pitchFamily="34" charset="-120"/>
              </a:rPr>
              <a:t>4,463</a:t>
            </a:r>
            <a:endParaRPr lang="en-US" sz="4650" dirty="0"/>
          </a:p>
        </p:txBody>
      </p:sp>
      <p:sp>
        <p:nvSpPr>
          <p:cNvPr id="15" name="Text 13"/>
          <p:cNvSpPr/>
          <p:nvPr/>
        </p:nvSpPr>
        <p:spPr>
          <a:xfrm>
            <a:off x="9525000" y="4689128"/>
            <a:ext cx="364617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93A5BB"/>
                </a:solidFill>
                <a:latin typeface="Arial" pitchFamily="34" charset="0"/>
                <a:ea typeface="Arial" pitchFamily="34" charset="-122"/>
                <a:cs typeface="Arial" pitchFamily="34" charset="-120"/>
              </a:rPr>
              <a:t>Duplicate records — 5.44%</a:t>
            </a:r>
            <a:endParaRPr lang="en-US" sz="2100" dirty="0"/>
          </a:p>
        </p:txBody>
      </p:sp>
      <p:sp>
        <p:nvSpPr>
          <p:cNvPr id="16" name="Text 14"/>
          <p:cNvSpPr/>
          <p:nvPr/>
        </p:nvSpPr>
        <p:spPr>
          <a:xfrm>
            <a:off x="13620750" y="3984278"/>
            <a:ext cx="4086225" cy="628650"/>
          </a:xfrm>
          <a:prstGeom prst="rect">
            <a:avLst/>
          </a:prstGeom>
          <a:noFill/>
          <a:ln/>
        </p:spPr>
        <p:txBody>
          <a:bodyPr wrap="square" lIns="25400" tIns="25400" rIns="25400" bIns="25400" rtlCol="0" anchor="t">
            <a:normAutofit/>
          </a:bodyPr>
          <a:lstStyle/>
          <a:p>
            <a:pPr algn="l" indent="0" marL="0">
              <a:lnSpc>
                <a:spcPct val="87324"/>
              </a:lnSpc>
              <a:buNone/>
            </a:pPr>
            <a:r>
              <a:rPr lang="en-US" sz="4650" b="1" spc="-139" kern="0" dirty="0">
                <a:solidFill>
                  <a:srgbClr val="E2745F"/>
                </a:solidFill>
                <a:latin typeface="Arial" pitchFamily="34" charset="0"/>
                <a:ea typeface="Arial" pitchFamily="34" charset="-122"/>
                <a:cs typeface="Arial" pitchFamily="34" charset="-120"/>
              </a:rPr>
              <a:t>23,603</a:t>
            </a:r>
            <a:endParaRPr lang="en-US" sz="4650" dirty="0"/>
          </a:p>
        </p:txBody>
      </p:sp>
      <p:sp>
        <p:nvSpPr>
          <p:cNvPr id="17" name="Text 15"/>
          <p:cNvSpPr/>
          <p:nvPr/>
        </p:nvSpPr>
        <p:spPr>
          <a:xfrm>
            <a:off x="13620750" y="4689128"/>
            <a:ext cx="3826193" cy="758130"/>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93A5BB"/>
                </a:solidFill>
                <a:latin typeface="Arial" pitchFamily="34" charset="0"/>
                <a:ea typeface="Arial" pitchFamily="34" charset="-122"/>
                <a:cs typeface="Arial" pitchFamily="34" charset="-120"/>
              </a:rPr>
              <a:t>Rows missing structurally — 28.77%, Q1 FY24-25</a:t>
            </a:r>
            <a:endParaRPr lang="en-US" sz="2100" dirty="0"/>
          </a:p>
        </p:txBody>
      </p:sp>
      <p:sp>
        <p:nvSpPr>
          <p:cNvPr id="18" name="Shape 16"/>
          <p:cNvSpPr/>
          <p:nvPr/>
        </p:nvSpPr>
        <p:spPr>
          <a:xfrm>
            <a:off x="10763250" y="5771108"/>
            <a:ext cx="19050" cy="3753892"/>
          </a:xfrm>
          <a:prstGeom prst="rect">
            <a:avLst/>
          </a:prstGeom>
          <a:solidFill>
            <a:srgbClr val="E2ECF7">
              <a:alpha val="22000"/>
            </a:srgbClr>
          </a:solidFill>
          <a:ln/>
        </p:spPr>
      </p:sp>
      <p:sp>
        <p:nvSpPr>
          <p:cNvPr id="19" name="Text 17"/>
          <p:cNvSpPr/>
          <p:nvPr/>
        </p:nvSpPr>
        <p:spPr>
          <a:xfrm>
            <a:off x="952500" y="6266408"/>
            <a:ext cx="995362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93A5BB"/>
                </a:solidFill>
                <a:latin typeface="Arial" pitchFamily="34" charset="0"/>
                <a:ea typeface="Arial" pitchFamily="34" charset="-122"/>
                <a:cs typeface="Arial" pitchFamily="34" charset="-120"/>
              </a:rPr>
              <a:t>VOLUME RECONCILIATION — UNITS</a:t>
            </a:r>
            <a:endParaRPr lang="en-US" sz="1800" dirty="0"/>
          </a:p>
        </p:txBody>
      </p:sp>
      <p:sp>
        <p:nvSpPr>
          <p:cNvPr id="20" name="Text 18"/>
          <p:cNvSpPr/>
          <p:nvPr/>
        </p:nvSpPr>
        <p:spPr>
          <a:xfrm>
            <a:off x="952500" y="6849814"/>
            <a:ext cx="1781175"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Gross</a:t>
            </a:r>
            <a:endParaRPr lang="en-US" sz="2100" dirty="0"/>
          </a:p>
        </p:txBody>
      </p:sp>
      <p:sp>
        <p:nvSpPr>
          <p:cNvPr id="21" name="Shape 19"/>
          <p:cNvSpPr/>
          <p:nvPr/>
        </p:nvSpPr>
        <p:spPr>
          <a:xfrm>
            <a:off x="2838450" y="6775996"/>
            <a:ext cx="4514850" cy="438150"/>
          </a:xfrm>
          <a:prstGeom prst="rect">
            <a:avLst/>
          </a:prstGeom>
          <a:solidFill>
            <a:srgbClr val="57D2E6">
              <a:alpha val="14000"/>
            </a:srgbClr>
          </a:solidFill>
          <a:ln/>
        </p:spPr>
      </p:sp>
      <p:sp>
        <p:nvSpPr>
          <p:cNvPr id="22" name="Shape 20"/>
          <p:cNvSpPr/>
          <p:nvPr/>
        </p:nvSpPr>
        <p:spPr>
          <a:xfrm>
            <a:off x="2838450" y="6775996"/>
            <a:ext cx="4514850" cy="438150"/>
          </a:xfrm>
          <a:prstGeom prst="rect">
            <a:avLst/>
          </a:prstGeom>
          <a:solidFill>
            <a:srgbClr val="2E8FA0"/>
          </a:solidFill>
          <a:ln/>
        </p:spPr>
      </p:sp>
      <p:sp>
        <p:nvSpPr>
          <p:cNvPr id="23" name="Text 21"/>
          <p:cNvSpPr/>
          <p:nvPr/>
        </p:nvSpPr>
        <p:spPr>
          <a:xfrm>
            <a:off x="7381875" y="6840289"/>
            <a:ext cx="2619375" cy="347663"/>
          </a:xfrm>
          <a:prstGeom prst="rect">
            <a:avLst/>
          </a:prstGeom>
          <a:noFill/>
          <a:ln/>
        </p:spPr>
        <p:txBody>
          <a:bodyPr wrap="square" lIns="25400" tIns="25400" rIns="25400" bIns="25400" rtlCol="0" anchor="t">
            <a:normAutofit/>
          </a:bodyPr>
          <a:lstStyle/>
          <a:p>
            <a:pPr algn="r" indent="0" marL="0">
              <a:buNone/>
            </a:pPr>
            <a:r>
              <a:rPr lang="en-US" sz="2100" b="1" dirty="0">
                <a:solidFill>
                  <a:srgbClr val="EDF2F8"/>
                </a:solidFill>
                <a:latin typeface="Arial" pitchFamily="34" charset="0"/>
                <a:ea typeface="Arial" pitchFamily="34" charset="-122"/>
                <a:cs typeface="Arial" pitchFamily="34" charset="-120"/>
              </a:rPr>
              <a:t>909,451.5</a:t>
            </a:r>
            <a:endParaRPr lang="en-US" sz="2100" dirty="0"/>
          </a:p>
        </p:txBody>
      </p:sp>
      <p:sp>
        <p:nvSpPr>
          <p:cNvPr id="24" name="Text 22"/>
          <p:cNvSpPr/>
          <p:nvPr/>
        </p:nvSpPr>
        <p:spPr>
          <a:xfrm>
            <a:off x="952500" y="7478464"/>
            <a:ext cx="1781175"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Returns</a:t>
            </a:r>
            <a:endParaRPr lang="en-US" sz="2100" dirty="0"/>
          </a:p>
        </p:txBody>
      </p:sp>
      <p:sp>
        <p:nvSpPr>
          <p:cNvPr id="25" name="Shape 23"/>
          <p:cNvSpPr/>
          <p:nvPr/>
        </p:nvSpPr>
        <p:spPr>
          <a:xfrm>
            <a:off x="2838450" y="7404646"/>
            <a:ext cx="4514850" cy="438150"/>
          </a:xfrm>
          <a:prstGeom prst="rect">
            <a:avLst/>
          </a:prstGeom>
          <a:solidFill>
            <a:srgbClr val="57D2E6">
              <a:alpha val="14000"/>
            </a:srgbClr>
          </a:solidFill>
          <a:ln/>
        </p:spPr>
      </p:sp>
      <p:sp>
        <p:nvSpPr>
          <p:cNvPr id="26" name="Shape 24"/>
          <p:cNvSpPr/>
          <p:nvPr/>
        </p:nvSpPr>
        <p:spPr>
          <a:xfrm>
            <a:off x="2838450" y="7404646"/>
            <a:ext cx="35198" cy="438150"/>
          </a:xfrm>
          <a:prstGeom prst="rect">
            <a:avLst/>
          </a:prstGeom>
          <a:solidFill>
            <a:srgbClr val="E2745F"/>
          </a:solidFill>
          <a:ln/>
        </p:spPr>
      </p:sp>
      <p:sp>
        <p:nvSpPr>
          <p:cNvPr id="27" name="Text 25"/>
          <p:cNvSpPr/>
          <p:nvPr/>
        </p:nvSpPr>
        <p:spPr>
          <a:xfrm>
            <a:off x="7381875" y="7468939"/>
            <a:ext cx="2619375" cy="347663"/>
          </a:xfrm>
          <a:prstGeom prst="rect">
            <a:avLst/>
          </a:prstGeom>
          <a:noFill/>
          <a:ln/>
        </p:spPr>
        <p:txBody>
          <a:bodyPr wrap="square" lIns="25400" tIns="25400" rIns="25400" bIns="25400" rtlCol="0" anchor="t">
            <a:normAutofit/>
          </a:bodyPr>
          <a:lstStyle/>
          <a:p>
            <a:pPr algn="r" indent="0" marL="0">
              <a:buNone/>
            </a:pPr>
            <a:r>
              <a:rPr lang="en-US" sz="2100" b="1" dirty="0">
                <a:solidFill>
                  <a:srgbClr val="E2745F"/>
                </a:solidFill>
                <a:latin typeface="Arial" pitchFamily="34" charset="0"/>
                <a:ea typeface="Arial" pitchFamily="34" charset="-122"/>
                <a:cs typeface="Arial" pitchFamily="34" charset="-120"/>
              </a:rPr>
              <a:t>−7,060.5</a:t>
            </a:r>
            <a:endParaRPr lang="en-US" sz="2100" dirty="0"/>
          </a:p>
        </p:txBody>
      </p:sp>
      <p:sp>
        <p:nvSpPr>
          <p:cNvPr id="28" name="Text 26"/>
          <p:cNvSpPr/>
          <p:nvPr/>
        </p:nvSpPr>
        <p:spPr>
          <a:xfrm>
            <a:off x="952500" y="8097589"/>
            <a:ext cx="1781175"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Net</a:t>
            </a:r>
            <a:endParaRPr lang="en-US" sz="2100" dirty="0"/>
          </a:p>
        </p:txBody>
      </p:sp>
      <p:sp>
        <p:nvSpPr>
          <p:cNvPr id="29" name="Shape 27"/>
          <p:cNvSpPr/>
          <p:nvPr/>
        </p:nvSpPr>
        <p:spPr>
          <a:xfrm>
            <a:off x="2838450" y="8033296"/>
            <a:ext cx="4514850" cy="438150"/>
          </a:xfrm>
          <a:prstGeom prst="rect">
            <a:avLst/>
          </a:prstGeom>
          <a:solidFill>
            <a:srgbClr val="57D2E6">
              <a:alpha val="14000"/>
            </a:srgbClr>
          </a:solidFill>
          <a:ln/>
        </p:spPr>
      </p:sp>
      <p:sp>
        <p:nvSpPr>
          <p:cNvPr id="30" name="Shape 28"/>
          <p:cNvSpPr/>
          <p:nvPr/>
        </p:nvSpPr>
        <p:spPr>
          <a:xfrm>
            <a:off x="2838450" y="8033296"/>
            <a:ext cx="4479578" cy="438150"/>
          </a:xfrm>
          <a:prstGeom prst="rect">
            <a:avLst/>
          </a:prstGeom>
          <a:solidFill>
            <a:srgbClr val="57D2E6"/>
          </a:solidFill>
          <a:ln/>
        </p:spPr>
      </p:sp>
      <p:sp>
        <p:nvSpPr>
          <p:cNvPr id="31" name="Text 29"/>
          <p:cNvSpPr/>
          <p:nvPr/>
        </p:nvSpPr>
        <p:spPr>
          <a:xfrm>
            <a:off x="7381875" y="8097589"/>
            <a:ext cx="2619375" cy="347663"/>
          </a:xfrm>
          <a:prstGeom prst="rect">
            <a:avLst/>
          </a:prstGeom>
          <a:noFill/>
          <a:ln/>
        </p:spPr>
        <p:txBody>
          <a:bodyPr wrap="square" lIns="25400" tIns="25400" rIns="25400" bIns="25400" rtlCol="0" anchor="t">
            <a:normAutofit/>
          </a:bodyPr>
          <a:lstStyle/>
          <a:p>
            <a:pPr algn="r" indent="0" marL="0">
              <a:buNone/>
            </a:pPr>
            <a:r>
              <a:rPr lang="en-US" sz="2100" b="1" dirty="0">
                <a:solidFill>
                  <a:srgbClr val="57D2E6"/>
                </a:solidFill>
                <a:latin typeface="Arial" pitchFamily="34" charset="0"/>
                <a:ea typeface="Arial" pitchFamily="34" charset="-122"/>
                <a:cs typeface="Arial" pitchFamily="34" charset="-120"/>
              </a:rPr>
              <a:t>902,391</a:t>
            </a:r>
            <a:endParaRPr lang="en-US" sz="2100" dirty="0"/>
          </a:p>
        </p:txBody>
      </p:sp>
      <p:sp>
        <p:nvSpPr>
          <p:cNvPr id="32" name="Text 30"/>
          <p:cNvSpPr/>
          <p:nvPr/>
        </p:nvSpPr>
        <p:spPr>
          <a:xfrm>
            <a:off x="11544300" y="6266408"/>
            <a:ext cx="637032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93A5BB"/>
                </a:solidFill>
                <a:latin typeface="Arial" pitchFamily="34" charset="0"/>
                <a:ea typeface="Arial" pitchFamily="34" charset="-122"/>
                <a:cs typeface="Arial" pitchFamily="34" charset="-120"/>
              </a:rPr>
              <a:t>RETURNS PROFILE</a:t>
            </a:r>
            <a:endParaRPr lang="en-US" sz="1800" dirty="0"/>
          </a:p>
        </p:txBody>
      </p:sp>
      <p:sp>
        <p:nvSpPr>
          <p:cNvPr id="33" name="Text 31"/>
          <p:cNvSpPr/>
          <p:nvPr/>
        </p:nvSpPr>
        <p:spPr>
          <a:xfrm>
            <a:off x="11544300" y="6737896"/>
            <a:ext cx="6370320" cy="876300"/>
          </a:xfrm>
          <a:prstGeom prst="rect">
            <a:avLst/>
          </a:prstGeom>
          <a:noFill/>
          <a:ln/>
        </p:spPr>
        <p:txBody>
          <a:bodyPr wrap="square" lIns="25400" tIns="25400" rIns="25400" bIns="25400" rtlCol="0" anchor="t">
            <a:normAutofit/>
          </a:bodyPr>
          <a:lstStyle/>
          <a:p>
            <a:pPr algn="l" indent="0" marL="0">
              <a:lnSpc>
                <a:spcPct val="87129"/>
              </a:lnSpc>
              <a:buNone/>
            </a:pPr>
            <a:r>
              <a:rPr lang="en-US" sz="6600" b="1" spc="-264" kern="0" dirty="0">
                <a:solidFill>
                  <a:srgbClr val="EDF2F8"/>
                </a:solidFill>
                <a:latin typeface="Arial" pitchFamily="34" charset="0"/>
                <a:ea typeface="Arial" pitchFamily="34" charset="-122"/>
                <a:cs typeface="Arial" pitchFamily="34" charset="-120"/>
              </a:rPr>
              <a:t>1,735</a:t>
            </a:r>
            <a:endParaRPr lang="en-US" sz="6600" dirty="0"/>
          </a:p>
        </p:txBody>
      </p:sp>
      <p:sp>
        <p:nvSpPr>
          <p:cNvPr id="34" name="Text 32"/>
          <p:cNvSpPr/>
          <p:nvPr/>
        </p:nvSpPr>
        <p:spPr>
          <a:xfrm>
            <a:off x="11544300" y="7785646"/>
            <a:ext cx="5964936" cy="1238250"/>
          </a:xfrm>
          <a:prstGeom prst="rect">
            <a:avLst/>
          </a:prstGeom>
          <a:noFill/>
          <a:ln/>
        </p:spPr>
        <p:txBody>
          <a:bodyPr wrap="square" lIns="25400" tIns="25400" rIns="25400" bIns="25400" rtlCol="0" anchor="t">
            <a:normAutofit/>
          </a:bodyPr>
          <a:lstStyle/>
          <a:p>
            <a:pPr algn="l" indent="0" marL="0">
              <a:lnSpc>
                <a:spcPct val="129231"/>
              </a:lnSpc>
              <a:buNone/>
            </a:pPr>
            <a:r>
              <a:rPr lang="en-US" sz="2100" dirty="0">
                <a:solidFill>
                  <a:srgbClr val="93A5BB"/>
                </a:solidFill>
                <a:latin typeface="Arial" pitchFamily="34" charset="0"/>
                <a:ea typeface="Arial" pitchFamily="34" charset="-122"/>
                <a:cs typeface="Arial" pitchFamily="34" charset="-120"/>
              </a:rPr>
              <a:t>negative return transactions — a 0.78% return rate, low enough to treat returns as noise rather than a demand signal.</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04 — DEMAND</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No SKU in the portfolio has smooth demand — 70% is outright lumpy</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7486650" y="3127028"/>
            <a:ext cx="19050" cy="6397972"/>
          </a:xfrm>
          <a:prstGeom prst="rect">
            <a:avLst/>
          </a:prstGeom>
          <a:solidFill>
            <a:srgbClr val="E2ECF7">
              <a:alpha val="22000"/>
            </a:srgbClr>
          </a:solidFill>
          <a:ln/>
        </p:spPr>
      </p:sp>
      <p:sp>
        <p:nvSpPr>
          <p:cNvPr id="6" name="Text 4"/>
          <p:cNvSpPr/>
          <p:nvPr/>
        </p:nvSpPr>
        <p:spPr>
          <a:xfrm>
            <a:off x="952500" y="3622328"/>
            <a:ext cx="634936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93A5BB"/>
                </a:solidFill>
                <a:latin typeface="Arial" pitchFamily="34" charset="0"/>
                <a:ea typeface="Arial" pitchFamily="34" charset="-122"/>
                <a:cs typeface="Arial" pitchFamily="34" charset="-120"/>
              </a:rPr>
              <a:t>OUTDOOR VS INDOOR UNITS</a:t>
            </a:r>
            <a:endParaRPr lang="en-US" sz="1800" dirty="0"/>
          </a:p>
        </p:txBody>
      </p:sp>
      <p:sp>
        <p:nvSpPr>
          <p:cNvPr id="7" name="Shape 5"/>
          <p:cNvSpPr/>
          <p:nvPr/>
        </p:nvSpPr>
        <p:spPr>
          <a:xfrm>
            <a:off x="952500" y="6255990"/>
            <a:ext cx="5772150" cy="19050"/>
          </a:xfrm>
          <a:prstGeom prst="rect">
            <a:avLst/>
          </a:prstGeom>
          <a:solidFill>
            <a:srgbClr val="E2ECF7">
              <a:alpha val="22000"/>
            </a:srgbClr>
          </a:solidFill>
          <a:ln/>
        </p:spPr>
      </p:sp>
      <p:sp>
        <p:nvSpPr>
          <p:cNvPr id="8" name="Text 6"/>
          <p:cNvSpPr/>
          <p:nvPr/>
        </p:nvSpPr>
        <p:spPr>
          <a:xfrm>
            <a:off x="952500" y="4227165"/>
            <a:ext cx="6349365" cy="952500"/>
          </a:xfrm>
          <a:prstGeom prst="rect">
            <a:avLst/>
          </a:prstGeom>
          <a:noFill/>
          <a:ln/>
        </p:spPr>
        <p:txBody>
          <a:bodyPr wrap="square" lIns="25400" tIns="25400" rIns="25400" bIns="25400" rtlCol="0" anchor="t">
            <a:normAutofit/>
          </a:bodyPr>
          <a:lstStyle/>
          <a:p>
            <a:pPr algn="l" indent="0" marL="0">
              <a:lnSpc>
                <a:spcPct val="86878"/>
              </a:lnSpc>
              <a:buNone/>
            </a:pPr>
            <a:r>
              <a:rPr lang="en-US" sz="7200" b="1" spc="-288" kern="0" dirty="0">
                <a:solidFill>
                  <a:srgbClr val="57D2E6"/>
                </a:solidFill>
                <a:latin typeface="Arial" pitchFamily="34" charset="0"/>
                <a:ea typeface="Arial" pitchFamily="34" charset="-122"/>
                <a:cs typeface="Arial" pitchFamily="34" charset="-120"/>
              </a:rPr>
              <a:t>80.8%</a:t>
            </a:r>
            <a:endParaRPr lang="en-US" sz="7200" dirty="0"/>
          </a:p>
        </p:txBody>
      </p:sp>
      <p:sp>
        <p:nvSpPr>
          <p:cNvPr id="9" name="Text 7"/>
          <p:cNvSpPr/>
          <p:nvPr/>
        </p:nvSpPr>
        <p:spPr>
          <a:xfrm>
            <a:off x="952500" y="5236815"/>
            <a:ext cx="6349365" cy="328613"/>
          </a:xfrm>
          <a:prstGeom prst="rect">
            <a:avLst/>
          </a:prstGeom>
          <a:noFill/>
          <a:ln/>
        </p:spPr>
        <p:txBody>
          <a:bodyPr wrap="square" lIns="25400" tIns="25400" rIns="25400" bIns="25400" rtlCol="0" anchor="t">
            <a:normAutofit/>
          </a:bodyPr>
          <a:lstStyle/>
          <a:p>
            <a:pPr algn="l" indent="0" marL="0">
              <a:buNone/>
            </a:pPr>
            <a:r>
              <a:rPr lang="en-US" sz="2100" dirty="0">
                <a:solidFill>
                  <a:srgbClr val="EDF2F8"/>
                </a:solidFill>
                <a:latin typeface="Arial" pitchFamily="34" charset="0"/>
                <a:ea typeface="Arial" pitchFamily="34" charset="-122"/>
                <a:cs typeface="Arial" pitchFamily="34" charset="-120"/>
              </a:rPr>
              <a:t>ODU</a:t>
            </a:r>
            <a:endParaRPr lang="en-US" sz="2100" dirty="0"/>
          </a:p>
        </p:txBody>
      </p:sp>
      <p:sp>
        <p:nvSpPr>
          <p:cNvPr id="10" name="Text 8"/>
          <p:cNvSpPr/>
          <p:nvPr/>
        </p:nvSpPr>
        <p:spPr>
          <a:xfrm>
            <a:off x="952500" y="5622578"/>
            <a:ext cx="6349365"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729,297 units</a:t>
            </a:r>
            <a:endParaRPr lang="en-US" sz="2100" dirty="0"/>
          </a:p>
        </p:txBody>
      </p:sp>
      <p:sp>
        <p:nvSpPr>
          <p:cNvPr id="11" name="Text 9"/>
          <p:cNvSpPr/>
          <p:nvPr/>
        </p:nvSpPr>
        <p:spPr>
          <a:xfrm>
            <a:off x="952500" y="6617940"/>
            <a:ext cx="6349365" cy="952500"/>
          </a:xfrm>
          <a:prstGeom prst="rect">
            <a:avLst/>
          </a:prstGeom>
          <a:noFill/>
          <a:ln/>
        </p:spPr>
        <p:txBody>
          <a:bodyPr wrap="square" lIns="25400" tIns="25400" rIns="25400" bIns="25400" rtlCol="0" anchor="t">
            <a:normAutofit/>
          </a:bodyPr>
          <a:lstStyle/>
          <a:p>
            <a:pPr algn="l" indent="0" marL="0">
              <a:lnSpc>
                <a:spcPct val="86878"/>
              </a:lnSpc>
              <a:buNone/>
            </a:pPr>
            <a:r>
              <a:rPr lang="en-US" sz="7200" b="1" spc="-288" kern="0" dirty="0">
                <a:solidFill>
                  <a:srgbClr val="EDF2F8"/>
                </a:solidFill>
                <a:latin typeface="Arial" pitchFamily="34" charset="0"/>
                <a:ea typeface="Arial" pitchFamily="34" charset="-122"/>
                <a:cs typeface="Arial" pitchFamily="34" charset="-120"/>
              </a:rPr>
              <a:t>19.2%</a:t>
            </a:r>
            <a:endParaRPr lang="en-US" sz="7200" dirty="0"/>
          </a:p>
        </p:txBody>
      </p:sp>
      <p:sp>
        <p:nvSpPr>
          <p:cNvPr id="12" name="Text 10"/>
          <p:cNvSpPr/>
          <p:nvPr/>
        </p:nvSpPr>
        <p:spPr>
          <a:xfrm>
            <a:off x="952500" y="7627590"/>
            <a:ext cx="6349365" cy="328613"/>
          </a:xfrm>
          <a:prstGeom prst="rect">
            <a:avLst/>
          </a:prstGeom>
          <a:noFill/>
          <a:ln/>
        </p:spPr>
        <p:txBody>
          <a:bodyPr wrap="square" lIns="25400" tIns="25400" rIns="25400" bIns="25400" rtlCol="0" anchor="t">
            <a:normAutofit/>
          </a:bodyPr>
          <a:lstStyle/>
          <a:p>
            <a:pPr algn="l" indent="0" marL="0">
              <a:buNone/>
            </a:pPr>
            <a:r>
              <a:rPr lang="en-US" sz="2100" dirty="0">
                <a:solidFill>
                  <a:srgbClr val="EDF2F8"/>
                </a:solidFill>
                <a:latin typeface="Arial" pitchFamily="34" charset="0"/>
                <a:ea typeface="Arial" pitchFamily="34" charset="-122"/>
                <a:cs typeface="Arial" pitchFamily="34" charset="-120"/>
              </a:rPr>
              <a:t>IDU</a:t>
            </a:r>
            <a:endParaRPr lang="en-US" sz="2100" dirty="0"/>
          </a:p>
        </p:txBody>
      </p:sp>
      <p:sp>
        <p:nvSpPr>
          <p:cNvPr id="13" name="Text 11"/>
          <p:cNvSpPr/>
          <p:nvPr/>
        </p:nvSpPr>
        <p:spPr>
          <a:xfrm>
            <a:off x="952500" y="8013353"/>
            <a:ext cx="6349365"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173,094 units</a:t>
            </a:r>
            <a:endParaRPr lang="en-US" sz="2100" dirty="0"/>
          </a:p>
        </p:txBody>
      </p:sp>
      <p:sp>
        <p:nvSpPr>
          <p:cNvPr id="14" name="Text 12"/>
          <p:cNvSpPr/>
          <p:nvPr/>
        </p:nvSpPr>
        <p:spPr>
          <a:xfrm>
            <a:off x="8267700" y="3622328"/>
            <a:ext cx="997458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93A5BB"/>
                </a:solidFill>
                <a:latin typeface="Arial" pitchFamily="34" charset="0"/>
                <a:ea typeface="Arial" pitchFamily="34" charset="-122"/>
                <a:cs typeface="Arial" pitchFamily="34" charset="-120"/>
              </a:rPr>
              <a:t>SYNTETOS-BOYLAN CLASSIFICATION — 154 SKUS</a:t>
            </a:r>
            <a:endParaRPr lang="en-US" sz="1800" dirty="0"/>
          </a:p>
        </p:txBody>
      </p:sp>
      <p:sp>
        <p:nvSpPr>
          <p:cNvPr id="15" name="Shape 13"/>
          <p:cNvSpPr/>
          <p:nvPr/>
        </p:nvSpPr>
        <p:spPr>
          <a:xfrm>
            <a:off x="8267700" y="4170015"/>
            <a:ext cx="9067800" cy="19050"/>
          </a:xfrm>
          <a:prstGeom prst="rect">
            <a:avLst/>
          </a:prstGeom>
          <a:solidFill>
            <a:srgbClr val="E2ECF7">
              <a:alpha val="22000"/>
            </a:srgbClr>
          </a:solidFill>
          <a:ln/>
        </p:spPr>
      </p:sp>
      <p:sp>
        <p:nvSpPr>
          <p:cNvPr id="16" name="Shape 14"/>
          <p:cNvSpPr/>
          <p:nvPr/>
        </p:nvSpPr>
        <p:spPr>
          <a:xfrm>
            <a:off x="8267700" y="5055840"/>
            <a:ext cx="9067800" cy="19050"/>
          </a:xfrm>
          <a:prstGeom prst="rect">
            <a:avLst/>
          </a:prstGeom>
          <a:solidFill>
            <a:srgbClr val="E2ECF7">
              <a:alpha val="22000"/>
            </a:srgbClr>
          </a:solidFill>
          <a:ln/>
        </p:spPr>
      </p:sp>
      <p:sp>
        <p:nvSpPr>
          <p:cNvPr id="17" name="Text 15"/>
          <p:cNvSpPr/>
          <p:nvPr/>
        </p:nvSpPr>
        <p:spPr>
          <a:xfrm>
            <a:off x="8267700" y="4436715"/>
            <a:ext cx="1048271"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Lumpy</a:t>
            </a:r>
            <a:endParaRPr lang="en-US" sz="2550" dirty="0"/>
          </a:p>
        </p:txBody>
      </p:sp>
      <p:sp>
        <p:nvSpPr>
          <p:cNvPr id="18" name="Text 16"/>
          <p:cNvSpPr/>
          <p:nvPr/>
        </p:nvSpPr>
        <p:spPr>
          <a:xfrm>
            <a:off x="14455080" y="4436715"/>
            <a:ext cx="99447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70.1%</a:t>
            </a:r>
            <a:endParaRPr lang="en-US" sz="2550" dirty="0"/>
          </a:p>
        </p:txBody>
      </p:sp>
      <p:sp>
        <p:nvSpPr>
          <p:cNvPr id="19" name="Text 17"/>
          <p:cNvSpPr/>
          <p:nvPr/>
        </p:nvSpPr>
        <p:spPr>
          <a:xfrm>
            <a:off x="15763875" y="4503390"/>
            <a:ext cx="1571625" cy="328613"/>
          </a:xfrm>
          <a:prstGeom prst="rect">
            <a:avLst/>
          </a:prstGeom>
          <a:noFill/>
          <a:ln/>
        </p:spPr>
        <p:txBody>
          <a:bodyPr wrap="square" lIns="25400" tIns="25400" rIns="25400" bIns="25400" rtlCol="0" anchor="t">
            <a:normAutofit/>
          </a:bodyPr>
          <a:lstStyle/>
          <a:p>
            <a:pPr algn="r" indent="0" marL="0">
              <a:buNone/>
            </a:pPr>
            <a:r>
              <a:rPr lang="en-US" sz="2100" dirty="0">
                <a:solidFill>
                  <a:srgbClr val="93A5BB"/>
                </a:solidFill>
                <a:latin typeface="Arial" pitchFamily="34" charset="0"/>
                <a:ea typeface="Arial" pitchFamily="34" charset="-122"/>
                <a:cs typeface="Arial" pitchFamily="34" charset="-120"/>
              </a:rPr>
              <a:t>108 SKUs</a:t>
            </a:r>
            <a:endParaRPr lang="en-US" sz="2100" dirty="0"/>
          </a:p>
        </p:txBody>
      </p:sp>
      <p:sp>
        <p:nvSpPr>
          <p:cNvPr id="20" name="Shape 18"/>
          <p:cNvSpPr/>
          <p:nvPr/>
        </p:nvSpPr>
        <p:spPr>
          <a:xfrm>
            <a:off x="8267700" y="5941665"/>
            <a:ext cx="9067800" cy="19050"/>
          </a:xfrm>
          <a:prstGeom prst="rect">
            <a:avLst/>
          </a:prstGeom>
          <a:solidFill>
            <a:srgbClr val="E2ECF7">
              <a:alpha val="22000"/>
            </a:srgbClr>
          </a:solidFill>
          <a:ln/>
        </p:spPr>
      </p:sp>
      <p:sp>
        <p:nvSpPr>
          <p:cNvPr id="21" name="Text 19"/>
          <p:cNvSpPr/>
          <p:nvPr/>
        </p:nvSpPr>
        <p:spPr>
          <a:xfrm>
            <a:off x="8267700" y="5322540"/>
            <a:ext cx="1781912"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Intermittent</a:t>
            </a:r>
            <a:endParaRPr lang="en-US" sz="2550" dirty="0"/>
          </a:p>
        </p:txBody>
      </p:sp>
      <p:sp>
        <p:nvSpPr>
          <p:cNvPr id="22" name="Text 20"/>
          <p:cNvSpPr/>
          <p:nvPr/>
        </p:nvSpPr>
        <p:spPr>
          <a:xfrm>
            <a:off x="14455080" y="5322540"/>
            <a:ext cx="99447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18.8%</a:t>
            </a:r>
            <a:endParaRPr lang="en-US" sz="2550" dirty="0"/>
          </a:p>
        </p:txBody>
      </p:sp>
      <p:sp>
        <p:nvSpPr>
          <p:cNvPr id="23" name="Text 21"/>
          <p:cNvSpPr/>
          <p:nvPr/>
        </p:nvSpPr>
        <p:spPr>
          <a:xfrm>
            <a:off x="15763875" y="5389215"/>
            <a:ext cx="1571625" cy="328613"/>
          </a:xfrm>
          <a:prstGeom prst="rect">
            <a:avLst/>
          </a:prstGeom>
          <a:noFill/>
          <a:ln/>
        </p:spPr>
        <p:txBody>
          <a:bodyPr wrap="square" lIns="25400" tIns="25400" rIns="25400" bIns="25400" rtlCol="0" anchor="t">
            <a:normAutofit/>
          </a:bodyPr>
          <a:lstStyle/>
          <a:p>
            <a:pPr algn="r" indent="0" marL="0">
              <a:buNone/>
            </a:pPr>
            <a:r>
              <a:rPr lang="en-US" sz="2100" dirty="0">
                <a:solidFill>
                  <a:srgbClr val="93A5BB"/>
                </a:solidFill>
                <a:latin typeface="Arial" pitchFamily="34" charset="0"/>
                <a:ea typeface="Arial" pitchFamily="34" charset="-122"/>
                <a:cs typeface="Arial" pitchFamily="34" charset="-120"/>
              </a:rPr>
              <a:t>29 SKUs</a:t>
            </a:r>
            <a:endParaRPr lang="en-US" sz="2100" dirty="0"/>
          </a:p>
        </p:txBody>
      </p:sp>
      <p:sp>
        <p:nvSpPr>
          <p:cNvPr id="24" name="Shape 22"/>
          <p:cNvSpPr/>
          <p:nvPr/>
        </p:nvSpPr>
        <p:spPr>
          <a:xfrm>
            <a:off x="8267700" y="6827490"/>
            <a:ext cx="9067800" cy="19050"/>
          </a:xfrm>
          <a:prstGeom prst="rect">
            <a:avLst/>
          </a:prstGeom>
          <a:solidFill>
            <a:srgbClr val="E2ECF7">
              <a:alpha val="22000"/>
            </a:srgbClr>
          </a:solidFill>
          <a:ln/>
        </p:spPr>
      </p:sp>
      <p:sp>
        <p:nvSpPr>
          <p:cNvPr id="25" name="Text 23"/>
          <p:cNvSpPr/>
          <p:nvPr/>
        </p:nvSpPr>
        <p:spPr>
          <a:xfrm>
            <a:off x="8267700" y="6208365"/>
            <a:ext cx="1011882"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Erratic</a:t>
            </a:r>
            <a:endParaRPr lang="en-US" sz="2550" dirty="0"/>
          </a:p>
        </p:txBody>
      </p:sp>
      <p:sp>
        <p:nvSpPr>
          <p:cNvPr id="26" name="Text 24"/>
          <p:cNvSpPr/>
          <p:nvPr/>
        </p:nvSpPr>
        <p:spPr>
          <a:xfrm>
            <a:off x="14479116" y="6208365"/>
            <a:ext cx="970434"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11.0%</a:t>
            </a:r>
            <a:endParaRPr lang="en-US" sz="2550" dirty="0"/>
          </a:p>
        </p:txBody>
      </p:sp>
      <p:sp>
        <p:nvSpPr>
          <p:cNvPr id="27" name="Text 25"/>
          <p:cNvSpPr/>
          <p:nvPr/>
        </p:nvSpPr>
        <p:spPr>
          <a:xfrm>
            <a:off x="15763875" y="6275040"/>
            <a:ext cx="1571625" cy="328613"/>
          </a:xfrm>
          <a:prstGeom prst="rect">
            <a:avLst/>
          </a:prstGeom>
          <a:noFill/>
          <a:ln/>
        </p:spPr>
        <p:txBody>
          <a:bodyPr wrap="square" lIns="25400" tIns="25400" rIns="25400" bIns="25400" rtlCol="0" anchor="t">
            <a:normAutofit/>
          </a:bodyPr>
          <a:lstStyle/>
          <a:p>
            <a:pPr algn="r" indent="0" marL="0">
              <a:buNone/>
            </a:pPr>
            <a:r>
              <a:rPr lang="en-US" sz="2100" dirty="0">
                <a:solidFill>
                  <a:srgbClr val="93A5BB"/>
                </a:solidFill>
                <a:latin typeface="Arial" pitchFamily="34" charset="0"/>
                <a:ea typeface="Arial" pitchFamily="34" charset="-122"/>
                <a:cs typeface="Arial" pitchFamily="34" charset="-120"/>
              </a:rPr>
              <a:t>17 SKUs</a:t>
            </a:r>
            <a:endParaRPr lang="en-US" sz="2100" dirty="0"/>
          </a:p>
        </p:txBody>
      </p:sp>
      <p:sp>
        <p:nvSpPr>
          <p:cNvPr id="28" name="Shape 26"/>
          <p:cNvSpPr/>
          <p:nvPr/>
        </p:nvSpPr>
        <p:spPr>
          <a:xfrm>
            <a:off x="8267700" y="7713315"/>
            <a:ext cx="9067800" cy="19050"/>
          </a:xfrm>
          <a:prstGeom prst="rect">
            <a:avLst/>
          </a:prstGeom>
          <a:solidFill>
            <a:srgbClr val="E2ECF7">
              <a:alpha val="22000"/>
            </a:srgbClr>
          </a:solidFill>
          <a:ln/>
        </p:spPr>
      </p:sp>
      <p:sp>
        <p:nvSpPr>
          <p:cNvPr id="29" name="Text 27"/>
          <p:cNvSpPr/>
          <p:nvPr/>
        </p:nvSpPr>
        <p:spPr>
          <a:xfrm>
            <a:off x="8267700" y="7094190"/>
            <a:ext cx="1192337"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93A5BB"/>
                </a:solidFill>
                <a:latin typeface="Arial" pitchFamily="34" charset="0"/>
                <a:ea typeface="Arial" pitchFamily="34" charset="-122"/>
                <a:cs typeface="Arial" pitchFamily="34" charset="-120"/>
              </a:rPr>
              <a:t>Smooth</a:t>
            </a:r>
            <a:endParaRPr lang="en-US" sz="2550" dirty="0"/>
          </a:p>
        </p:txBody>
      </p:sp>
      <p:sp>
        <p:nvSpPr>
          <p:cNvPr id="30" name="Text 28"/>
          <p:cNvSpPr/>
          <p:nvPr/>
        </p:nvSpPr>
        <p:spPr>
          <a:xfrm>
            <a:off x="14905286" y="7094190"/>
            <a:ext cx="544264"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93A5BB"/>
                </a:solidFill>
                <a:latin typeface="Arial" pitchFamily="34" charset="0"/>
                <a:ea typeface="Arial" pitchFamily="34" charset="-122"/>
                <a:cs typeface="Arial" pitchFamily="34" charset="-120"/>
              </a:rPr>
              <a:t>0%</a:t>
            </a:r>
            <a:endParaRPr lang="en-US" sz="2550" dirty="0"/>
          </a:p>
        </p:txBody>
      </p:sp>
      <p:sp>
        <p:nvSpPr>
          <p:cNvPr id="31" name="Text 29"/>
          <p:cNvSpPr/>
          <p:nvPr/>
        </p:nvSpPr>
        <p:spPr>
          <a:xfrm>
            <a:off x="15763875" y="7160865"/>
            <a:ext cx="1571625" cy="328613"/>
          </a:xfrm>
          <a:prstGeom prst="rect">
            <a:avLst/>
          </a:prstGeom>
          <a:noFill/>
          <a:ln/>
        </p:spPr>
        <p:txBody>
          <a:bodyPr wrap="square" lIns="25400" tIns="25400" rIns="25400" bIns="25400" rtlCol="0" anchor="t">
            <a:normAutofit/>
          </a:bodyPr>
          <a:lstStyle/>
          <a:p>
            <a:pPr algn="r" indent="0" marL="0">
              <a:buNone/>
            </a:pPr>
            <a:r>
              <a:rPr lang="en-US" sz="2100" dirty="0">
                <a:solidFill>
                  <a:srgbClr val="93A5BB"/>
                </a:solidFill>
                <a:latin typeface="Arial" pitchFamily="34" charset="0"/>
                <a:ea typeface="Arial" pitchFamily="34" charset="-122"/>
                <a:cs typeface="Arial" pitchFamily="34" charset="-120"/>
              </a:rPr>
              <a:t>0 SKUs</a:t>
            </a:r>
            <a:endParaRPr lang="en-US" sz="2100" dirty="0"/>
          </a:p>
        </p:txBody>
      </p:sp>
      <p:sp>
        <p:nvSpPr>
          <p:cNvPr id="32" name="Text 30"/>
          <p:cNvSpPr/>
          <p:nvPr/>
        </p:nvSpPr>
        <p:spPr>
          <a:xfrm>
            <a:off x="8267700" y="8018115"/>
            <a:ext cx="8829675" cy="1238250"/>
          </a:xfrm>
          <a:prstGeom prst="rect">
            <a:avLst/>
          </a:prstGeom>
          <a:noFill/>
          <a:ln/>
        </p:spPr>
        <p:txBody>
          <a:bodyPr wrap="square" lIns="25400" tIns="25400" rIns="25400" bIns="25400" rtlCol="0" anchor="t">
            <a:normAutofit/>
          </a:bodyPr>
          <a:lstStyle/>
          <a:p>
            <a:pPr algn="l" indent="0" marL="0">
              <a:lnSpc>
                <a:spcPct val="129231"/>
              </a:lnSpc>
              <a:buNone/>
            </a:pPr>
            <a:r>
              <a:rPr lang="en-US" sz="2100" dirty="0">
                <a:solidFill>
                  <a:srgbClr val="93A5BB"/>
                </a:solidFill>
                <a:latin typeface="Arial" pitchFamily="34" charset="0"/>
                <a:ea typeface="Arial" pitchFamily="34" charset="-122"/>
                <a:cs typeface="Arial" pitchFamily="34" charset="-120"/>
              </a:rPr>
              <a:t>An empty smooth quadrant rules out standard exponential smoothing portfolio-wide and pushes the model choice toward intermittent-demand methods.</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05 — DISTRIBUTION</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Order lines are small and widely dispersed — the median indoor-unit line is zero</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952500" y="4284315"/>
            <a:ext cx="16383000" cy="19050"/>
          </a:xfrm>
          <a:prstGeom prst="rect">
            <a:avLst/>
          </a:prstGeom>
          <a:solidFill>
            <a:srgbClr val="E2ECF7">
              <a:alpha val="22000"/>
            </a:srgbClr>
          </a:solidFill>
          <a:ln/>
        </p:spPr>
      </p:sp>
      <p:sp>
        <p:nvSpPr>
          <p:cNvPr id="6" name="Shape 4"/>
          <p:cNvSpPr/>
          <p:nvPr/>
        </p:nvSpPr>
        <p:spPr>
          <a:xfrm>
            <a:off x="952500" y="3622328"/>
            <a:ext cx="16383000" cy="19050"/>
          </a:xfrm>
          <a:prstGeom prst="rect">
            <a:avLst/>
          </a:prstGeom>
          <a:solidFill>
            <a:srgbClr val="E2ECF7">
              <a:alpha val="22000"/>
            </a:srgbClr>
          </a:solidFill>
          <a:ln/>
        </p:spPr>
      </p:sp>
      <p:sp>
        <p:nvSpPr>
          <p:cNvPr id="7" name="Text 5"/>
          <p:cNvSpPr/>
          <p:nvPr/>
        </p:nvSpPr>
        <p:spPr>
          <a:xfrm>
            <a:off x="952500" y="3831878"/>
            <a:ext cx="4368790"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93A5BB"/>
                </a:solidFill>
                <a:latin typeface="Arial" pitchFamily="34" charset="0"/>
                <a:ea typeface="Arial" pitchFamily="34" charset="-122"/>
                <a:cs typeface="Arial" pitchFamily="34" charset="-120"/>
              </a:rPr>
              <a:t>MEASURE</a:t>
            </a:r>
            <a:endParaRPr lang="en-US" sz="1800" dirty="0"/>
          </a:p>
        </p:txBody>
      </p:sp>
      <p:sp>
        <p:nvSpPr>
          <p:cNvPr id="8" name="Text 6"/>
          <p:cNvSpPr/>
          <p:nvPr/>
        </p:nvSpPr>
        <p:spPr>
          <a:xfrm>
            <a:off x="4675904" y="3831878"/>
            <a:ext cx="2730453" cy="300038"/>
          </a:xfrm>
          <a:prstGeom prst="rect">
            <a:avLst/>
          </a:prstGeom>
          <a:noFill/>
          <a:ln/>
        </p:spPr>
        <p:txBody>
          <a:bodyPr wrap="square" lIns="25400" tIns="25400" rIns="25400" bIns="25400" rtlCol="0" anchor="t">
            <a:normAutofit/>
          </a:bodyPr>
          <a:lstStyle/>
          <a:p>
            <a:pPr algn="r" indent="0" marL="0">
              <a:buNone/>
            </a:pPr>
            <a:r>
              <a:rPr lang="en-US" sz="1800" b="1" spc="252" kern="0" dirty="0">
                <a:solidFill>
                  <a:srgbClr val="93A5BB"/>
                </a:solidFill>
                <a:latin typeface="Arial" pitchFamily="34" charset="0"/>
                <a:ea typeface="Arial" pitchFamily="34" charset="-122"/>
                <a:cs typeface="Arial" pitchFamily="34" charset="-120"/>
              </a:rPr>
              <a:t>MEAN</a:t>
            </a:r>
            <a:endParaRPr lang="en-US" sz="1800" dirty="0"/>
          </a:p>
        </p:txBody>
      </p:sp>
      <p:sp>
        <p:nvSpPr>
          <p:cNvPr id="9" name="Text 7"/>
          <p:cNvSpPr/>
          <p:nvPr/>
        </p:nvSpPr>
        <p:spPr>
          <a:xfrm>
            <a:off x="7158127" y="3831878"/>
            <a:ext cx="2730535" cy="300038"/>
          </a:xfrm>
          <a:prstGeom prst="rect">
            <a:avLst/>
          </a:prstGeom>
          <a:noFill/>
          <a:ln/>
        </p:spPr>
        <p:txBody>
          <a:bodyPr wrap="square" lIns="25400" tIns="25400" rIns="25400" bIns="25400" rtlCol="0" anchor="t">
            <a:normAutofit/>
          </a:bodyPr>
          <a:lstStyle/>
          <a:p>
            <a:pPr algn="r" indent="0" marL="0">
              <a:buNone/>
            </a:pPr>
            <a:r>
              <a:rPr lang="en-US" sz="1800" b="1" spc="252" kern="0" dirty="0">
                <a:solidFill>
                  <a:srgbClr val="93A5BB"/>
                </a:solidFill>
                <a:latin typeface="Arial" pitchFamily="34" charset="0"/>
                <a:ea typeface="Arial" pitchFamily="34" charset="-122"/>
                <a:cs typeface="Arial" pitchFamily="34" charset="-120"/>
              </a:rPr>
              <a:t>STD DEV</a:t>
            </a:r>
            <a:endParaRPr lang="en-US" sz="1800" dirty="0"/>
          </a:p>
        </p:txBody>
      </p:sp>
      <p:sp>
        <p:nvSpPr>
          <p:cNvPr id="10" name="Text 8"/>
          <p:cNvSpPr/>
          <p:nvPr/>
        </p:nvSpPr>
        <p:spPr>
          <a:xfrm>
            <a:off x="9640439" y="3831878"/>
            <a:ext cx="2730453" cy="300038"/>
          </a:xfrm>
          <a:prstGeom prst="rect">
            <a:avLst/>
          </a:prstGeom>
          <a:noFill/>
          <a:ln/>
        </p:spPr>
        <p:txBody>
          <a:bodyPr wrap="square" lIns="25400" tIns="25400" rIns="25400" bIns="25400" rtlCol="0" anchor="t">
            <a:normAutofit/>
          </a:bodyPr>
          <a:lstStyle/>
          <a:p>
            <a:pPr algn="r" indent="0" marL="0">
              <a:buNone/>
            </a:pPr>
            <a:r>
              <a:rPr lang="en-US" sz="1800" b="1" spc="252" kern="0" dirty="0">
                <a:solidFill>
                  <a:srgbClr val="93A5BB"/>
                </a:solidFill>
                <a:latin typeface="Arial" pitchFamily="34" charset="0"/>
                <a:ea typeface="Arial" pitchFamily="34" charset="-122"/>
                <a:cs typeface="Arial" pitchFamily="34" charset="-120"/>
              </a:rPr>
              <a:t>MIN</a:t>
            </a:r>
            <a:endParaRPr lang="en-US" sz="1800" dirty="0"/>
          </a:p>
        </p:txBody>
      </p:sp>
      <p:sp>
        <p:nvSpPr>
          <p:cNvPr id="11" name="Text 9"/>
          <p:cNvSpPr/>
          <p:nvPr/>
        </p:nvSpPr>
        <p:spPr>
          <a:xfrm>
            <a:off x="12122661" y="3831878"/>
            <a:ext cx="2730535" cy="300038"/>
          </a:xfrm>
          <a:prstGeom prst="rect">
            <a:avLst/>
          </a:prstGeom>
          <a:noFill/>
          <a:ln/>
        </p:spPr>
        <p:txBody>
          <a:bodyPr wrap="square" lIns="25400" tIns="25400" rIns="25400" bIns="25400" rtlCol="0" anchor="t">
            <a:normAutofit/>
          </a:bodyPr>
          <a:lstStyle/>
          <a:p>
            <a:pPr algn="r" indent="0" marL="0">
              <a:buNone/>
            </a:pPr>
            <a:r>
              <a:rPr lang="en-US" sz="1800" b="1" spc="252" kern="0" dirty="0">
                <a:solidFill>
                  <a:srgbClr val="93A5BB"/>
                </a:solidFill>
                <a:latin typeface="Arial" pitchFamily="34" charset="0"/>
                <a:ea typeface="Arial" pitchFamily="34" charset="-122"/>
                <a:cs typeface="Arial" pitchFamily="34" charset="-120"/>
              </a:rPr>
              <a:t>MEDIAN</a:t>
            </a:r>
            <a:endParaRPr lang="en-US" sz="1800" dirty="0"/>
          </a:p>
        </p:txBody>
      </p:sp>
      <p:sp>
        <p:nvSpPr>
          <p:cNvPr id="12" name="Text 10"/>
          <p:cNvSpPr/>
          <p:nvPr/>
        </p:nvSpPr>
        <p:spPr>
          <a:xfrm>
            <a:off x="14604965" y="3831878"/>
            <a:ext cx="2730535" cy="300038"/>
          </a:xfrm>
          <a:prstGeom prst="rect">
            <a:avLst/>
          </a:prstGeom>
          <a:noFill/>
          <a:ln/>
        </p:spPr>
        <p:txBody>
          <a:bodyPr wrap="square" lIns="25400" tIns="25400" rIns="25400" bIns="25400" rtlCol="0" anchor="t">
            <a:normAutofit/>
          </a:bodyPr>
          <a:lstStyle/>
          <a:p>
            <a:pPr algn="r" indent="0" marL="0">
              <a:buNone/>
            </a:pPr>
            <a:r>
              <a:rPr lang="en-US" sz="1800" b="1" spc="252" kern="0" dirty="0">
                <a:solidFill>
                  <a:srgbClr val="93A5BB"/>
                </a:solidFill>
                <a:latin typeface="Arial" pitchFamily="34" charset="0"/>
                <a:ea typeface="Arial" pitchFamily="34" charset="-122"/>
                <a:cs typeface="Arial" pitchFamily="34" charset="-120"/>
              </a:rPr>
              <a:t>MAX</a:t>
            </a:r>
            <a:endParaRPr lang="en-US" sz="1800" dirty="0"/>
          </a:p>
        </p:txBody>
      </p:sp>
      <p:sp>
        <p:nvSpPr>
          <p:cNvPr id="13" name="Shape 11"/>
          <p:cNvSpPr/>
          <p:nvPr/>
        </p:nvSpPr>
        <p:spPr>
          <a:xfrm>
            <a:off x="952500" y="5246340"/>
            <a:ext cx="16383000" cy="19050"/>
          </a:xfrm>
          <a:prstGeom prst="rect">
            <a:avLst/>
          </a:prstGeom>
          <a:solidFill>
            <a:srgbClr val="E2ECF7">
              <a:alpha val="22000"/>
            </a:srgbClr>
          </a:solidFill>
          <a:ln/>
        </p:spPr>
      </p:sp>
      <p:sp>
        <p:nvSpPr>
          <p:cNvPr id="14" name="Text 12"/>
          <p:cNvSpPr/>
          <p:nvPr/>
        </p:nvSpPr>
        <p:spPr>
          <a:xfrm>
            <a:off x="952500" y="4589115"/>
            <a:ext cx="436879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Billing quantity ODU</a:t>
            </a:r>
            <a:endParaRPr lang="en-US" sz="2550" dirty="0"/>
          </a:p>
        </p:txBody>
      </p:sp>
      <p:sp>
        <p:nvSpPr>
          <p:cNvPr id="15" name="Text 13"/>
          <p:cNvSpPr/>
          <p:nvPr/>
        </p:nvSpPr>
        <p:spPr>
          <a:xfrm>
            <a:off x="4675904" y="4603403"/>
            <a:ext cx="2730453"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8.89</a:t>
            </a:r>
            <a:endParaRPr lang="en-US" sz="2550" dirty="0"/>
          </a:p>
        </p:txBody>
      </p:sp>
      <p:sp>
        <p:nvSpPr>
          <p:cNvPr id="16" name="Text 14"/>
          <p:cNvSpPr/>
          <p:nvPr/>
        </p:nvSpPr>
        <p:spPr>
          <a:xfrm>
            <a:off x="7158127" y="4603403"/>
            <a:ext cx="2730535"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18.05</a:t>
            </a:r>
            <a:endParaRPr lang="en-US" sz="2550" dirty="0"/>
          </a:p>
        </p:txBody>
      </p:sp>
      <p:sp>
        <p:nvSpPr>
          <p:cNvPr id="17" name="Text 15"/>
          <p:cNvSpPr/>
          <p:nvPr/>
        </p:nvSpPr>
        <p:spPr>
          <a:xfrm>
            <a:off x="9640439" y="4603403"/>
            <a:ext cx="2730453"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2745F"/>
                </a:solidFill>
                <a:latin typeface="Arial" pitchFamily="34" charset="0"/>
                <a:ea typeface="Arial" pitchFamily="34" charset="-122"/>
                <a:cs typeface="Arial" pitchFamily="34" charset="-120"/>
              </a:rPr>
              <a:t>−135</a:t>
            </a:r>
            <a:endParaRPr lang="en-US" sz="2550" dirty="0"/>
          </a:p>
        </p:txBody>
      </p:sp>
      <p:sp>
        <p:nvSpPr>
          <p:cNvPr id="18" name="Text 16"/>
          <p:cNvSpPr/>
          <p:nvPr/>
        </p:nvSpPr>
        <p:spPr>
          <a:xfrm>
            <a:off x="12122661" y="4603403"/>
            <a:ext cx="2730535"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3</a:t>
            </a:r>
            <a:endParaRPr lang="en-US" sz="2550" dirty="0"/>
          </a:p>
        </p:txBody>
      </p:sp>
      <p:sp>
        <p:nvSpPr>
          <p:cNvPr id="19" name="Text 17"/>
          <p:cNvSpPr/>
          <p:nvPr/>
        </p:nvSpPr>
        <p:spPr>
          <a:xfrm>
            <a:off x="14604965" y="4603403"/>
            <a:ext cx="2730535"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180</a:t>
            </a:r>
            <a:endParaRPr lang="en-US" sz="2550" dirty="0"/>
          </a:p>
        </p:txBody>
      </p:sp>
      <p:sp>
        <p:nvSpPr>
          <p:cNvPr id="20" name="Shape 18"/>
          <p:cNvSpPr/>
          <p:nvPr/>
        </p:nvSpPr>
        <p:spPr>
          <a:xfrm>
            <a:off x="952500" y="6208365"/>
            <a:ext cx="16383000" cy="19050"/>
          </a:xfrm>
          <a:prstGeom prst="rect">
            <a:avLst/>
          </a:prstGeom>
          <a:solidFill>
            <a:srgbClr val="E2ECF7">
              <a:alpha val="22000"/>
            </a:srgbClr>
          </a:solidFill>
          <a:ln/>
        </p:spPr>
      </p:sp>
      <p:sp>
        <p:nvSpPr>
          <p:cNvPr id="21" name="Text 19"/>
          <p:cNvSpPr/>
          <p:nvPr/>
        </p:nvSpPr>
        <p:spPr>
          <a:xfrm>
            <a:off x="952500" y="5551140"/>
            <a:ext cx="436879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Billing quantity IDU</a:t>
            </a:r>
            <a:endParaRPr lang="en-US" sz="2550" dirty="0"/>
          </a:p>
        </p:txBody>
      </p:sp>
      <p:sp>
        <p:nvSpPr>
          <p:cNvPr id="22" name="Text 20"/>
          <p:cNvSpPr/>
          <p:nvPr/>
        </p:nvSpPr>
        <p:spPr>
          <a:xfrm>
            <a:off x="4675904" y="5565428"/>
            <a:ext cx="2730453"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2.11</a:t>
            </a:r>
            <a:endParaRPr lang="en-US" sz="2550" dirty="0"/>
          </a:p>
        </p:txBody>
      </p:sp>
      <p:sp>
        <p:nvSpPr>
          <p:cNvPr id="23" name="Text 21"/>
          <p:cNvSpPr/>
          <p:nvPr/>
        </p:nvSpPr>
        <p:spPr>
          <a:xfrm>
            <a:off x="7158127" y="5565428"/>
            <a:ext cx="2730535"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10.35</a:t>
            </a:r>
            <a:endParaRPr lang="en-US" sz="2550" dirty="0"/>
          </a:p>
        </p:txBody>
      </p:sp>
      <p:sp>
        <p:nvSpPr>
          <p:cNvPr id="24" name="Text 22"/>
          <p:cNvSpPr/>
          <p:nvPr/>
        </p:nvSpPr>
        <p:spPr>
          <a:xfrm>
            <a:off x="9640439" y="5565428"/>
            <a:ext cx="2730453"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2745F"/>
                </a:solidFill>
                <a:latin typeface="Arial" pitchFamily="34" charset="0"/>
                <a:ea typeface="Arial" pitchFamily="34" charset="-122"/>
                <a:cs typeface="Arial" pitchFamily="34" charset="-120"/>
              </a:rPr>
              <a:t>−30</a:t>
            </a:r>
            <a:endParaRPr lang="en-US" sz="2550" dirty="0"/>
          </a:p>
        </p:txBody>
      </p:sp>
      <p:sp>
        <p:nvSpPr>
          <p:cNvPr id="25" name="Text 23"/>
          <p:cNvSpPr/>
          <p:nvPr/>
        </p:nvSpPr>
        <p:spPr>
          <a:xfrm>
            <a:off x="12122661" y="5551140"/>
            <a:ext cx="2730535" cy="409575"/>
          </a:xfrm>
          <a:prstGeom prst="rect">
            <a:avLst/>
          </a:prstGeom>
          <a:noFill/>
          <a:ln/>
        </p:spPr>
        <p:txBody>
          <a:bodyPr wrap="square" lIns="25400" tIns="25400" rIns="25400" bIns="25400" rtlCol="0" anchor="t">
            <a:normAutofit/>
          </a:bodyPr>
          <a:lstStyle/>
          <a:p>
            <a:pPr algn="r" indent="0" marL="0">
              <a:buNone/>
            </a:pPr>
            <a:r>
              <a:rPr lang="en-US" sz="2550" b="1" dirty="0">
                <a:solidFill>
                  <a:srgbClr val="57D2E6"/>
                </a:solidFill>
                <a:latin typeface="Arial" pitchFamily="34" charset="0"/>
                <a:ea typeface="Arial" pitchFamily="34" charset="-122"/>
                <a:cs typeface="Arial" pitchFamily="34" charset="-120"/>
              </a:rPr>
              <a:t>0</a:t>
            </a:r>
            <a:endParaRPr lang="en-US" sz="2550" dirty="0"/>
          </a:p>
        </p:txBody>
      </p:sp>
      <p:sp>
        <p:nvSpPr>
          <p:cNvPr id="26" name="Text 24"/>
          <p:cNvSpPr/>
          <p:nvPr/>
        </p:nvSpPr>
        <p:spPr>
          <a:xfrm>
            <a:off x="14604965" y="5565428"/>
            <a:ext cx="2730535"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170</a:t>
            </a:r>
            <a:endParaRPr lang="en-US" sz="2550" dirty="0"/>
          </a:p>
        </p:txBody>
      </p:sp>
      <p:sp>
        <p:nvSpPr>
          <p:cNvPr id="27" name="Shape 25"/>
          <p:cNvSpPr/>
          <p:nvPr/>
        </p:nvSpPr>
        <p:spPr>
          <a:xfrm>
            <a:off x="952500" y="7170390"/>
            <a:ext cx="16383000" cy="19050"/>
          </a:xfrm>
          <a:prstGeom prst="rect">
            <a:avLst/>
          </a:prstGeom>
          <a:solidFill>
            <a:srgbClr val="E2ECF7">
              <a:alpha val="22000"/>
            </a:srgbClr>
          </a:solidFill>
          <a:ln/>
        </p:spPr>
      </p:sp>
      <p:sp>
        <p:nvSpPr>
          <p:cNvPr id="28" name="Text 26"/>
          <p:cNvSpPr/>
          <p:nvPr/>
        </p:nvSpPr>
        <p:spPr>
          <a:xfrm>
            <a:off x="952500" y="6513165"/>
            <a:ext cx="436879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Tonnage</a:t>
            </a:r>
            <a:endParaRPr lang="en-US" sz="2550" dirty="0"/>
          </a:p>
        </p:txBody>
      </p:sp>
      <p:sp>
        <p:nvSpPr>
          <p:cNvPr id="29" name="Text 27"/>
          <p:cNvSpPr/>
          <p:nvPr/>
        </p:nvSpPr>
        <p:spPr>
          <a:xfrm>
            <a:off x="4675904" y="6527453"/>
            <a:ext cx="2730453"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1.28</a:t>
            </a:r>
            <a:endParaRPr lang="en-US" sz="2550" dirty="0"/>
          </a:p>
        </p:txBody>
      </p:sp>
      <p:sp>
        <p:nvSpPr>
          <p:cNvPr id="30" name="Text 28"/>
          <p:cNvSpPr/>
          <p:nvPr/>
        </p:nvSpPr>
        <p:spPr>
          <a:xfrm>
            <a:off x="7158127" y="6527453"/>
            <a:ext cx="2730535"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0.56</a:t>
            </a:r>
            <a:endParaRPr lang="en-US" sz="2550" dirty="0"/>
          </a:p>
        </p:txBody>
      </p:sp>
      <p:sp>
        <p:nvSpPr>
          <p:cNvPr id="31" name="Text 29"/>
          <p:cNvSpPr/>
          <p:nvPr/>
        </p:nvSpPr>
        <p:spPr>
          <a:xfrm>
            <a:off x="9640439" y="6527453"/>
            <a:ext cx="2730453"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0</a:t>
            </a:r>
            <a:endParaRPr lang="en-US" sz="2550" dirty="0"/>
          </a:p>
        </p:txBody>
      </p:sp>
      <p:sp>
        <p:nvSpPr>
          <p:cNvPr id="32" name="Text 30"/>
          <p:cNvSpPr/>
          <p:nvPr/>
        </p:nvSpPr>
        <p:spPr>
          <a:xfrm>
            <a:off x="12122661" y="6527453"/>
            <a:ext cx="2730535"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1.5</a:t>
            </a:r>
            <a:endParaRPr lang="en-US" sz="2550" dirty="0"/>
          </a:p>
        </p:txBody>
      </p:sp>
      <p:sp>
        <p:nvSpPr>
          <p:cNvPr id="33" name="Text 31"/>
          <p:cNvSpPr/>
          <p:nvPr/>
        </p:nvSpPr>
        <p:spPr>
          <a:xfrm>
            <a:off x="14604965" y="6527453"/>
            <a:ext cx="2730535"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2.2</a:t>
            </a:r>
            <a:endParaRPr lang="en-US" sz="2550" dirty="0"/>
          </a:p>
        </p:txBody>
      </p:sp>
      <p:sp>
        <p:nvSpPr>
          <p:cNvPr id="34" name="Text 32"/>
          <p:cNvSpPr/>
          <p:nvPr/>
        </p:nvSpPr>
        <p:spPr>
          <a:xfrm>
            <a:off x="952500" y="7513290"/>
            <a:ext cx="13735050" cy="838200"/>
          </a:xfrm>
          <a:prstGeom prst="rect">
            <a:avLst/>
          </a:prstGeom>
          <a:noFill/>
          <a:ln/>
        </p:spPr>
        <p:txBody>
          <a:bodyPr wrap="square" lIns="25400" tIns="25400" rIns="25400" bIns="25400" rtlCol="0" anchor="t">
            <a:normAutofit/>
          </a:bodyPr>
          <a:lstStyle/>
          <a:p>
            <a:pPr algn="l" indent="0" marL="0">
              <a:lnSpc>
                <a:spcPct val="129231"/>
              </a:lnSpc>
              <a:buNone/>
            </a:pPr>
            <a:r>
              <a:rPr lang="en-US" sz="2100" dirty="0">
                <a:solidFill>
                  <a:srgbClr val="93A5BB"/>
                </a:solidFill>
                <a:latin typeface="Arial" pitchFamily="34" charset="0"/>
                <a:ea typeface="Arial" pitchFamily="34" charset="-122"/>
                <a:cs typeface="Arial" pitchFamily="34" charset="-120"/>
              </a:rPr>
              <a:t>Across 82,033 scored lines, standard deviation runs at roughly twice the mean on ODU and five times the mean on IDU. Negative minima are the return transactions isolated in the quality audit.</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06 — METHOD</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Lumpy demand forces a two-track model set — statistical and machine learning side by side</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952500" y="3622328"/>
            <a:ext cx="16383000" cy="19050"/>
          </a:xfrm>
          <a:prstGeom prst="rect">
            <a:avLst/>
          </a:prstGeom>
          <a:solidFill>
            <a:srgbClr val="E2ECF7">
              <a:alpha val="22000"/>
            </a:srgbClr>
          </a:solidFill>
          <a:ln/>
        </p:spPr>
      </p:sp>
      <p:sp>
        <p:nvSpPr>
          <p:cNvPr id="6" name="Shape 4"/>
          <p:cNvSpPr/>
          <p:nvPr/>
        </p:nvSpPr>
        <p:spPr>
          <a:xfrm>
            <a:off x="6394400" y="3641378"/>
            <a:ext cx="19050" cy="5883622"/>
          </a:xfrm>
          <a:prstGeom prst="rect">
            <a:avLst/>
          </a:prstGeom>
          <a:solidFill>
            <a:srgbClr val="E2ECF7">
              <a:alpha val="22000"/>
            </a:srgbClr>
          </a:solidFill>
          <a:ln/>
        </p:spPr>
      </p:sp>
      <p:sp>
        <p:nvSpPr>
          <p:cNvPr id="7" name="Text 5"/>
          <p:cNvSpPr/>
          <p:nvPr/>
        </p:nvSpPr>
        <p:spPr>
          <a:xfrm>
            <a:off x="952500" y="4060478"/>
            <a:ext cx="548317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57D2E6"/>
                </a:solidFill>
                <a:latin typeface="Arial" pitchFamily="34" charset="0"/>
                <a:ea typeface="Arial" pitchFamily="34" charset="-122"/>
                <a:cs typeface="Arial" pitchFamily="34" charset="-120"/>
              </a:rPr>
              <a:t>MODELS EVALUATED</a:t>
            </a:r>
            <a:endParaRPr lang="en-US" sz="1800" dirty="0"/>
          </a:p>
        </p:txBody>
      </p:sp>
      <p:sp>
        <p:nvSpPr>
          <p:cNvPr id="8" name="Text 6"/>
          <p:cNvSpPr/>
          <p:nvPr/>
        </p:nvSpPr>
        <p:spPr>
          <a:xfrm>
            <a:off x="952500" y="4551015"/>
            <a:ext cx="5483170"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ARIMA (1,1,1)</a:t>
            </a:r>
            <a:endParaRPr lang="en-US" sz="2100" dirty="0"/>
          </a:p>
        </p:txBody>
      </p:sp>
      <p:sp>
        <p:nvSpPr>
          <p:cNvPr id="9" name="Text 7"/>
          <p:cNvSpPr/>
          <p:nvPr/>
        </p:nvSpPr>
        <p:spPr>
          <a:xfrm>
            <a:off x="952500" y="5152951"/>
            <a:ext cx="5483170"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SARIMA (1,1,1,12)</a:t>
            </a:r>
            <a:endParaRPr lang="en-US" sz="2100" dirty="0"/>
          </a:p>
        </p:txBody>
      </p:sp>
      <p:sp>
        <p:nvSpPr>
          <p:cNvPr id="10" name="Text 8"/>
          <p:cNvSpPr/>
          <p:nvPr/>
        </p:nvSpPr>
        <p:spPr>
          <a:xfrm>
            <a:off x="952500" y="5754886"/>
            <a:ext cx="5483170"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Exponential Smoothing</a:t>
            </a:r>
            <a:endParaRPr lang="en-US" sz="2100" dirty="0"/>
          </a:p>
        </p:txBody>
      </p:sp>
      <p:sp>
        <p:nvSpPr>
          <p:cNvPr id="11" name="Text 9"/>
          <p:cNvSpPr/>
          <p:nvPr/>
        </p:nvSpPr>
        <p:spPr>
          <a:xfrm>
            <a:off x="952500" y="6356821"/>
            <a:ext cx="5483170"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Random Forest</a:t>
            </a:r>
            <a:endParaRPr lang="en-US" sz="2100" dirty="0"/>
          </a:p>
        </p:txBody>
      </p:sp>
      <p:sp>
        <p:nvSpPr>
          <p:cNvPr id="12" name="Text 10"/>
          <p:cNvSpPr/>
          <p:nvPr/>
        </p:nvSpPr>
        <p:spPr>
          <a:xfrm>
            <a:off x="952500" y="6958757"/>
            <a:ext cx="5483170"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Gradient Boosting</a:t>
            </a:r>
            <a:endParaRPr lang="en-US" sz="2100" dirty="0"/>
          </a:p>
        </p:txBody>
      </p:sp>
      <p:sp>
        <p:nvSpPr>
          <p:cNvPr id="13" name="Shape 11"/>
          <p:cNvSpPr/>
          <p:nvPr/>
        </p:nvSpPr>
        <p:spPr>
          <a:xfrm>
            <a:off x="11855425" y="3641378"/>
            <a:ext cx="19050" cy="5883622"/>
          </a:xfrm>
          <a:prstGeom prst="rect">
            <a:avLst/>
          </a:prstGeom>
          <a:solidFill>
            <a:srgbClr val="E2ECF7">
              <a:alpha val="22000"/>
            </a:srgbClr>
          </a:solidFill>
          <a:ln/>
        </p:spPr>
      </p:sp>
      <p:sp>
        <p:nvSpPr>
          <p:cNvPr id="14" name="Text 12"/>
          <p:cNvSpPr/>
          <p:nvPr/>
        </p:nvSpPr>
        <p:spPr>
          <a:xfrm>
            <a:off x="6870650" y="4060478"/>
            <a:ext cx="4980332"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57D2E6"/>
                </a:solidFill>
                <a:latin typeface="Arial" pitchFamily="34" charset="0"/>
                <a:ea typeface="Arial" pitchFamily="34" charset="-122"/>
                <a:cs typeface="Arial" pitchFamily="34" charset="-120"/>
              </a:rPr>
              <a:t>FEATURE ENGINEERING</a:t>
            </a:r>
            <a:endParaRPr lang="en-US" sz="1800" dirty="0"/>
          </a:p>
        </p:txBody>
      </p:sp>
      <p:sp>
        <p:nvSpPr>
          <p:cNvPr id="15" name="Text 13"/>
          <p:cNvSpPr/>
          <p:nvPr/>
        </p:nvSpPr>
        <p:spPr>
          <a:xfrm>
            <a:off x="6870650" y="4551015"/>
            <a:ext cx="4663402"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Calendar features — week, month, quarter, day of year</a:t>
            </a:r>
            <a:endParaRPr lang="en-US" sz="2100" dirty="0"/>
          </a:p>
        </p:txBody>
      </p:sp>
      <p:sp>
        <p:nvSpPr>
          <p:cNvPr id="16" name="Text 14"/>
          <p:cNvSpPr/>
          <p:nvPr/>
        </p:nvSpPr>
        <p:spPr>
          <a:xfrm>
            <a:off x="6870650" y="5526286"/>
            <a:ext cx="4663402"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Lag features — previous four weeks of demand</a:t>
            </a:r>
            <a:endParaRPr lang="en-US" sz="2100" dirty="0"/>
          </a:p>
        </p:txBody>
      </p:sp>
      <p:sp>
        <p:nvSpPr>
          <p:cNvPr id="17" name="Text 15"/>
          <p:cNvSpPr/>
          <p:nvPr/>
        </p:nvSpPr>
        <p:spPr>
          <a:xfrm>
            <a:off x="6870650" y="6501557"/>
            <a:ext cx="4663402"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Rolling averages — two-week and four-week windows</a:t>
            </a:r>
            <a:endParaRPr lang="en-US" sz="2100" dirty="0"/>
          </a:p>
        </p:txBody>
      </p:sp>
      <p:sp>
        <p:nvSpPr>
          <p:cNvPr id="18" name="Text 16"/>
          <p:cNvSpPr/>
          <p:nvPr/>
        </p:nvSpPr>
        <p:spPr>
          <a:xfrm>
            <a:off x="12331675" y="4060478"/>
            <a:ext cx="550412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57D2E6"/>
                </a:solidFill>
                <a:latin typeface="Arial" pitchFamily="34" charset="0"/>
                <a:ea typeface="Arial" pitchFamily="34" charset="-122"/>
                <a:cs typeface="Arial" pitchFamily="34" charset="-120"/>
              </a:rPr>
              <a:t>VALIDATION DESIGN</a:t>
            </a:r>
            <a:endParaRPr lang="en-US" sz="1800" dirty="0"/>
          </a:p>
        </p:txBody>
      </p:sp>
      <p:sp>
        <p:nvSpPr>
          <p:cNvPr id="19" name="Text 17"/>
          <p:cNvSpPr/>
          <p:nvPr/>
        </p:nvSpPr>
        <p:spPr>
          <a:xfrm>
            <a:off x="12331675" y="4551015"/>
            <a:ext cx="550412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80 / 20 train-validation split per series</a:t>
            </a:r>
            <a:endParaRPr lang="en-US" sz="2100" dirty="0"/>
          </a:p>
        </p:txBody>
      </p:sp>
      <p:sp>
        <p:nvSpPr>
          <p:cNvPr id="20" name="Text 18"/>
          <p:cNvSpPr/>
          <p:nvPr/>
        </p:nvSpPr>
        <p:spPr>
          <a:xfrm>
            <a:off x="12331675" y="5152951"/>
            <a:ext cx="550412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Scored on MAE, RMSE and MAPE</a:t>
            </a:r>
            <a:endParaRPr lang="en-US" sz="2100" dirty="0"/>
          </a:p>
        </p:txBody>
      </p:sp>
      <p:sp>
        <p:nvSpPr>
          <p:cNvPr id="21" name="Text 19"/>
          <p:cNvSpPr/>
          <p:nvPr/>
        </p:nvSpPr>
        <p:spPr>
          <a:xfrm>
            <a:off x="12331675" y="5754886"/>
            <a:ext cx="5153863"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Minimum 10 observations; 20–30 weeks preferred</a:t>
            </a:r>
            <a:endParaRPr lang="en-US" sz="2100" dirty="0"/>
          </a:p>
        </p:txBody>
      </p:sp>
      <p:sp>
        <p:nvSpPr>
          <p:cNvPr id="22" name="Text 20"/>
          <p:cNvSpPr/>
          <p:nvPr/>
        </p:nvSpPr>
        <p:spPr>
          <a:xfrm>
            <a:off x="12331675" y="6730157"/>
            <a:ext cx="5153863"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Confidence bands configurable from 80% to 99%</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07 — RESULTS</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A 12-week rolling forecast now runs across 42 branch–SKU series</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952500" y="5371058"/>
            <a:ext cx="16383000" cy="19050"/>
          </a:xfrm>
          <a:prstGeom prst="rect">
            <a:avLst/>
          </a:prstGeom>
          <a:solidFill>
            <a:srgbClr val="E2ECF7">
              <a:alpha val="22000"/>
            </a:srgbClr>
          </a:solidFill>
          <a:ln/>
        </p:spPr>
      </p:sp>
      <p:sp>
        <p:nvSpPr>
          <p:cNvPr id="6" name="Shape 4"/>
          <p:cNvSpPr/>
          <p:nvPr/>
        </p:nvSpPr>
        <p:spPr>
          <a:xfrm>
            <a:off x="952500" y="3622328"/>
            <a:ext cx="16383000" cy="19050"/>
          </a:xfrm>
          <a:prstGeom prst="rect">
            <a:avLst/>
          </a:prstGeom>
          <a:solidFill>
            <a:srgbClr val="E2ECF7">
              <a:alpha val="22000"/>
            </a:srgbClr>
          </a:solidFill>
          <a:ln/>
        </p:spPr>
      </p:sp>
      <p:sp>
        <p:nvSpPr>
          <p:cNvPr id="7" name="Shape 5"/>
          <p:cNvSpPr/>
          <p:nvPr/>
        </p:nvSpPr>
        <p:spPr>
          <a:xfrm>
            <a:off x="5029200" y="3641378"/>
            <a:ext cx="19050" cy="1729680"/>
          </a:xfrm>
          <a:prstGeom prst="rect">
            <a:avLst/>
          </a:prstGeom>
          <a:solidFill>
            <a:srgbClr val="E2ECF7">
              <a:alpha val="22000"/>
            </a:srgbClr>
          </a:solidFill>
          <a:ln/>
        </p:spPr>
      </p:sp>
      <p:sp>
        <p:nvSpPr>
          <p:cNvPr id="8" name="Text 6"/>
          <p:cNvSpPr/>
          <p:nvPr/>
        </p:nvSpPr>
        <p:spPr>
          <a:xfrm>
            <a:off x="952500" y="3793778"/>
            <a:ext cx="4065270" cy="628650"/>
          </a:xfrm>
          <a:prstGeom prst="rect">
            <a:avLst/>
          </a:prstGeom>
          <a:noFill/>
          <a:ln/>
        </p:spPr>
        <p:txBody>
          <a:bodyPr wrap="square" lIns="25400" tIns="25400" rIns="25400" bIns="25400" rtlCol="0" anchor="t">
            <a:normAutofit/>
          </a:bodyPr>
          <a:lstStyle/>
          <a:p>
            <a:pPr algn="l" indent="0" marL="0">
              <a:lnSpc>
                <a:spcPct val="87324"/>
              </a:lnSpc>
              <a:buNone/>
            </a:pPr>
            <a:r>
              <a:rPr lang="en-US" sz="4650" b="1" spc="-139" kern="0" dirty="0">
                <a:solidFill>
                  <a:srgbClr val="57D2E6"/>
                </a:solidFill>
                <a:latin typeface="Arial" pitchFamily="34" charset="0"/>
                <a:ea typeface="Arial" pitchFamily="34" charset="-122"/>
                <a:cs typeface="Arial" pitchFamily="34" charset="-120"/>
              </a:rPr>
              <a:t>12</a:t>
            </a:r>
            <a:endParaRPr lang="en-US" sz="4650" dirty="0"/>
          </a:p>
        </p:txBody>
      </p:sp>
      <p:sp>
        <p:nvSpPr>
          <p:cNvPr id="9" name="Text 7"/>
          <p:cNvSpPr/>
          <p:nvPr/>
        </p:nvSpPr>
        <p:spPr>
          <a:xfrm>
            <a:off x="952500" y="4498628"/>
            <a:ext cx="406527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93A5BB"/>
                </a:solidFill>
                <a:latin typeface="Arial" pitchFamily="34" charset="0"/>
                <a:ea typeface="Arial" pitchFamily="34" charset="-122"/>
                <a:cs typeface="Arial" pitchFamily="34" charset="-120"/>
              </a:rPr>
              <a:t>Weeks of forward horizon</a:t>
            </a:r>
            <a:endParaRPr lang="en-US" sz="2100" dirty="0"/>
          </a:p>
        </p:txBody>
      </p:sp>
      <p:sp>
        <p:nvSpPr>
          <p:cNvPr id="10" name="Shape 8"/>
          <p:cNvSpPr/>
          <p:nvPr/>
        </p:nvSpPr>
        <p:spPr>
          <a:xfrm>
            <a:off x="9124950" y="3641378"/>
            <a:ext cx="19050" cy="1729680"/>
          </a:xfrm>
          <a:prstGeom prst="rect">
            <a:avLst/>
          </a:prstGeom>
          <a:solidFill>
            <a:srgbClr val="E2ECF7">
              <a:alpha val="22000"/>
            </a:srgbClr>
          </a:solidFill>
          <a:ln/>
        </p:spPr>
      </p:sp>
      <p:sp>
        <p:nvSpPr>
          <p:cNvPr id="11" name="Text 9"/>
          <p:cNvSpPr/>
          <p:nvPr/>
        </p:nvSpPr>
        <p:spPr>
          <a:xfrm>
            <a:off x="5429250" y="3793778"/>
            <a:ext cx="3646170" cy="628650"/>
          </a:xfrm>
          <a:prstGeom prst="rect">
            <a:avLst/>
          </a:prstGeom>
          <a:noFill/>
          <a:ln/>
        </p:spPr>
        <p:txBody>
          <a:bodyPr wrap="square" lIns="25400" tIns="25400" rIns="25400" bIns="25400" rtlCol="0" anchor="t">
            <a:normAutofit/>
          </a:bodyPr>
          <a:lstStyle/>
          <a:p>
            <a:pPr algn="l" indent="0" marL="0">
              <a:lnSpc>
                <a:spcPct val="87324"/>
              </a:lnSpc>
              <a:buNone/>
            </a:pPr>
            <a:r>
              <a:rPr lang="en-US" sz="4650" b="1" spc="-139" kern="0" dirty="0">
                <a:solidFill>
                  <a:srgbClr val="EDF2F8"/>
                </a:solidFill>
                <a:latin typeface="Arial" pitchFamily="34" charset="0"/>
                <a:ea typeface="Arial" pitchFamily="34" charset="-122"/>
                <a:cs typeface="Arial" pitchFamily="34" charset="-120"/>
              </a:rPr>
              <a:t>42</a:t>
            </a:r>
            <a:endParaRPr lang="en-US" sz="4650" dirty="0"/>
          </a:p>
        </p:txBody>
      </p:sp>
      <p:sp>
        <p:nvSpPr>
          <p:cNvPr id="12" name="Text 10"/>
          <p:cNvSpPr/>
          <p:nvPr/>
        </p:nvSpPr>
        <p:spPr>
          <a:xfrm>
            <a:off x="5429250" y="4498628"/>
            <a:ext cx="3414141" cy="758130"/>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93A5BB"/>
                </a:solidFill>
                <a:latin typeface="Arial" pitchFamily="34" charset="0"/>
                <a:ea typeface="Arial" pitchFamily="34" charset="-122"/>
                <a:cs typeface="Arial" pitchFamily="34" charset="-120"/>
              </a:rPr>
              <a:t>Branch–SKU series forecast</a:t>
            </a:r>
            <a:endParaRPr lang="en-US" sz="2100" dirty="0"/>
          </a:p>
        </p:txBody>
      </p:sp>
      <p:sp>
        <p:nvSpPr>
          <p:cNvPr id="13" name="Shape 11"/>
          <p:cNvSpPr/>
          <p:nvPr/>
        </p:nvSpPr>
        <p:spPr>
          <a:xfrm>
            <a:off x="13220700" y="3641378"/>
            <a:ext cx="19050" cy="1729680"/>
          </a:xfrm>
          <a:prstGeom prst="rect">
            <a:avLst/>
          </a:prstGeom>
          <a:solidFill>
            <a:srgbClr val="E2ECF7">
              <a:alpha val="22000"/>
            </a:srgbClr>
          </a:solidFill>
          <a:ln/>
        </p:spPr>
      </p:sp>
      <p:sp>
        <p:nvSpPr>
          <p:cNvPr id="14" name="Text 12"/>
          <p:cNvSpPr/>
          <p:nvPr/>
        </p:nvSpPr>
        <p:spPr>
          <a:xfrm>
            <a:off x="9525000" y="3793778"/>
            <a:ext cx="3646170" cy="628650"/>
          </a:xfrm>
          <a:prstGeom prst="rect">
            <a:avLst/>
          </a:prstGeom>
          <a:noFill/>
          <a:ln/>
        </p:spPr>
        <p:txBody>
          <a:bodyPr wrap="square" lIns="25400" tIns="25400" rIns="25400" bIns="25400" rtlCol="0" anchor="t">
            <a:normAutofit/>
          </a:bodyPr>
          <a:lstStyle/>
          <a:p>
            <a:pPr algn="l" indent="0" marL="0">
              <a:lnSpc>
                <a:spcPct val="87324"/>
              </a:lnSpc>
              <a:buNone/>
            </a:pPr>
            <a:r>
              <a:rPr lang="en-US" sz="4650" b="1" spc="-139" kern="0" dirty="0">
                <a:solidFill>
                  <a:srgbClr val="EDF2F8"/>
                </a:solidFill>
                <a:latin typeface="Arial" pitchFamily="34" charset="0"/>
                <a:ea typeface="Arial" pitchFamily="34" charset="-122"/>
                <a:cs typeface="Arial" pitchFamily="34" charset="-120"/>
              </a:rPr>
              <a:t>15</a:t>
            </a:r>
            <a:endParaRPr lang="en-US" sz="4650" dirty="0"/>
          </a:p>
        </p:txBody>
      </p:sp>
      <p:sp>
        <p:nvSpPr>
          <p:cNvPr id="15" name="Text 13"/>
          <p:cNvSpPr/>
          <p:nvPr/>
        </p:nvSpPr>
        <p:spPr>
          <a:xfrm>
            <a:off x="9525000" y="4498628"/>
            <a:ext cx="364617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93A5BB"/>
                </a:solidFill>
                <a:latin typeface="Arial" pitchFamily="34" charset="0"/>
                <a:ea typeface="Arial" pitchFamily="34" charset="-122"/>
                <a:cs typeface="Arial" pitchFamily="34" charset="-120"/>
              </a:rPr>
              <a:t>Distinct SKUs covered</a:t>
            </a:r>
            <a:endParaRPr lang="en-US" sz="2100" dirty="0"/>
          </a:p>
        </p:txBody>
      </p:sp>
      <p:sp>
        <p:nvSpPr>
          <p:cNvPr id="16" name="Text 14"/>
          <p:cNvSpPr/>
          <p:nvPr/>
        </p:nvSpPr>
        <p:spPr>
          <a:xfrm>
            <a:off x="13620750" y="3793778"/>
            <a:ext cx="4086225" cy="628650"/>
          </a:xfrm>
          <a:prstGeom prst="rect">
            <a:avLst/>
          </a:prstGeom>
          <a:noFill/>
          <a:ln/>
        </p:spPr>
        <p:txBody>
          <a:bodyPr wrap="square" lIns="25400" tIns="25400" rIns="25400" bIns="25400" rtlCol="0" anchor="t">
            <a:normAutofit/>
          </a:bodyPr>
          <a:lstStyle/>
          <a:p>
            <a:pPr algn="l" indent="0" marL="0">
              <a:lnSpc>
                <a:spcPct val="87324"/>
              </a:lnSpc>
              <a:buNone/>
            </a:pPr>
            <a:r>
              <a:rPr lang="en-US" sz="4650" b="1" spc="-139" kern="0" dirty="0">
                <a:solidFill>
                  <a:srgbClr val="EDF2F8"/>
                </a:solidFill>
                <a:latin typeface="Arial" pitchFamily="34" charset="0"/>
                <a:ea typeface="Arial" pitchFamily="34" charset="-122"/>
                <a:cs typeface="Arial" pitchFamily="34" charset="-120"/>
              </a:rPr>
              <a:t>91,504</a:t>
            </a:r>
            <a:endParaRPr lang="en-US" sz="4650" dirty="0"/>
          </a:p>
        </p:txBody>
      </p:sp>
      <p:sp>
        <p:nvSpPr>
          <p:cNvPr id="17" name="Text 15"/>
          <p:cNvSpPr/>
          <p:nvPr/>
        </p:nvSpPr>
        <p:spPr>
          <a:xfrm>
            <a:off x="13620750" y="4498628"/>
            <a:ext cx="3826193" cy="758130"/>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93A5BB"/>
                </a:solidFill>
                <a:latin typeface="Arial" pitchFamily="34" charset="0"/>
                <a:ea typeface="Arial" pitchFamily="34" charset="-122"/>
                <a:cs typeface="Arial" pitchFamily="34" charset="-120"/>
              </a:rPr>
              <a:t>Units forecast, from 26 May 2024</a:t>
            </a:r>
            <a:endParaRPr lang="en-US" sz="2100" dirty="0"/>
          </a:p>
        </p:txBody>
      </p:sp>
      <p:sp>
        <p:nvSpPr>
          <p:cNvPr id="18" name="Text 16"/>
          <p:cNvSpPr/>
          <p:nvPr/>
        </p:nvSpPr>
        <p:spPr>
          <a:xfrm>
            <a:off x="952500" y="5675858"/>
            <a:ext cx="1802130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93A5BB"/>
                </a:solidFill>
                <a:latin typeface="Arial" pitchFamily="34" charset="0"/>
                <a:ea typeface="Arial" pitchFamily="34" charset="-122"/>
                <a:cs typeface="Arial" pitchFamily="34" charset="-120"/>
              </a:rPr>
              <a:t>FORECAST VOLUME BY HUB — ARIMA RUN, UNITS</a:t>
            </a:r>
            <a:endParaRPr lang="en-US" sz="1800" dirty="0"/>
          </a:p>
        </p:txBody>
      </p:sp>
      <p:sp>
        <p:nvSpPr>
          <p:cNvPr id="19" name="Text 17"/>
          <p:cNvSpPr/>
          <p:nvPr/>
        </p:nvSpPr>
        <p:spPr>
          <a:xfrm>
            <a:off x="952500" y="6183064"/>
            <a:ext cx="1362075"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SBD</a:t>
            </a:r>
            <a:endParaRPr lang="en-US" sz="2100" dirty="0"/>
          </a:p>
        </p:txBody>
      </p:sp>
      <p:sp>
        <p:nvSpPr>
          <p:cNvPr id="20" name="Shape 18"/>
          <p:cNvSpPr/>
          <p:nvPr/>
        </p:nvSpPr>
        <p:spPr>
          <a:xfrm>
            <a:off x="2457450" y="6147346"/>
            <a:ext cx="12420600" cy="381000"/>
          </a:xfrm>
          <a:prstGeom prst="rect">
            <a:avLst/>
          </a:prstGeom>
          <a:solidFill>
            <a:srgbClr val="57D2E6">
              <a:alpha val="14000"/>
            </a:srgbClr>
          </a:solidFill>
          <a:ln/>
        </p:spPr>
      </p:sp>
      <p:sp>
        <p:nvSpPr>
          <p:cNvPr id="21" name="Shape 19"/>
          <p:cNvSpPr/>
          <p:nvPr/>
        </p:nvSpPr>
        <p:spPr>
          <a:xfrm>
            <a:off x="2457450" y="6147346"/>
            <a:ext cx="12420600" cy="381000"/>
          </a:xfrm>
          <a:prstGeom prst="rect">
            <a:avLst/>
          </a:prstGeom>
          <a:solidFill>
            <a:srgbClr val="57D2E6"/>
          </a:solidFill>
          <a:ln/>
        </p:spPr>
      </p:sp>
      <p:sp>
        <p:nvSpPr>
          <p:cNvPr id="22" name="Text 20"/>
          <p:cNvSpPr/>
          <p:nvPr/>
        </p:nvSpPr>
        <p:spPr>
          <a:xfrm>
            <a:off x="14925675" y="6183064"/>
            <a:ext cx="2409825" cy="347663"/>
          </a:xfrm>
          <a:prstGeom prst="rect">
            <a:avLst/>
          </a:prstGeom>
          <a:noFill/>
          <a:ln/>
        </p:spPr>
        <p:txBody>
          <a:bodyPr wrap="square" lIns="25400" tIns="25400" rIns="25400" bIns="25400" rtlCol="0" anchor="t">
            <a:normAutofit/>
          </a:bodyPr>
          <a:lstStyle/>
          <a:p>
            <a:pPr algn="r" indent="0" marL="0">
              <a:buNone/>
            </a:pPr>
            <a:r>
              <a:rPr lang="en-US" sz="2100" b="1" dirty="0">
                <a:solidFill>
                  <a:srgbClr val="EDF2F8"/>
                </a:solidFill>
                <a:latin typeface="Arial" pitchFamily="34" charset="0"/>
                <a:ea typeface="Arial" pitchFamily="34" charset="-122"/>
                <a:cs typeface="Arial" pitchFamily="34" charset="-120"/>
              </a:rPr>
              <a:t>31,731 · 34.7%</a:t>
            </a:r>
            <a:endParaRPr lang="en-US" sz="2100" dirty="0"/>
          </a:p>
        </p:txBody>
      </p:sp>
      <p:sp>
        <p:nvSpPr>
          <p:cNvPr id="23" name="Text 21"/>
          <p:cNvSpPr/>
          <p:nvPr/>
        </p:nvSpPr>
        <p:spPr>
          <a:xfrm>
            <a:off x="952500" y="6678364"/>
            <a:ext cx="1362075"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MAA</a:t>
            </a:r>
            <a:endParaRPr lang="en-US" sz="2100" dirty="0"/>
          </a:p>
        </p:txBody>
      </p:sp>
      <p:sp>
        <p:nvSpPr>
          <p:cNvPr id="24" name="Shape 22"/>
          <p:cNvSpPr/>
          <p:nvPr/>
        </p:nvSpPr>
        <p:spPr>
          <a:xfrm>
            <a:off x="2457450" y="6642646"/>
            <a:ext cx="12420600" cy="381000"/>
          </a:xfrm>
          <a:prstGeom prst="rect">
            <a:avLst/>
          </a:prstGeom>
          <a:solidFill>
            <a:srgbClr val="57D2E6">
              <a:alpha val="14000"/>
            </a:srgbClr>
          </a:solidFill>
          <a:ln/>
        </p:spPr>
      </p:sp>
      <p:sp>
        <p:nvSpPr>
          <p:cNvPr id="25" name="Shape 23"/>
          <p:cNvSpPr/>
          <p:nvPr/>
        </p:nvSpPr>
        <p:spPr>
          <a:xfrm>
            <a:off x="2457450" y="6642646"/>
            <a:ext cx="10010998" cy="381000"/>
          </a:xfrm>
          <a:prstGeom prst="rect">
            <a:avLst/>
          </a:prstGeom>
          <a:solidFill>
            <a:srgbClr val="57D2E6"/>
          </a:solidFill>
          <a:ln/>
        </p:spPr>
      </p:sp>
      <p:sp>
        <p:nvSpPr>
          <p:cNvPr id="26" name="Text 24"/>
          <p:cNvSpPr/>
          <p:nvPr/>
        </p:nvSpPr>
        <p:spPr>
          <a:xfrm>
            <a:off x="14925675" y="6678364"/>
            <a:ext cx="2409825" cy="347663"/>
          </a:xfrm>
          <a:prstGeom prst="rect">
            <a:avLst/>
          </a:prstGeom>
          <a:noFill/>
          <a:ln/>
        </p:spPr>
        <p:txBody>
          <a:bodyPr wrap="square" lIns="25400" tIns="25400" rIns="25400" bIns="25400" rtlCol="0" anchor="t">
            <a:normAutofit/>
          </a:bodyPr>
          <a:lstStyle/>
          <a:p>
            <a:pPr algn="r" indent="0" marL="0">
              <a:buNone/>
            </a:pPr>
            <a:r>
              <a:rPr lang="en-US" sz="2100" b="1" dirty="0">
                <a:solidFill>
                  <a:srgbClr val="EDF2F8"/>
                </a:solidFill>
                <a:latin typeface="Arial" pitchFamily="34" charset="0"/>
                <a:ea typeface="Arial" pitchFamily="34" charset="-122"/>
                <a:cs typeface="Arial" pitchFamily="34" charset="-120"/>
              </a:rPr>
              <a:t>25,578 · 28.0%</a:t>
            </a:r>
            <a:endParaRPr lang="en-US" sz="2100" dirty="0"/>
          </a:p>
        </p:txBody>
      </p:sp>
      <p:sp>
        <p:nvSpPr>
          <p:cNvPr id="27" name="Text 25"/>
          <p:cNvSpPr/>
          <p:nvPr/>
        </p:nvSpPr>
        <p:spPr>
          <a:xfrm>
            <a:off x="952500" y="7173664"/>
            <a:ext cx="1362075"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SBD1</a:t>
            </a:r>
            <a:endParaRPr lang="en-US" sz="2100" dirty="0"/>
          </a:p>
        </p:txBody>
      </p:sp>
      <p:sp>
        <p:nvSpPr>
          <p:cNvPr id="28" name="Shape 26"/>
          <p:cNvSpPr/>
          <p:nvPr/>
        </p:nvSpPr>
        <p:spPr>
          <a:xfrm>
            <a:off x="2457450" y="7137946"/>
            <a:ext cx="12420600" cy="381000"/>
          </a:xfrm>
          <a:prstGeom prst="rect">
            <a:avLst/>
          </a:prstGeom>
          <a:solidFill>
            <a:srgbClr val="57D2E6">
              <a:alpha val="14000"/>
            </a:srgbClr>
          </a:solidFill>
          <a:ln/>
        </p:spPr>
      </p:sp>
      <p:sp>
        <p:nvSpPr>
          <p:cNvPr id="29" name="Shape 27"/>
          <p:cNvSpPr/>
          <p:nvPr/>
        </p:nvSpPr>
        <p:spPr>
          <a:xfrm>
            <a:off x="2457450" y="7137946"/>
            <a:ext cx="6943055" cy="381000"/>
          </a:xfrm>
          <a:prstGeom prst="rect">
            <a:avLst/>
          </a:prstGeom>
          <a:solidFill>
            <a:srgbClr val="2E8FA0"/>
          </a:solidFill>
          <a:ln/>
        </p:spPr>
      </p:sp>
      <p:sp>
        <p:nvSpPr>
          <p:cNvPr id="30" name="Text 28"/>
          <p:cNvSpPr/>
          <p:nvPr/>
        </p:nvSpPr>
        <p:spPr>
          <a:xfrm>
            <a:off x="14925675" y="7173664"/>
            <a:ext cx="2409825" cy="347663"/>
          </a:xfrm>
          <a:prstGeom prst="rect">
            <a:avLst/>
          </a:prstGeom>
          <a:noFill/>
          <a:ln/>
        </p:spPr>
        <p:txBody>
          <a:bodyPr wrap="square" lIns="25400" tIns="25400" rIns="25400" bIns="25400" rtlCol="0" anchor="t">
            <a:normAutofit/>
          </a:bodyPr>
          <a:lstStyle/>
          <a:p>
            <a:pPr algn="r" indent="0" marL="0">
              <a:buNone/>
            </a:pPr>
            <a:r>
              <a:rPr lang="en-US" sz="2100" b="1" dirty="0">
                <a:solidFill>
                  <a:srgbClr val="EDF2F8"/>
                </a:solidFill>
                <a:latin typeface="Arial" pitchFamily="34" charset="0"/>
                <a:ea typeface="Arial" pitchFamily="34" charset="-122"/>
                <a:cs typeface="Arial" pitchFamily="34" charset="-120"/>
              </a:rPr>
              <a:t>17,730 · 19.4%</a:t>
            </a:r>
            <a:endParaRPr lang="en-US" sz="2100" dirty="0"/>
          </a:p>
        </p:txBody>
      </p:sp>
      <p:sp>
        <p:nvSpPr>
          <p:cNvPr id="31" name="Text 29"/>
          <p:cNvSpPr/>
          <p:nvPr/>
        </p:nvSpPr>
        <p:spPr>
          <a:xfrm>
            <a:off x="952500" y="7668964"/>
            <a:ext cx="1362075"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BLR</a:t>
            </a:r>
            <a:endParaRPr lang="en-US" sz="2100" dirty="0"/>
          </a:p>
        </p:txBody>
      </p:sp>
      <p:sp>
        <p:nvSpPr>
          <p:cNvPr id="32" name="Shape 30"/>
          <p:cNvSpPr/>
          <p:nvPr/>
        </p:nvSpPr>
        <p:spPr>
          <a:xfrm>
            <a:off x="2457450" y="7633246"/>
            <a:ext cx="12420600" cy="381000"/>
          </a:xfrm>
          <a:prstGeom prst="rect">
            <a:avLst/>
          </a:prstGeom>
          <a:solidFill>
            <a:srgbClr val="57D2E6">
              <a:alpha val="14000"/>
            </a:srgbClr>
          </a:solidFill>
          <a:ln/>
        </p:spPr>
      </p:sp>
      <p:sp>
        <p:nvSpPr>
          <p:cNvPr id="33" name="Shape 31"/>
          <p:cNvSpPr/>
          <p:nvPr/>
        </p:nvSpPr>
        <p:spPr>
          <a:xfrm>
            <a:off x="2457450" y="7633246"/>
            <a:ext cx="3291408" cy="381000"/>
          </a:xfrm>
          <a:prstGeom prst="rect">
            <a:avLst/>
          </a:prstGeom>
          <a:solidFill>
            <a:srgbClr val="2E8FA0"/>
          </a:solidFill>
          <a:ln/>
        </p:spPr>
      </p:sp>
      <p:sp>
        <p:nvSpPr>
          <p:cNvPr id="34" name="Text 32"/>
          <p:cNvSpPr/>
          <p:nvPr/>
        </p:nvSpPr>
        <p:spPr>
          <a:xfrm>
            <a:off x="14925675" y="7668964"/>
            <a:ext cx="2409825" cy="347663"/>
          </a:xfrm>
          <a:prstGeom prst="rect">
            <a:avLst/>
          </a:prstGeom>
          <a:noFill/>
          <a:ln/>
        </p:spPr>
        <p:txBody>
          <a:bodyPr wrap="square" lIns="25400" tIns="25400" rIns="25400" bIns="25400" rtlCol="0" anchor="t">
            <a:normAutofit/>
          </a:bodyPr>
          <a:lstStyle/>
          <a:p>
            <a:pPr algn="r" indent="0" marL="0">
              <a:buNone/>
            </a:pPr>
            <a:r>
              <a:rPr lang="en-US" sz="2100" b="1" dirty="0">
                <a:solidFill>
                  <a:srgbClr val="EDF2F8"/>
                </a:solidFill>
                <a:latin typeface="Arial" pitchFamily="34" charset="0"/>
                <a:ea typeface="Arial" pitchFamily="34" charset="-122"/>
                <a:cs typeface="Arial" pitchFamily="34" charset="-120"/>
              </a:rPr>
              <a:t>8,398 · 9.2%</a:t>
            </a:r>
            <a:endParaRPr lang="en-US" sz="2100" dirty="0"/>
          </a:p>
        </p:txBody>
      </p:sp>
      <p:sp>
        <p:nvSpPr>
          <p:cNvPr id="35" name="Text 33"/>
          <p:cNvSpPr/>
          <p:nvPr/>
        </p:nvSpPr>
        <p:spPr>
          <a:xfrm>
            <a:off x="952500" y="8164264"/>
            <a:ext cx="1362075"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COK</a:t>
            </a:r>
            <a:endParaRPr lang="en-US" sz="2100" dirty="0"/>
          </a:p>
        </p:txBody>
      </p:sp>
      <p:sp>
        <p:nvSpPr>
          <p:cNvPr id="36" name="Shape 34"/>
          <p:cNvSpPr/>
          <p:nvPr/>
        </p:nvSpPr>
        <p:spPr>
          <a:xfrm>
            <a:off x="2457450" y="8128546"/>
            <a:ext cx="12420600" cy="381000"/>
          </a:xfrm>
          <a:prstGeom prst="rect">
            <a:avLst/>
          </a:prstGeom>
          <a:solidFill>
            <a:srgbClr val="57D2E6">
              <a:alpha val="14000"/>
            </a:srgbClr>
          </a:solidFill>
          <a:ln/>
        </p:spPr>
      </p:sp>
      <p:sp>
        <p:nvSpPr>
          <p:cNvPr id="37" name="Shape 35"/>
          <p:cNvSpPr/>
          <p:nvPr/>
        </p:nvSpPr>
        <p:spPr>
          <a:xfrm>
            <a:off x="2457450" y="8128546"/>
            <a:ext cx="3154784" cy="381000"/>
          </a:xfrm>
          <a:prstGeom prst="rect">
            <a:avLst/>
          </a:prstGeom>
          <a:solidFill>
            <a:srgbClr val="2E8FA0"/>
          </a:solidFill>
          <a:ln/>
        </p:spPr>
      </p:sp>
      <p:sp>
        <p:nvSpPr>
          <p:cNvPr id="38" name="Text 36"/>
          <p:cNvSpPr/>
          <p:nvPr/>
        </p:nvSpPr>
        <p:spPr>
          <a:xfrm>
            <a:off x="14925675" y="8164264"/>
            <a:ext cx="2409825" cy="347663"/>
          </a:xfrm>
          <a:prstGeom prst="rect">
            <a:avLst/>
          </a:prstGeom>
          <a:noFill/>
          <a:ln/>
        </p:spPr>
        <p:txBody>
          <a:bodyPr wrap="square" lIns="25400" tIns="25400" rIns="25400" bIns="25400" rtlCol="0" anchor="t">
            <a:normAutofit/>
          </a:bodyPr>
          <a:lstStyle/>
          <a:p>
            <a:pPr algn="r" indent="0" marL="0">
              <a:buNone/>
            </a:pPr>
            <a:r>
              <a:rPr lang="en-US" sz="2100" b="1" dirty="0">
                <a:solidFill>
                  <a:srgbClr val="EDF2F8"/>
                </a:solidFill>
                <a:latin typeface="Arial" pitchFamily="34" charset="0"/>
                <a:ea typeface="Arial" pitchFamily="34" charset="-122"/>
                <a:cs typeface="Arial" pitchFamily="34" charset="-120"/>
              </a:rPr>
              <a:t>8,067 · 8.8%</a:t>
            </a:r>
            <a:endParaRPr lang="en-US" sz="2100" dirty="0"/>
          </a:p>
        </p:txBody>
      </p:sp>
      <p:sp>
        <p:nvSpPr>
          <p:cNvPr id="39" name="Text 37"/>
          <p:cNvSpPr/>
          <p:nvPr/>
        </p:nvSpPr>
        <p:spPr>
          <a:xfrm>
            <a:off x="952500" y="8719096"/>
            <a:ext cx="12753975" cy="838200"/>
          </a:xfrm>
          <a:prstGeom prst="rect">
            <a:avLst/>
          </a:prstGeom>
          <a:noFill/>
          <a:ln/>
        </p:spPr>
        <p:txBody>
          <a:bodyPr wrap="square" lIns="25400" tIns="25400" rIns="25400" bIns="25400" rtlCol="0" anchor="t">
            <a:normAutofit/>
          </a:bodyPr>
          <a:lstStyle/>
          <a:p>
            <a:pPr algn="l" indent="0" marL="0">
              <a:lnSpc>
                <a:spcPct val="129231"/>
              </a:lnSpc>
              <a:buNone/>
            </a:pPr>
            <a:r>
              <a:rPr lang="en-US" sz="2100" dirty="0">
                <a:solidFill>
                  <a:srgbClr val="93A5BB"/>
                </a:solidFill>
                <a:latin typeface="Arial" pitchFamily="34" charset="0"/>
                <a:ea typeface="Arial" pitchFamily="34" charset="-122"/>
                <a:cs typeface="Arial" pitchFamily="34" charset="-120"/>
              </a:rPr>
              <a:t>Secunderabad and Chennai together absorb 63% of forecast volume, which is where allocation and safety-stock changes will pay back first.</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08 — IMPACT</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Cleaning the pipeline lifts completeness to 98.5% and cuts training time by 18%</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952500" y="3622328"/>
            <a:ext cx="16383000" cy="19050"/>
          </a:xfrm>
          <a:prstGeom prst="rect">
            <a:avLst/>
          </a:prstGeom>
          <a:solidFill>
            <a:srgbClr val="E2ECF7">
              <a:alpha val="22000"/>
            </a:srgbClr>
          </a:solidFill>
          <a:ln/>
        </p:spPr>
      </p:sp>
      <p:sp>
        <p:nvSpPr>
          <p:cNvPr id="6" name="Shape 4"/>
          <p:cNvSpPr/>
          <p:nvPr/>
        </p:nvSpPr>
        <p:spPr>
          <a:xfrm>
            <a:off x="9124950" y="3641378"/>
            <a:ext cx="19050" cy="5883622"/>
          </a:xfrm>
          <a:prstGeom prst="rect">
            <a:avLst/>
          </a:prstGeom>
          <a:solidFill>
            <a:srgbClr val="E2ECF7">
              <a:alpha val="22000"/>
            </a:srgbClr>
          </a:solidFill>
          <a:ln/>
        </p:spPr>
      </p:sp>
      <p:sp>
        <p:nvSpPr>
          <p:cNvPr id="7" name="Text 5"/>
          <p:cNvSpPr/>
          <p:nvPr/>
        </p:nvSpPr>
        <p:spPr>
          <a:xfrm>
            <a:off x="952500" y="4060478"/>
            <a:ext cx="831913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57D2E6"/>
                </a:solidFill>
                <a:latin typeface="Arial" pitchFamily="34" charset="0"/>
                <a:ea typeface="Arial" pitchFamily="34" charset="-122"/>
                <a:cs typeface="Arial" pitchFamily="34" charset="-120"/>
              </a:rPr>
              <a:t>HYGIENE ACTIONS</a:t>
            </a:r>
            <a:endParaRPr lang="en-US" sz="1800" dirty="0"/>
          </a:p>
        </p:txBody>
      </p:sp>
      <p:sp>
        <p:nvSpPr>
          <p:cNvPr id="8" name="Text 6"/>
          <p:cNvSpPr/>
          <p:nvPr/>
        </p:nvSpPr>
        <p:spPr>
          <a:xfrm>
            <a:off x="952500" y="4570065"/>
            <a:ext cx="831913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Prune 4,463 redundant duplicate transaction rows</a:t>
            </a:r>
            <a:endParaRPr lang="en-US" sz="2100" dirty="0"/>
          </a:p>
        </p:txBody>
      </p:sp>
      <p:sp>
        <p:nvSpPr>
          <p:cNvPr id="9" name="Text 7"/>
          <p:cNvSpPr/>
          <p:nvPr/>
        </p:nvSpPr>
        <p:spPr>
          <a:xfrm>
            <a:off x="952500" y="5191051"/>
            <a:ext cx="831913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Impute or isolate 94,435 null fields</a:t>
            </a:r>
            <a:endParaRPr lang="en-US" sz="2100" dirty="0"/>
          </a:p>
        </p:txBody>
      </p:sp>
      <p:sp>
        <p:nvSpPr>
          <p:cNvPr id="10" name="Text 8"/>
          <p:cNvSpPr/>
          <p:nvPr/>
        </p:nvSpPr>
        <p:spPr>
          <a:xfrm>
            <a:off x="952500" y="5812036"/>
            <a:ext cx="831913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Normalize schema across 23 attributes</a:t>
            </a:r>
            <a:endParaRPr lang="en-US" sz="2100" dirty="0"/>
          </a:p>
        </p:txBody>
      </p:sp>
      <p:sp>
        <p:nvSpPr>
          <p:cNvPr id="11" name="Text 9"/>
          <p:cNvSpPr/>
          <p:nvPr/>
        </p:nvSpPr>
        <p:spPr>
          <a:xfrm>
            <a:off x="952500" y="6433021"/>
            <a:ext cx="831913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Enforce an ISO date standard on Billing Date</a:t>
            </a:r>
            <a:endParaRPr lang="en-US" sz="2100" dirty="0"/>
          </a:p>
        </p:txBody>
      </p:sp>
      <p:sp>
        <p:nvSpPr>
          <p:cNvPr id="12" name="Text 10"/>
          <p:cNvSpPr/>
          <p:nvPr/>
        </p:nvSpPr>
        <p:spPr>
          <a:xfrm>
            <a:off x="952500" y="7054007"/>
            <a:ext cx="831913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Standardize casing on Segment and Material</a:t>
            </a:r>
            <a:endParaRPr lang="en-US" sz="2100" dirty="0"/>
          </a:p>
        </p:txBody>
      </p:sp>
      <p:sp>
        <p:nvSpPr>
          <p:cNvPr id="13" name="Text 11"/>
          <p:cNvSpPr/>
          <p:nvPr/>
        </p:nvSpPr>
        <p:spPr>
          <a:xfrm>
            <a:off x="9753600" y="4060478"/>
            <a:ext cx="834009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57D2E6"/>
                </a:solidFill>
                <a:latin typeface="Arial" pitchFamily="34" charset="0"/>
                <a:ea typeface="Arial" pitchFamily="34" charset="-122"/>
                <a:cs typeface="Arial" pitchFamily="34" charset="-120"/>
              </a:rPr>
              <a:t>POST-CLEANING PROJECTION</a:t>
            </a:r>
            <a:endParaRPr lang="en-US" sz="1800" dirty="0"/>
          </a:p>
        </p:txBody>
      </p:sp>
      <p:sp>
        <p:nvSpPr>
          <p:cNvPr id="14" name="Shape 12"/>
          <p:cNvSpPr/>
          <p:nvPr/>
        </p:nvSpPr>
        <p:spPr>
          <a:xfrm>
            <a:off x="9753600" y="5265390"/>
            <a:ext cx="7581900" cy="19050"/>
          </a:xfrm>
          <a:prstGeom prst="rect">
            <a:avLst/>
          </a:prstGeom>
          <a:solidFill>
            <a:srgbClr val="E2ECF7">
              <a:alpha val="22000"/>
            </a:srgbClr>
          </a:solidFill>
          <a:ln/>
        </p:spPr>
      </p:sp>
      <p:sp>
        <p:nvSpPr>
          <p:cNvPr id="15" name="Text 13"/>
          <p:cNvSpPr/>
          <p:nvPr/>
        </p:nvSpPr>
        <p:spPr>
          <a:xfrm>
            <a:off x="9753600" y="4674840"/>
            <a:ext cx="2593427"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Post-clean fleet size</a:t>
            </a:r>
            <a:endParaRPr lang="en-US" sz="2100" dirty="0"/>
          </a:p>
        </p:txBody>
      </p:sp>
      <p:sp>
        <p:nvSpPr>
          <p:cNvPr id="16" name="Text 14"/>
          <p:cNvSpPr/>
          <p:nvPr/>
        </p:nvSpPr>
        <p:spPr>
          <a:xfrm>
            <a:off x="15571217" y="4608165"/>
            <a:ext cx="1940711"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77,571 rows</a:t>
            </a:r>
            <a:endParaRPr lang="en-US" sz="2550" dirty="0"/>
          </a:p>
        </p:txBody>
      </p:sp>
      <p:sp>
        <p:nvSpPr>
          <p:cNvPr id="17" name="Shape 15"/>
          <p:cNvSpPr/>
          <p:nvPr/>
        </p:nvSpPr>
        <p:spPr>
          <a:xfrm>
            <a:off x="9753600" y="6227415"/>
            <a:ext cx="7581900" cy="19050"/>
          </a:xfrm>
          <a:prstGeom prst="rect">
            <a:avLst/>
          </a:prstGeom>
          <a:solidFill>
            <a:srgbClr val="E2ECF7">
              <a:alpha val="22000"/>
            </a:srgbClr>
          </a:solidFill>
          <a:ln/>
        </p:spPr>
      </p:sp>
      <p:sp>
        <p:nvSpPr>
          <p:cNvPr id="18" name="Text 16"/>
          <p:cNvSpPr/>
          <p:nvPr/>
        </p:nvSpPr>
        <p:spPr>
          <a:xfrm>
            <a:off x="9753600" y="5636865"/>
            <a:ext cx="335501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Target data completeness</a:t>
            </a:r>
            <a:endParaRPr lang="en-US" sz="2100" dirty="0"/>
          </a:p>
        </p:txBody>
      </p:sp>
      <p:sp>
        <p:nvSpPr>
          <p:cNvPr id="19" name="Text 17"/>
          <p:cNvSpPr/>
          <p:nvPr/>
        </p:nvSpPr>
        <p:spPr>
          <a:xfrm>
            <a:off x="16237074" y="5570190"/>
            <a:ext cx="1174626"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98.49%</a:t>
            </a:r>
            <a:endParaRPr lang="en-US" sz="2550" dirty="0"/>
          </a:p>
        </p:txBody>
      </p:sp>
      <p:sp>
        <p:nvSpPr>
          <p:cNvPr id="20" name="Shape 18"/>
          <p:cNvSpPr/>
          <p:nvPr/>
        </p:nvSpPr>
        <p:spPr>
          <a:xfrm>
            <a:off x="9753600" y="7189440"/>
            <a:ext cx="7581900" cy="19050"/>
          </a:xfrm>
          <a:prstGeom prst="rect">
            <a:avLst/>
          </a:prstGeom>
          <a:solidFill>
            <a:srgbClr val="E2ECF7">
              <a:alpha val="22000"/>
            </a:srgbClr>
          </a:solidFill>
          <a:ln/>
        </p:spPr>
      </p:sp>
      <p:sp>
        <p:nvSpPr>
          <p:cNvPr id="21" name="Text 19"/>
          <p:cNvSpPr/>
          <p:nvPr/>
        </p:nvSpPr>
        <p:spPr>
          <a:xfrm>
            <a:off x="9753600" y="6598890"/>
            <a:ext cx="2935583"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Storage efficiency gain</a:t>
            </a:r>
            <a:endParaRPr lang="en-US" sz="2100" dirty="0"/>
          </a:p>
        </p:txBody>
      </p:sp>
      <p:sp>
        <p:nvSpPr>
          <p:cNvPr id="22" name="Text 20"/>
          <p:cNvSpPr/>
          <p:nvPr/>
        </p:nvSpPr>
        <p:spPr>
          <a:xfrm>
            <a:off x="16228070" y="6532215"/>
            <a:ext cx="118363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+5.44%</a:t>
            </a:r>
            <a:endParaRPr lang="en-US" sz="2550" dirty="0"/>
          </a:p>
        </p:txBody>
      </p:sp>
      <p:sp>
        <p:nvSpPr>
          <p:cNvPr id="23" name="Text 21"/>
          <p:cNvSpPr/>
          <p:nvPr/>
        </p:nvSpPr>
        <p:spPr>
          <a:xfrm>
            <a:off x="9753600" y="7560915"/>
            <a:ext cx="3588953"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Model training convergence</a:t>
            </a:r>
            <a:endParaRPr lang="en-US" sz="2100" dirty="0"/>
          </a:p>
        </p:txBody>
      </p:sp>
      <p:sp>
        <p:nvSpPr>
          <p:cNvPr id="24" name="Text 22"/>
          <p:cNvSpPr/>
          <p:nvPr/>
        </p:nvSpPr>
        <p:spPr>
          <a:xfrm>
            <a:off x="15598229" y="7494240"/>
            <a:ext cx="1910998"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~18% faster</a:t>
            </a:r>
            <a:endParaRPr lang="en-US" sz="2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09 — DELIVERY</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The analysis ships as a seven-view executive dashboard, not a static report</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952500" y="3622328"/>
            <a:ext cx="16383000" cy="19050"/>
          </a:xfrm>
          <a:prstGeom prst="rect">
            <a:avLst/>
          </a:prstGeom>
          <a:solidFill>
            <a:srgbClr val="E2ECF7">
              <a:alpha val="22000"/>
            </a:srgbClr>
          </a:solidFill>
          <a:ln/>
        </p:spPr>
      </p:sp>
      <p:sp>
        <p:nvSpPr>
          <p:cNvPr id="6" name="Shape 4"/>
          <p:cNvSpPr/>
          <p:nvPr/>
        </p:nvSpPr>
        <p:spPr>
          <a:xfrm>
            <a:off x="952500" y="4874865"/>
            <a:ext cx="7810500" cy="19050"/>
          </a:xfrm>
          <a:prstGeom prst="rect">
            <a:avLst/>
          </a:prstGeom>
          <a:solidFill>
            <a:srgbClr val="E2ECF7">
              <a:alpha val="22000"/>
            </a:srgbClr>
          </a:solidFill>
          <a:ln/>
        </p:spPr>
      </p:sp>
      <p:sp>
        <p:nvSpPr>
          <p:cNvPr id="7" name="Text 5"/>
          <p:cNvSpPr/>
          <p:nvPr/>
        </p:nvSpPr>
        <p:spPr>
          <a:xfrm>
            <a:off x="952500" y="3889028"/>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Executive Cockpit</a:t>
            </a:r>
            <a:endParaRPr lang="en-US" sz="2550" dirty="0"/>
          </a:p>
        </p:txBody>
      </p:sp>
      <p:sp>
        <p:nvSpPr>
          <p:cNvPr id="8" name="Text 6"/>
          <p:cNvSpPr/>
          <p:nvPr/>
        </p:nvSpPr>
        <p:spPr>
          <a:xfrm>
            <a:off x="952500" y="4336703"/>
            <a:ext cx="85915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Health, volume and distribution telemetry at a glance</a:t>
            </a:r>
            <a:endParaRPr lang="en-US" sz="2100" dirty="0"/>
          </a:p>
        </p:txBody>
      </p:sp>
      <p:sp>
        <p:nvSpPr>
          <p:cNvPr id="9" name="Shape 7"/>
          <p:cNvSpPr/>
          <p:nvPr/>
        </p:nvSpPr>
        <p:spPr>
          <a:xfrm>
            <a:off x="9525000" y="4874865"/>
            <a:ext cx="7810500" cy="19050"/>
          </a:xfrm>
          <a:prstGeom prst="rect">
            <a:avLst/>
          </a:prstGeom>
          <a:solidFill>
            <a:srgbClr val="E2ECF7">
              <a:alpha val="22000"/>
            </a:srgbClr>
          </a:solidFill>
          <a:ln/>
        </p:spPr>
      </p:sp>
      <p:sp>
        <p:nvSpPr>
          <p:cNvPr id="10" name="Text 8"/>
          <p:cNvSpPr/>
          <p:nvPr/>
        </p:nvSpPr>
        <p:spPr>
          <a:xfrm>
            <a:off x="9525000" y="3889028"/>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AI Demand Forecasting</a:t>
            </a:r>
            <a:endParaRPr lang="en-US" sz="2550" dirty="0"/>
          </a:p>
        </p:txBody>
      </p:sp>
      <p:sp>
        <p:nvSpPr>
          <p:cNvPr id="11" name="Text 9"/>
          <p:cNvSpPr/>
          <p:nvPr/>
        </p:nvSpPr>
        <p:spPr>
          <a:xfrm>
            <a:off x="9525000" y="4336703"/>
            <a:ext cx="85915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Forward demand by SKU and branch, 4 to 52 weeks</a:t>
            </a:r>
            <a:endParaRPr lang="en-US" sz="2100" dirty="0"/>
          </a:p>
        </p:txBody>
      </p:sp>
      <p:sp>
        <p:nvSpPr>
          <p:cNvPr id="12" name="Shape 10"/>
          <p:cNvSpPr/>
          <p:nvPr/>
        </p:nvSpPr>
        <p:spPr>
          <a:xfrm>
            <a:off x="952500" y="6127403"/>
            <a:ext cx="7810500" cy="19050"/>
          </a:xfrm>
          <a:prstGeom prst="rect">
            <a:avLst/>
          </a:prstGeom>
          <a:solidFill>
            <a:srgbClr val="E2ECF7">
              <a:alpha val="22000"/>
            </a:srgbClr>
          </a:solidFill>
          <a:ln/>
        </p:spPr>
      </p:sp>
      <p:sp>
        <p:nvSpPr>
          <p:cNvPr id="13" name="Text 11"/>
          <p:cNvSpPr/>
          <p:nvPr/>
        </p:nvSpPr>
        <p:spPr>
          <a:xfrm>
            <a:off x="952500" y="5141565"/>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Data Quality Radar</a:t>
            </a:r>
            <a:endParaRPr lang="en-US" sz="2550" dirty="0"/>
          </a:p>
        </p:txBody>
      </p:sp>
      <p:sp>
        <p:nvSpPr>
          <p:cNvPr id="14" name="Text 12"/>
          <p:cNvSpPr/>
          <p:nvPr/>
        </p:nvSpPr>
        <p:spPr>
          <a:xfrm>
            <a:off x="952500" y="5589240"/>
            <a:ext cx="85915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Completeness, null variance and schema diagnostics</a:t>
            </a:r>
            <a:endParaRPr lang="en-US" sz="2100" dirty="0"/>
          </a:p>
        </p:txBody>
      </p:sp>
      <p:sp>
        <p:nvSpPr>
          <p:cNvPr id="15" name="Shape 13"/>
          <p:cNvSpPr/>
          <p:nvPr/>
        </p:nvSpPr>
        <p:spPr>
          <a:xfrm>
            <a:off x="9525000" y="6127403"/>
            <a:ext cx="7810500" cy="19050"/>
          </a:xfrm>
          <a:prstGeom prst="rect">
            <a:avLst/>
          </a:prstGeom>
          <a:solidFill>
            <a:srgbClr val="E2ECF7">
              <a:alpha val="22000"/>
            </a:srgbClr>
          </a:solidFill>
          <a:ln/>
        </p:spPr>
      </p:sp>
      <p:sp>
        <p:nvSpPr>
          <p:cNvPr id="16" name="Text 14"/>
          <p:cNvSpPr/>
          <p:nvPr/>
        </p:nvSpPr>
        <p:spPr>
          <a:xfrm>
            <a:off x="9525000" y="5141565"/>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Data Cleaning Studio</a:t>
            </a:r>
            <a:endParaRPr lang="en-US" sz="2550" dirty="0"/>
          </a:p>
        </p:txBody>
      </p:sp>
      <p:sp>
        <p:nvSpPr>
          <p:cNvPr id="17" name="Text 15"/>
          <p:cNvSpPr/>
          <p:nvPr/>
        </p:nvSpPr>
        <p:spPr>
          <a:xfrm>
            <a:off x="9525000" y="5589240"/>
            <a:ext cx="85915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Deduplication, imputation and schema standardization</a:t>
            </a:r>
            <a:endParaRPr lang="en-US" sz="2100" dirty="0"/>
          </a:p>
        </p:txBody>
      </p:sp>
      <p:sp>
        <p:nvSpPr>
          <p:cNvPr id="18" name="Shape 16"/>
          <p:cNvSpPr/>
          <p:nvPr/>
        </p:nvSpPr>
        <p:spPr>
          <a:xfrm>
            <a:off x="952500" y="7379940"/>
            <a:ext cx="7810500" cy="19050"/>
          </a:xfrm>
          <a:prstGeom prst="rect">
            <a:avLst/>
          </a:prstGeom>
          <a:solidFill>
            <a:srgbClr val="E2ECF7">
              <a:alpha val="22000"/>
            </a:srgbClr>
          </a:solidFill>
          <a:ln/>
        </p:spPr>
      </p:sp>
      <p:sp>
        <p:nvSpPr>
          <p:cNvPr id="19" name="Text 17"/>
          <p:cNvSpPr/>
          <p:nvPr/>
        </p:nvSpPr>
        <p:spPr>
          <a:xfrm>
            <a:off x="952500" y="6394103"/>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Statistical Deep-Dive</a:t>
            </a:r>
            <a:endParaRPr lang="en-US" sz="2550" dirty="0"/>
          </a:p>
        </p:txBody>
      </p:sp>
      <p:sp>
        <p:nvSpPr>
          <p:cNvPr id="20" name="Text 18"/>
          <p:cNvSpPr/>
          <p:nvPr/>
        </p:nvSpPr>
        <p:spPr>
          <a:xfrm>
            <a:off x="952500" y="6841778"/>
            <a:ext cx="85915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Distributions, correlation matrices and variance spread</a:t>
            </a:r>
            <a:endParaRPr lang="en-US" sz="2100" dirty="0"/>
          </a:p>
        </p:txBody>
      </p:sp>
      <p:sp>
        <p:nvSpPr>
          <p:cNvPr id="21" name="Shape 19"/>
          <p:cNvSpPr/>
          <p:nvPr/>
        </p:nvSpPr>
        <p:spPr>
          <a:xfrm>
            <a:off x="9525000" y="7379940"/>
            <a:ext cx="7810500" cy="19050"/>
          </a:xfrm>
          <a:prstGeom prst="rect">
            <a:avLst/>
          </a:prstGeom>
          <a:solidFill>
            <a:srgbClr val="E2ECF7">
              <a:alpha val="22000"/>
            </a:srgbClr>
          </a:solidFill>
          <a:ln/>
        </p:spPr>
      </p:sp>
      <p:sp>
        <p:nvSpPr>
          <p:cNvPr id="22" name="Text 20"/>
          <p:cNvSpPr/>
          <p:nvPr/>
        </p:nvSpPr>
        <p:spPr>
          <a:xfrm>
            <a:off x="9525000" y="6394103"/>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Intelligence Explorer</a:t>
            </a:r>
            <a:endParaRPr lang="en-US" sz="2550" dirty="0"/>
          </a:p>
        </p:txBody>
      </p:sp>
      <p:sp>
        <p:nvSpPr>
          <p:cNvPr id="23" name="Text 21"/>
          <p:cNvSpPr/>
          <p:nvPr/>
        </p:nvSpPr>
        <p:spPr>
          <a:xfrm>
            <a:off x="9525000" y="6841778"/>
            <a:ext cx="85915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Column slice-and-dice, attribute profiling and search</a:t>
            </a:r>
            <a:endParaRPr lang="en-US" sz="2100" dirty="0"/>
          </a:p>
        </p:txBody>
      </p:sp>
      <p:sp>
        <p:nvSpPr>
          <p:cNvPr id="24" name="Shape 22"/>
          <p:cNvSpPr/>
          <p:nvPr/>
        </p:nvSpPr>
        <p:spPr>
          <a:xfrm>
            <a:off x="952500" y="8632478"/>
            <a:ext cx="7810500" cy="19050"/>
          </a:xfrm>
          <a:prstGeom prst="rect">
            <a:avLst/>
          </a:prstGeom>
          <a:solidFill>
            <a:srgbClr val="E2ECF7">
              <a:alpha val="22000"/>
            </a:srgbClr>
          </a:solidFill>
          <a:ln/>
        </p:spPr>
      </p:sp>
      <p:sp>
        <p:nvSpPr>
          <p:cNvPr id="25" name="Text 23"/>
          <p:cNvSpPr/>
          <p:nvPr/>
        </p:nvSpPr>
        <p:spPr>
          <a:xfrm>
            <a:off x="952500" y="7646640"/>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C-Suite Reports</a:t>
            </a:r>
            <a:endParaRPr lang="en-US" sz="2550" dirty="0"/>
          </a:p>
        </p:txBody>
      </p:sp>
      <p:sp>
        <p:nvSpPr>
          <p:cNvPr id="26" name="Text 24"/>
          <p:cNvSpPr/>
          <p:nvPr/>
        </p:nvSpPr>
        <p:spPr>
          <a:xfrm>
            <a:off x="952500" y="8094315"/>
            <a:ext cx="85915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Automated PDF briefings and multi-tab Excel exports</a:t>
            </a:r>
            <a:endParaRPr lang="en-US" sz="2100" dirty="0"/>
          </a:p>
        </p:txBody>
      </p:sp>
      <p:sp>
        <p:nvSpPr>
          <p:cNvPr id="27" name="Shape 25"/>
          <p:cNvSpPr/>
          <p:nvPr/>
        </p:nvSpPr>
        <p:spPr>
          <a:xfrm>
            <a:off x="9525000" y="8632478"/>
            <a:ext cx="7810500" cy="19050"/>
          </a:xfrm>
          <a:prstGeom prst="rect">
            <a:avLst/>
          </a:prstGeom>
          <a:solidFill>
            <a:srgbClr val="E2ECF7">
              <a:alpha val="22000"/>
            </a:srgbClr>
          </a:solidFill>
          <a:ln/>
        </p:spPr>
      </p:sp>
      <p:sp>
        <p:nvSpPr>
          <p:cNvPr id="28" name="Text 26"/>
          <p:cNvSpPr/>
          <p:nvPr/>
        </p:nvSpPr>
        <p:spPr>
          <a:xfrm>
            <a:off x="9525000" y="7646640"/>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Dark and light themes</a:t>
            </a:r>
            <a:endParaRPr lang="en-US" sz="2550" dirty="0"/>
          </a:p>
        </p:txBody>
      </p:sp>
      <p:sp>
        <p:nvSpPr>
          <p:cNvPr id="29" name="Text 27"/>
          <p:cNvSpPr/>
          <p:nvPr/>
        </p:nvSpPr>
        <p:spPr>
          <a:xfrm>
            <a:off x="9525000" y="8094315"/>
            <a:ext cx="85915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Built for boardroom projection and desk review alike</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10 — NEXT</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Four moves take the dashboard from capstone artefact to planning tool</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952500" y="3622328"/>
            <a:ext cx="16383000" cy="19050"/>
          </a:xfrm>
          <a:prstGeom prst="rect">
            <a:avLst/>
          </a:prstGeom>
          <a:solidFill>
            <a:srgbClr val="E2ECF7">
              <a:alpha val="22000"/>
            </a:srgbClr>
          </a:solidFill>
          <a:ln/>
        </p:spPr>
      </p:sp>
      <p:sp>
        <p:nvSpPr>
          <p:cNvPr id="6" name="Shape 4"/>
          <p:cNvSpPr/>
          <p:nvPr/>
        </p:nvSpPr>
        <p:spPr>
          <a:xfrm>
            <a:off x="952500" y="4584353"/>
            <a:ext cx="16383000" cy="19050"/>
          </a:xfrm>
          <a:prstGeom prst="rect">
            <a:avLst/>
          </a:prstGeom>
          <a:solidFill>
            <a:srgbClr val="E2ECF7">
              <a:alpha val="22000"/>
            </a:srgbClr>
          </a:solidFill>
          <a:ln/>
        </p:spPr>
      </p:sp>
      <p:sp>
        <p:nvSpPr>
          <p:cNvPr id="7" name="Text 5"/>
          <p:cNvSpPr/>
          <p:nvPr/>
        </p:nvSpPr>
        <p:spPr>
          <a:xfrm>
            <a:off x="952500" y="3927128"/>
            <a:ext cx="64770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01</a:t>
            </a:r>
            <a:endParaRPr lang="en-US" sz="2550" dirty="0"/>
          </a:p>
        </p:txBody>
      </p:sp>
      <p:sp>
        <p:nvSpPr>
          <p:cNvPr id="8" name="Text 6"/>
          <p:cNvSpPr/>
          <p:nvPr/>
        </p:nvSpPr>
        <p:spPr>
          <a:xfrm>
            <a:off x="2057400" y="3941415"/>
            <a:ext cx="13535047" cy="390525"/>
          </a:xfrm>
          <a:prstGeom prst="rect">
            <a:avLst/>
          </a:prstGeom>
          <a:noFill/>
          <a:ln/>
        </p:spPr>
        <p:txBody>
          <a:bodyPr wrap="square" lIns="25400" tIns="25400" rIns="25400" bIns="25400" rtlCol="0" anchor="t">
            <a:normAutofit/>
          </a:bodyPr>
          <a:lstStyle/>
          <a:p>
            <a:pPr algn="l" indent="0" marL="0">
              <a:buNone/>
            </a:pPr>
            <a:r>
              <a:rPr lang="en-US" sz="2550" dirty="0">
                <a:solidFill>
                  <a:srgbClr val="EDF2F8"/>
                </a:solidFill>
                <a:latin typeface="Arial" pitchFamily="34" charset="0"/>
                <a:ea typeface="Arial" pitchFamily="34" charset="-122"/>
                <a:cs typeface="Arial" pitchFamily="34" charset="-120"/>
              </a:rPr>
              <a:t>Run the hygiene pipeline in production so every refresh lands at 98.5% completeness</a:t>
            </a:r>
            <a:endParaRPr lang="en-US" sz="2550" dirty="0"/>
          </a:p>
        </p:txBody>
      </p:sp>
      <p:sp>
        <p:nvSpPr>
          <p:cNvPr id="9" name="Shape 7"/>
          <p:cNvSpPr/>
          <p:nvPr/>
        </p:nvSpPr>
        <p:spPr>
          <a:xfrm>
            <a:off x="952500" y="5546378"/>
            <a:ext cx="16383000" cy="19050"/>
          </a:xfrm>
          <a:prstGeom prst="rect">
            <a:avLst/>
          </a:prstGeom>
          <a:solidFill>
            <a:srgbClr val="E2ECF7">
              <a:alpha val="22000"/>
            </a:srgbClr>
          </a:solidFill>
          <a:ln/>
        </p:spPr>
      </p:sp>
      <p:sp>
        <p:nvSpPr>
          <p:cNvPr id="10" name="Text 8"/>
          <p:cNvSpPr/>
          <p:nvPr/>
        </p:nvSpPr>
        <p:spPr>
          <a:xfrm>
            <a:off x="952500" y="4889153"/>
            <a:ext cx="64770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02</a:t>
            </a:r>
            <a:endParaRPr lang="en-US" sz="2550" dirty="0"/>
          </a:p>
        </p:txBody>
      </p:sp>
      <p:sp>
        <p:nvSpPr>
          <p:cNvPr id="11" name="Text 9"/>
          <p:cNvSpPr/>
          <p:nvPr/>
        </p:nvSpPr>
        <p:spPr>
          <a:xfrm>
            <a:off x="2057400" y="4903440"/>
            <a:ext cx="11812890" cy="390525"/>
          </a:xfrm>
          <a:prstGeom prst="rect">
            <a:avLst/>
          </a:prstGeom>
          <a:noFill/>
          <a:ln/>
        </p:spPr>
        <p:txBody>
          <a:bodyPr wrap="square" lIns="25400" tIns="25400" rIns="25400" bIns="25400" rtlCol="0" anchor="t">
            <a:normAutofit/>
          </a:bodyPr>
          <a:lstStyle/>
          <a:p>
            <a:pPr algn="l" indent="0" marL="0">
              <a:buNone/>
            </a:pPr>
            <a:r>
              <a:rPr lang="en-US" sz="2550" dirty="0">
                <a:solidFill>
                  <a:srgbClr val="EDF2F8"/>
                </a:solidFill>
                <a:latin typeface="Arial" pitchFamily="34" charset="0"/>
                <a:ea typeface="Arial" pitchFamily="34" charset="-122"/>
                <a:cs typeface="Arial" pitchFamily="34" charset="-120"/>
              </a:rPr>
              <a:t>Close the Q1 FY24-25 gap at source before extending the forecast window</a:t>
            </a:r>
            <a:endParaRPr lang="en-US" sz="2550" dirty="0"/>
          </a:p>
        </p:txBody>
      </p:sp>
      <p:sp>
        <p:nvSpPr>
          <p:cNvPr id="12" name="Shape 10"/>
          <p:cNvSpPr/>
          <p:nvPr/>
        </p:nvSpPr>
        <p:spPr>
          <a:xfrm>
            <a:off x="952500" y="6508403"/>
            <a:ext cx="16383000" cy="19050"/>
          </a:xfrm>
          <a:prstGeom prst="rect">
            <a:avLst/>
          </a:prstGeom>
          <a:solidFill>
            <a:srgbClr val="E2ECF7">
              <a:alpha val="22000"/>
            </a:srgbClr>
          </a:solidFill>
          <a:ln/>
        </p:spPr>
      </p:sp>
      <p:sp>
        <p:nvSpPr>
          <p:cNvPr id="13" name="Text 11"/>
          <p:cNvSpPr/>
          <p:nvPr/>
        </p:nvSpPr>
        <p:spPr>
          <a:xfrm>
            <a:off x="952500" y="5851178"/>
            <a:ext cx="64770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03</a:t>
            </a:r>
            <a:endParaRPr lang="en-US" sz="2550" dirty="0"/>
          </a:p>
        </p:txBody>
      </p:sp>
      <p:sp>
        <p:nvSpPr>
          <p:cNvPr id="14" name="Text 12"/>
          <p:cNvSpPr/>
          <p:nvPr/>
        </p:nvSpPr>
        <p:spPr>
          <a:xfrm>
            <a:off x="2057400" y="5865465"/>
            <a:ext cx="11406805" cy="390525"/>
          </a:xfrm>
          <a:prstGeom prst="rect">
            <a:avLst/>
          </a:prstGeom>
          <a:noFill/>
          <a:ln/>
        </p:spPr>
        <p:txBody>
          <a:bodyPr wrap="square" lIns="25400" tIns="25400" rIns="25400" bIns="25400" rtlCol="0" anchor="t">
            <a:normAutofit/>
          </a:bodyPr>
          <a:lstStyle/>
          <a:p>
            <a:pPr algn="l" indent="0" marL="0">
              <a:buNone/>
            </a:pPr>
            <a:r>
              <a:rPr lang="en-US" sz="2550" dirty="0">
                <a:solidFill>
                  <a:srgbClr val="EDF2F8"/>
                </a:solidFill>
                <a:latin typeface="Arial" pitchFamily="34" charset="0"/>
                <a:ea typeface="Arial" pitchFamily="34" charset="-122"/>
                <a:cs typeface="Arial" pitchFamily="34" charset="-120"/>
              </a:rPr>
              <a:t>Extend coverage from 15 SKUs to the full 154-SKU portfolio, hub by hub</a:t>
            </a:r>
            <a:endParaRPr lang="en-US" sz="2550" dirty="0"/>
          </a:p>
        </p:txBody>
      </p:sp>
      <p:sp>
        <p:nvSpPr>
          <p:cNvPr id="15" name="Shape 13"/>
          <p:cNvSpPr/>
          <p:nvPr/>
        </p:nvSpPr>
        <p:spPr>
          <a:xfrm>
            <a:off x="952500" y="7470428"/>
            <a:ext cx="16383000" cy="19050"/>
          </a:xfrm>
          <a:prstGeom prst="rect">
            <a:avLst/>
          </a:prstGeom>
          <a:solidFill>
            <a:srgbClr val="E2ECF7">
              <a:alpha val="22000"/>
            </a:srgbClr>
          </a:solidFill>
          <a:ln/>
        </p:spPr>
      </p:sp>
      <p:sp>
        <p:nvSpPr>
          <p:cNvPr id="16" name="Text 14"/>
          <p:cNvSpPr/>
          <p:nvPr/>
        </p:nvSpPr>
        <p:spPr>
          <a:xfrm>
            <a:off x="952500" y="6813203"/>
            <a:ext cx="64770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04</a:t>
            </a:r>
            <a:endParaRPr lang="en-US" sz="2550" dirty="0"/>
          </a:p>
        </p:txBody>
      </p:sp>
      <p:sp>
        <p:nvSpPr>
          <p:cNvPr id="17" name="Text 15"/>
          <p:cNvSpPr/>
          <p:nvPr/>
        </p:nvSpPr>
        <p:spPr>
          <a:xfrm>
            <a:off x="2057400" y="6827490"/>
            <a:ext cx="14450846" cy="390525"/>
          </a:xfrm>
          <a:prstGeom prst="rect">
            <a:avLst/>
          </a:prstGeom>
          <a:noFill/>
          <a:ln/>
        </p:spPr>
        <p:txBody>
          <a:bodyPr wrap="square" lIns="25400" tIns="25400" rIns="25400" bIns="25400" rtlCol="0" anchor="t">
            <a:normAutofit/>
          </a:bodyPr>
          <a:lstStyle/>
          <a:p>
            <a:pPr algn="l" indent="0" marL="0">
              <a:buNone/>
            </a:pPr>
            <a:r>
              <a:rPr lang="en-US" sz="2550" dirty="0">
                <a:solidFill>
                  <a:srgbClr val="EDF2F8"/>
                </a:solidFill>
                <a:latin typeface="Arial" pitchFamily="34" charset="0"/>
                <a:ea typeface="Arial" pitchFamily="34" charset="-122"/>
                <a:cs typeface="Arial" pitchFamily="34" charset="-120"/>
              </a:rPr>
              <a:t>Convert the 12-week forecast into safety-stock and allocation targets for SBD and MAA first</a:t>
            </a:r>
            <a:endParaRPr lang="en-US" sz="2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11 — MODEL PROGRESS</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ARIMA is scored and shipping; the machine-learning track is still in validation</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10763250" y="3127028"/>
            <a:ext cx="19050" cy="6397972"/>
          </a:xfrm>
          <a:prstGeom prst="rect">
            <a:avLst/>
          </a:prstGeom>
          <a:solidFill>
            <a:srgbClr val="E2ECF7">
              <a:alpha val="22000"/>
            </a:srgbClr>
          </a:solidFill>
          <a:ln/>
        </p:spPr>
      </p:sp>
      <p:sp>
        <p:nvSpPr>
          <p:cNvPr id="6" name="Shape 4"/>
          <p:cNvSpPr/>
          <p:nvPr/>
        </p:nvSpPr>
        <p:spPr>
          <a:xfrm>
            <a:off x="952500" y="4246215"/>
            <a:ext cx="9144000" cy="19050"/>
          </a:xfrm>
          <a:prstGeom prst="rect">
            <a:avLst/>
          </a:prstGeom>
          <a:solidFill>
            <a:srgbClr val="E2ECF7">
              <a:alpha val="22000"/>
            </a:srgbClr>
          </a:solidFill>
          <a:ln/>
        </p:spPr>
      </p:sp>
      <p:sp>
        <p:nvSpPr>
          <p:cNvPr id="7" name="Shape 5"/>
          <p:cNvSpPr/>
          <p:nvPr/>
        </p:nvSpPr>
        <p:spPr>
          <a:xfrm>
            <a:off x="952500" y="3622328"/>
            <a:ext cx="9144000" cy="19050"/>
          </a:xfrm>
          <a:prstGeom prst="rect">
            <a:avLst/>
          </a:prstGeom>
          <a:solidFill>
            <a:srgbClr val="E2ECF7">
              <a:alpha val="22000"/>
            </a:srgbClr>
          </a:solidFill>
          <a:ln/>
        </p:spPr>
      </p:sp>
      <p:sp>
        <p:nvSpPr>
          <p:cNvPr id="8" name="Text 6"/>
          <p:cNvSpPr/>
          <p:nvPr/>
        </p:nvSpPr>
        <p:spPr>
          <a:xfrm>
            <a:off x="952500" y="3812828"/>
            <a:ext cx="4310673"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93A5BB"/>
                </a:solidFill>
                <a:latin typeface="Arial" pitchFamily="34" charset="0"/>
                <a:ea typeface="Arial" pitchFamily="34" charset="-122"/>
                <a:cs typeface="Arial" pitchFamily="34" charset="-120"/>
              </a:rPr>
              <a:t>MODEL</a:t>
            </a:r>
            <a:endParaRPr lang="en-US" sz="1800" dirty="0"/>
          </a:p>
        </p:txBody>
      </p:sp>
      <p:sp>
        <p:nvSpPr>
          <p:cNvPr id="9" name="Text 7"/>
          <p:cNvSpPr/>
          <p:nvPr/>
        </p:nvSpPr>
        <p:spPr>
          <a:xfrm>
            <a:off x="4871293" y="3812828"/>
            <a:ext cx="2873864"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93A5BB"/>
                </a:solidFill>
                <a:latin typeface="Arial" pitchFamily="34" charset="0"/>
                <a:ea typeface="Arial" pitchFamily="34" charset="-122"/>
                <a:cs typeface="Arial" pitchFamily="34" charset="-120"/>
              </a:rPr>
              <a:t>STATUS</a:t>
            </a:r>
            <a:endParaRPr lang="en-US" sz="1800" dirty="0"/>
          </a:p>
        </p:txBody>
      </p:sp>
      <p:sp>
        <p:nvSpPr>
          <p:cNvPr id="10" name="Text 8"/>
          <p:cNvSpPr/>
          <p:nvPr/>
        </p:nvSpPr>
        <p:spPr>
          <a:xfrm>
            <a:off x="7222644" y="3812828"/>
            <a:ext cx="2873782" cy="300038"/>
          </a:xfrm>
          <a:prstGeom prst="rect">
            <a:avLst/>
          </a:prstGeom>
          <a:noFill/>
          <a:ln/>
        </p:spPr>
        <p:txBody>
          <a:bodyPr wrap="square" lIns="25400" tIns="25400" rIns="25400" bIns="25400" rtlCol="0" anchor="t">
            <a:normAutofit/>
          </a:bodyPr>
          <a:lstStyle/>
          <a:p>
            <a:pPr algn="r" indent="0" marL="0">
              <a:buNone/>
            </a:pPr>
            <a:r>
              <a:rPr lang="en-US" sz="1800" b="1" spc="252" kern="0" dirty="0">
                <a:solidFill>
                  <a:srgbClr val="93A5BB"/>
                </a:solidFill>
                <a:latin typeface="Arial" pitchFamily="34" charset="0"/>
                <a:ea typeface="Arial" pitchFamily="34" charset="-122"/>
                <a:cs typeface="Arial" pitchFamily="34" charset="-120"/>
              </a:rPr>
              <a:t>SERIES SCORED</a:t>
            </a:r>
            <a:endParaRPr lang="en-US" sz="1800" dirty="0"/>
          </a:p>
        </p:txBody>
      </p:sp>
      <p:sp>
        <p:nvSpPr>
          <p:cNvPr id="11" name="Shape 9"/>
          <p:cNvSpPr/>
          <p:nvPr/>
        </p:nvSpPr>
        <p:spPr>
          <a:xfrm>
            <a:off x="952500" y="5032028"/>
            <a:ext cx="9144000" cy="19050"/>
          </a:xfrm>
          <a:prstGeom prst="rect">
            <a:avLst/>
          </a:prstGeom>
          <a:solidFill>
            <a:srgbClr val="E2ECF7">
              <a:alpha val="22000"/>
            </a:srgbClr>
          </a:solidFill>
          <a:ln/>
        </p:spPr>
      </p:sp>
      <p:sp>
        <p:nvSpPr>
          <p:cNvPr id="12" name="Text 10"/>
          <p:cNvSpPr/>
          <p:nvPr/>
        </p:nvSpPr>
        <p:spPr>
          <a:xfrm>
            <a:off x="952500" y="4493865"/>
            <a:ext cx="4310673"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ARIMA (1,1,1)</a:t>
            </a:r>
            <a:endParaRPr lang="en-US" sz="2100" dirty="0"/>
          </a:p>
        </p:txBody>
      </p:sp>
      <p:sp>
        <p:nvSpPr>
          <p:cNvPr id="13" name="Text 11"/>
          <p:cNvSpPr/>
          <p:nvPr/>
        </p:nvSpPr>
        <p:spPr>
          <a:xfrm>
            <a:off x="4871293" y="4493865"/>
            <a:ext cx="2873864"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57D2E6"/>
                </a:solidFill>
                <a:latin typeface="Arial" pitchFamily="34" charset="0"/>
                <a:ea typeface="Arial" pitchFamily="34" charset="-122"/>
                <a:cs typeface="Arial" pitchFamily="34" charset="-120"/>
              </a:rPr>
              <a:t>Scored, exporting</a:t>
            </a:r>
            <a:endParaRPr lang="en-US" sz="2100" dirty="0"/>
          </a:p>
        </p:txBody>
      </p:sp>
      <p:sp>
        <p:nvSpPr>
          <p:cNvPr id="14" name="Text 12"/>
          <p:cNvSpPr/>
          <p:nvPr/>
        </p:nvSpPr>
        <p:spPr>
          <a:xfrm>
            <a:off x="7222644" y="4508153"/>
            <a:ext cx="2873782" cy="328613"/>
          </a:xfrm>
          <a:prstGeom prst="rect">
            <a:avLst/>
          </a:prstGeom>
          <a:noFill/>
          <a:ln/>
        </p:spPr>
        <p:txBody>
          <a:bodyPr wrap="square" lIns="25400" tIns="25400" rIns="25400" bIns="25400" rtlCol="0" anchor="t">
            <a:normAutofit/>
          </a:bodyPr>
          <a:lstStyle/>
          <a:p>
            <a:pPr algn="r" indent="0" marL="0">
              <a:buNone/>
            </a:pPr>
            <a:r>
              <a:rPr lang="en-US" sz="2100" dirty="0">
                <a:solidFill>
                  <a:srgbClr val="EDF2F8"/>
                </a:solidFill>
                <a:latin typeface="Arial" pitchFamily="34" charset="0"/>
                <a:ea typeface="Arial" pitchFamily="34" charset="-122"/>
                <a:cs typeface="Arial" pitchFamily="34" charset="-120"/>
              </a:rPr>
              <a:t>42</a:t>
            </a:r>
            <a:endParaRPr lang="en-US" sz="2100" dirty="0"/>
          </a:p>
        </p:txBody>
      </p:sp>
      <p:sp>
        <p:nvSpPr>
          <p:cNvPr id="15" name="Shape 13"/>
          <p:cNvSpPr/>
          <p:nvPr/>
        </p:nvSpPr>
        <p:spPr>
          <a:xfrm>
            <a:off x="952500" y="5817840"/>
            <a:ext cx="9144000" cy="19050"/>
          </a:xfrm>
          <a:prstGeom prst="rect">
            <a:avLst/>
          </a:prstGeom>
          <a:solidFill>
            <a:srgbClr val="E2ECF7">
              <a:alpha val="22000"/>
            </a:srgbClr>
          </a:solidFill>
          <a:ln/>
        </p:spPr>
      </p:sp>
      <p:sp>
        <p:nvSpPr>
          <p:cNvPr id="16" name="Text 14"/>
          <p:cNvSpPr/>
          <p:nvPr/>
        </p:nvSpPr>
        <p:spPr>
          <a:xfrm>
            <a:off x="952500" y="5279678"/>
            <a:ext cx="4310673"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SARIMA (1,1,1,12)</a:t>
            </a:r>
            <a:endParaRPr lang="en-US" sz="2100" dirty="0"/>
          </a:p>
        </p:txBody>
      </p:sp>
      <p:sp>
        <p:nvSpPr>
          <p:cNvPr id="17" name="Text 15"/>
          <p:cNvSpPr/>
          <p:nvPr/>
        </p:nvSpPr>
        <p:spPr>
          <a:xfrm>
            <a:off x="4871293" y="5279678"/>
            <a:ext cx="2873864"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93A5BB"/>
                </a:solidFill>
                <a:latin typeface="Arial" pitchFamily="34" charset="0"/>
                <a:ea typeface="Arial" pitchFamily="34" charset="-122"/>
                <a:cs typeface="Arial" pitchFamily="34" charset="-120"/>
              </a:rPr>
              <a:t>In validation</a:t>
            </a:r>
            <a:endParaRPr lang="en-US" sz="2100" dirty="0"/>
          </a:p>
        </p:txBody>
      </p:sp>
      <p:sp>
        <p:nvSpPr>
          <p:cNvPr id="18" name="Text 16"/>
          <p:cNvSpPr/>
          <p:nvPr/>
        </p:nvSpPr>
        <p:spPr>
          <a:xfrm>
            <a:off x="7222644" y="5293965"/>
            <a:ext cx="2873782" cy="328613"/>
          </a:xfrm>
          <a:prstGeom prst="rect">
            <a:avLst/>
          </a:prstGeom>
          <a:noFill/>
          <a:ln/>
        </p:spPr>
        <p:txBody>
          <a:bodyPr wrap="square" lIns="25400" tIns="25400" rIns="25400" bIns="25400" rtlCol="0" anchor="t">
            <a:normAutofit/>
          </a:bodyPr>
          <a:lstStyle/>
          <a:p>
            <a:pPr algn="r" indent="0" marL="0">
              <a:buNone/>
            </a:pPr>
            <a:r>
              <a:rPr lang="en-US" sz="2100" dirty="0">
                <a:solidFill>
                  <a:srgbClr val="93A5BB"/>
                </a:solidFill>
                <a:latin typeface="Arial" pitchFamily="34" charset="0"/>
                <a:ea typeface="Arial" pitchFamily="34" charset="-122"/>
                <a:cs typeface="Arial" pitchFamily="34" charset="-120"/>
              </a:rPr>
              <a:t>—</a:t>
            </a:r>
            <a:endParaRPr lang="en-US" sz="2100" dirty="0"/>
          </a:p>
        </p:txBody>
      </p:sp>
      <p:sp>
        <p:nvSpPr>
          <p:cNvPr id="19" name="Shape 17"/>
          <p:cNvSpPr/>
          <p:nvPr/>
        </p:nvSpPr>
        <p:spPr>
          <a:xfrm>
            <a:off x="952500" y="6603653"/>
            <a:ext cx="9144000" cy="19050"/>
          </a:xfrm>
          <a:prstGeom prst="rect">
            <a:avLst/>
          </a:prstGeom>
          <a:solidFill>
            <a:srgbClr val="E2ECF7">
              <a:alpha val="22000"/>
            </a:srgbClr>
          </a:solidFill>
          <a:ln/>
        </p:spPr>
      </p:sp>
      <p:sp>
        <p:nvSpPr>
          <p:cNvPr id="20" name="Text 18"/>
          <p:cNvSpPr/>
          <p:nvPr/>
        </p:nvSpPr>
        <p:spPr>
          <a:xfrm>
            <a:off x="952500" y="6065490"/>
            <a:ext cx="4310673"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Exponential Smoothing</a:t>
            </a:r>
            <a:endParaRPr lang="en-US" sz="2100" dirty="0"/>
          </a:p>
        </p:txBody>
      </p:sp>
      <p:sp>
        <p:nvSpPr>
          <p:cNvPr id="21" name="Text 19"/>
          <p:cNvSpPr/>
          <p:nvPr/>
        </p:nvSpPr>
        <p:spPr>
          <a:xfrm>
            <a:off x="4871293" y="6065490"/>
            <a:ext cx="2873864"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93A5BB"/>
                </a:solidFill>
                <a:latin typeface="Arial" pitchFamily="34" charset="0"/>
                <a:ea typeface="Arial" pitchFamily="34" charset="-122"/>
                <a:cs typeface="Arial" pitchFamily="34" charset="-120"/>
              </a:rPr>
              <a:t>In validation</a:t>
            </a:r>
            <a:endParaRPr lang="en-US" sz="2100" dirty="0"/>
          </a:p>
        </p:txBody>
      </p:sp>
      <p:sp>
        <p:nvSpPr>
          <p:cNvPr id="22" name="Text 20"/>
          <p:cNvSpPr/>
          <p:nvPr/>
        </p:nvSpPr>
        <p:spPr>
          <a:xfrm>
            <a:off x="7222644" y="6079778"/>
            <a:ext cx="2873782" cy="328613"/>
          </a:xfrm>
          <a:prstGeom prst="rect">
            <a:avLst/>
          </a:prstGeom>
          <a:noFill/>
          <a:ln/>
        </p:spPr>
        <p:txBody>
          <a:bodyPr wrap="square" lIns="25400" tIns="25400" rIns="25400" bIns="25400" rtlCol="0" anchor="t">
            <a:normAutofit/>
          </a:bodyPr>
          <a:lstStyle/>
          <a:p>
            <a:pPr algn="r" indent="0" marL="0">
              <a:buNone/>
            </a:pPr>
            <a:r>
              <a:rPr lang="en-US" sz="2100" dirty="0">
                <a:solidFill>
                  <a:srgbClr val="93A5BB"/>
                </a:solidFill>
                <a:latin typeface="Arial" pitchFamily="34" charset="0"/>
                <a:ea typeface="Arial" pitchFamily="34" charset="-122"/>
                <a:cs typeface="Arial" pitchFamily="34" charset="-120"/>
              </a:rPr>
              <a:t>—</a:t>
            </a:r>
            <a:endParaRPr lang="en-US" sz="2100" dirty="0"/>
          </a:p>
        </p:txBody>
      </p:sp>
      <p:sp>
        <p:nvSpPr>
          <p:cNvPr id="23" name="Shape 21"/>
          <p:cNvSpPr/>
          <p:nvPr/>
        </p:nvSpPr>
        <p:spPr>
          <a:xfrm>
            <a:off x="952500" y="7389465"/>
            <a:ext cx="9144000" cy="19050"/>
          </a:xfrm>
          <a:prstGeom prst="rect">
            <a:avLst/>
          </a:prstGeom>
          <a:solidFill>
            <a:srgbClr val="E2ECF7">
              <a:alpha val="22000"/>
            </a:srgbClr>
          </a:solidFill>
          <a:ln/>
        </p:spPr>
      </p:sp>
      <p:sp>
        <p:nvSpPr>
          <p:cNvPr id="24" name="Text 22"/>
          <p:cNvSpPr/>
          <p:nvPr/>
        </p:nvSpPr>
        <p:spPr>
          <a:xfrm>
            <a:off x="952500" y="6851303"/>
            <a:ext cx="4310673"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Random Forest</a:t>
            </a:r>
            <a:endParaRPr lang="en-US" sz="2100" dirty="0"/>
          </a:p>
        </p:txBody>
      </p:sp>
      <p:sp>
        <p:nvSpPr>
          <p:cNvPr id="25" name="Text 23"/>
          <p:cNvSpPr/>
          <p:nvPr/>
        </p:nvSpPr>
        <p:spPr>
          <a:xfrm>
            <a:off x="4871293" y="6851303"/>
            <a:ext cx="2873864"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93A5BB"/>
                </a:solidFill>
                <a:latin typeface="Arial" pitchFamily="34" charset="0"/>
                <a:ea typeface="Arial" pitchFamily="34" charset="-122"/>
                <a:cs typeface="Arial" pitchFamily="34" charset="-120"/>
              </a:rPr>
              <a:t>Built, unscored</a:t>
            </a:r>
            <a:endParaRPr lang="en-US" sz="2100" dirty="0"/>
          </a:p>
        </p:txBody>
      </p:sp>
      <p:sp>
        <p:nvSpPr>
          <p:cNvPr id="26" name="Text 24"/>
          <p:cNvSpPr/>
          <p:nvPr/>
        </p:nvSpPr>
        <p:spPr>
          <a:xfrm>
            <a:off x="7222644" y="6865590"/>
            <a:ext cx="2873782" cy="328613"/>
          </a:xfrm>
          <a:prstGeom prst="rect">
            <a:avLst/>
          </a:prstGeom>
          <a:noFill/>
          <a:ln/>
        </p:spPr>
        <p:txBody>
          <a:bodyPr wrap="square" lIns="25400" tIns="25400" rIns="25400" bIns="25400" rtlCol="0" anchor="t">
            <a:normAutofit/>
          </a:bodyPr>
          <a:lstStyle/>
          <a:p>
            <a:pPr algn="r" indent="0" marL="0">
              <a:buNone/>
            </a:pPr>
            <a:r>
              <a:rPr lang="en-US" sz="2100" dirty="0">
                <a:solidFill>
                  <a:srgbClr val="93A5BB"/>
                </a:solidFill>
                <a:latin typeface="Arial" pitchFamily="34" charset="0"/>
                <a:ea typeface="Arial" pitchFamily="34" charset="-122"/>
                <a:cs typeface="Arial" pitchFamily="34" charset="-120"/>
              </a:rPr>
              <a:t>—</a:t>
            </a:r>
            <a:endParaRPr lang="en-US" sz="2100" dirty="0"/>
          </a:p>
        </p:txBody>
      </p:sp>
      <p:sp>
        <p:nvSpPr>
          <p:cNvPr id="27" name="Shape 25"/>
          <p:cNvSpPr/>
          <p:nvPr/>
        </p:nvSpPr>
        <p:spPr>
          <a:xfrm>
            <a:off x="952500" y="8175278"/>
            <a:ext cx="9144000" cy="19050"/>
          </a:xfrm>
          <a:prstGeom prst="rect">
            <a:avLst/>
          </a:prstGeom>
          <a:solidFill>
            <a:srgbClr val="E2ECF7">
              <a:alpha val="22000"/>
            </a:srgbClr>
          </a:solidFill>
          <a:ln/>
        </p:spPr>
      </p:sp>
      <p:sp>
        <p:nvSpPr>
          <p:cNvPr id="28" name="Text 26"/>
          <p:cNvSpPr/>
          <p:nvPr/>
        </p:nvSpPr>
        <p:spPr>
          <a:xfrm>
            <a:off x="952500" y="7637115"/>
            <a:ext cx="4310673"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Gradient Boosting</a:t>
            </a:r>
            <a:endParaRPr lang="en-US" sz="2100" dirty="0"/>
          </a:p>
        </p:txBody>
      </p:sp>
      <p:sp>
        <p:nvSpPr>
          <p:cNvPr id="29" name="Text 27"/>
          <p:cNvSpPr/>
          <p:nvPr/>
        </p:nvSpPr>
        <p:spPr>
          <a:xfrm>
            <a:off x="4871293" y="7637115"/>
            <a:ext cx="2873864"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93A5BB"/>
                </a:solidFill>
                <a:latin typeface="Arial" pitchFamily="34" charset="0"/>
                <a:ea typeface="Arial" pitchFamily="34" charset="-122"/>
                <a:cs typeface="Arial" pitchFamily="34" charset="-120"/>
              </a:rPr>
              <a:t>Built, unscored</a:t>
            </a:r>
            <a:endParaRPr lang="en-US" sz="2100" dirty="0"/>
          </a:p>
        </p:txBody>
      </p:sp>
      <p:sp>
        <p:nvSpPr>
          <p:cNvPr id="30" name="Text 28"/>
          <p:cNvSpPr/>
          <p:nvPr/>
        </p:nvSpPr>
        <p:spPr>
          <a:xfrm>
            <a:off x="7222644" y="7651403"/>
            <a:ext cx="2873782" cy="328613"/>
          </a:xfrm>
          <a:prstGeom prst="rect">
            <a:avLst/>
          </a:prstGeom>
          <a:noFill/>
          <a:ln/>
        </p:spPr>
        <p:txBody>
          <a:bodyPr wrap="square" lIns="25400" tIns="25400" rIns="25400" bIns="25400" rtlCol="0" anchor="t">
            <a:normAutofit/>
          </a:bodyPr>
          <a:lstStyle/>
          <a:p>
            <a:pPr algn="r" indent="0" marL="0">
              <a:buNone/>
            </a:pPr>
            <a:r>
              <a:rPr lang="en-US" sz="2100" dirty="0">
                <a:solidFill>
                  <a:srgbClr val="93A5BB"/>
                </a:solidFill>
                <a:latin typeface="Arial" pitchFamily="34" charset="0"/>
                <a:ea typeface="Arial" pitchFamily="34" charset="-122"/>
                <a:cs typeface="Arial" pitchFamily="34" charset="-120"/>
              </a:rPr>
              <a:t>—</a:t>
            </a:r>
            <a:endParaRPr lang="en-US" sz="2100" dirty="0"/>
          </a:p>
        </p:txBody>
      </p:sp>
      <p:sp>
        <p:nvSpPr>
          <p:cNvPr id="31" name="Text 29"/>
          <p:cNvSpPr/>
          <p:nvPr/>
        </p:nvSpPr>
        <p:spPr>
          <a:xfrm>
            <a:off x="11449050" y="3622328"/>
            <a:ext cx="647509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57D2E6"/>
                </a:solidFill>
                <a:latin typeface="Arial" pitchFamily="34" charset="0"/>
                <a:ea typeface="Arial" pitchFamily="34" charset="-122"/>
                <a:cs typeface="Arial" pitchFamily="34" charset="-120"/>
              </a:rPr>
              <a:t>ACCEPTANCE GATES</a:t>
            </a:r>
            <a:endParaRPr lang="en-US" sz="1800" dirty="0"/>
          </a:p>
        </p:txBody>
      </p:sp>
      <p:sp>
        <p:nvSpPr>
          <p:cNvPr id="32" name="Shape 30"/>
          <p:cNvSpPr/>
          <p:nvPr/>
        </p:nvSpPr>
        <p:spPr>
          <a:xfrm>
            <a:off x="11449050" y="4751040"/>
            <a:ext cx="5886450" cy="19050"/>
          </a:xfrm>
          <a:prstGeom prst="rect">
            <a:avLst/>
          </a:prstGeom>
          <a:solidFill>
            <a:srgbClr val="E2ECF7">
              <a:alpha val="22000"/>
            </a:srgbClr>
          </a:solidFill>
          <a:ln/>
        </p:spPr>
      </p:sp>
      <p:sp>
        <p:nvSpPr>
          <p:cNvPr id="33" name="Text 31"/>
          <p:cNvSpPr/>
          <p:nvPr/>
        </p:nvSpPr>
        <p:spPr>
          <a:xfrm>
            <a:off x="11449050" y="4198590"/>
            <a:ext cx="841846"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MAPE</a:t>
            </a:r>
            <a:endParaRPr lang="en-US" sz="2100" dirty="0"/>
          </a:p>
        </p:txBody>
      </p:sp>
      <p:sp>
        <p:nvSpPr>
          <p:cNvPr id="34" name="Text 32"/>
          <p:cNvSpPr/>
          <p:nvPr/>
        </p:nvSpPr>
        <p:spPr>
          <a:xfrm>
            <a:off x="15751150" y="4131915"/>
            <a:ext cx="1742785"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below 20%</a:t>
            </a:r>
            <a:endParaRPr lang="en-US" sz="2550" dirty="0"/>
          </a:p>
        </p:txBody>
      </p:sp>
      <p:sp>
        <p:nvSpPr>
          <p:cNvPr id="35" name="Shape 33"/>
          <p:cNvSpPr/>
          <p:nvPr/>
        </p:nvSpPr>
        <p:spPr>
          <a:xfrm>
            <a:off x="11449050" y="5636865"/>
            <a:ext cx="5886450" cy="19050"/>
          </a:xfrm>
          <a:prstGeom prst="rect">
            <a:avLst/>
          </a:prstGeom>
          <a:solidFill>
            <a:srgbClr val="E2ECF7">
              <a:alpha val="22000"/>
            </a:srgbClr>
          </a:solidFill>
          <a:ln/>
        </p:spPr>
      </p:sp>
      <p:sp>
        <p:nvSpPr>
          <p:cNvPr id="36" name="Text 34"/>
          <p:cNvSpPr/>
          <p:nvPr/>
        </p:nvSpPr>
        <p:spPr>
          <a:xfrm>
            <a:off x="11449050" y="5084415"/>
            <a:ext cx="3130399"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Accuracy (100 − MAPE)</a:t>
            </a:r>
            <a:endParaRPr lang="en-US" sz="2100" dirty="0"/>
          </a:p>
        </p:txBody>
      </p:sp>
      <p:sp>
        <p:nvSpPr>
          <p:cNvPr id="37" name="Text 35"/>
          <p:cNvSpPr/>
          <p:nvPr/>
        </p:nvSpPr>
        <p:spPr>
          <a:xfrm>
            <a:off x="15714985" y="5017740"/>
            <a:ext cx="1782567"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above 80%</a:t>
            </a:r>
            <a:endParaRPr lang="en-US" sz="2550" dirty="0"/>
          </a:p>
        </p:txBody>
      </p:sp>
      <p:sp>
        <p:nvSpPr>
          <p:cNvPr id="38" name="Shape 36"/>
          <p:cNvSpPr/>
          <p:nvPr/>
        </p:nvSpPr>
        <p:spPr>
          <a:xfrm>
            <a:off x="11449050" y="6522690"/>
            <a:ext cx="5886450" cy="19050"/>
          </a:xfrm>
          <a:prstGeom prst="rect">
            <a:avLst/>
          </a:prstGeom>
          <a:solidFill>
            <a:srgbClr val="E2ECF7">
              <a:alpha val="22000"/>
            </a:srgbClr>
          </a:solidFill>
          <a:ln/>
        </p:spPr>
      </p:sp>
      <p:sp>
        <p:nvSpPr>
          <p:cNvPr id="39" name="Text 37"/>
          <p:cNvSpPr/>
          <p:nvPr/>
        </p:nvSpPr>
        <p:spPr>
          <a:xfrm>
            <a:off x="11449050" y="5970240"/>
            <a:ext cx="2118665"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MAE and RMSE</a:t>
            </a:r>
            <a:endParaRPr lang="en-US" sz="2100" dirty="0"/>
          </a:p>
        </p:txBody>
      </p:sp>
      <p:sp>
        <p:nvSpPr>
          <p:cNvPr id="40" name="Text 38"/>
          <p:cNvSpPr/>
          <p:nvPr/>
        </p:nvSpPr>
        <p:spPr>
          <a:xfrm>
            <a:off x="15211499" y="5903565"/>
            <a:ext cx="2336401"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Lower is better</a:t>
            </a:r>
            <a:endParaRPr lang="en-US" sz="2550" dirty="0"/>
          </a:p>
        </p:txBody>
      </p:sp>
      <p:sp>
        <p:nvSpPr>
          <p:cNvPr id="41" name="Text 39"/>
          <p:cNvSpPr/>
          <p:nvPr/>
        </p:nvSpPr>
        <p:spPr>
          <a:xfrm>
            <a:off x="11449050" y="6827490"/>
            <a:ext cx="6063044" cy="1238250"/>
          </a:xfrm>
          <a:prstGeom prst="rect">
            <a:avLst/>
          </a:prstGeom>
          <a:noFill/>
          <a:ln/>
        </p:spPr>
        <p:txBody>
          <a:bodyPr wrap="square" lIns="25400" tIns="25400" rIns="25400" bIns="25400" rtlCol="0" anchor="t">
            <a:normAutofit/>
          </a:bodyPr>
          <a:lstStyle/>
          <a:p>
            <a:pPr algn="l" indent="0" marL="0">
              <a:lnSpc>
                <a:spcPct val="129231"/>
              </a:lnSpc>
              <a:buNone/>
            </a:pPr>
            <a:r>
              <a:rPr lang="en-US" sz="2100" dirty="0">
                <a:solidFill>
                  <a:srgbClr val="93A5BB"/>
                </a:solidFill>
                <a:latin typeface="Arial" pitchFamily="34" charset="0"/>
                <a:ea typeface="Arial" pitchFamily="34" charset="-122"/>
                <a:cs typeface="Arial" pitchFamily="34" charset="-120"/>
              </a:rPr>
              <a:t>Every series is scored on all four metrics against a held-out 20% window before it is promoted into the planning view.</a:t>
            </a:r>
            <a:endParaRPr lang="en-US" sz="21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7373600" cy="548640"/>
          </a:xfrm>
          <a:prstGeom prst="rect">
            <a:avLst/>
          </a:prstGeom>
          <a:noFill/>
        </p:spPr>
        <p:txBody>
          <a:bodyPr wrap="square">
            <a:spAutoFit/>
          </a:bodyPr>
          <a:lstStyle/>
          <a:p>
            <a:pPr algn="l">
              <a:defRPr sz="2800" b="1">
                <a:solidFill>
                  <a:srgbClr val="00E5FF"/>
                </a:solidFill>
              </a:defRPr>
            </a:pPr>
            <a:r>
              <a:t>02 — PROJECT TIMELINE &amp; PROGRESS</a:t>
            </a:r>
          </a:p>
        </p:txBody>
      </p:sp>
      <p:sp>
        <p:nvSpPr>
          <p:cNvPr id="3" name="TextBox 2"/>
          <p:cNvSpPr txBox="1"/>
          <p:nvPr/>
        </p:nvSpPr>
        <p:spPr>
          <a:xfrm>
            <a:off x="457200" y="822960"/>
            <a:ext cx="17373600" cy="365760"/>
          </a:xfrm>
          <a:prstGeom prst="rect">
            <a:avLst/>
          </a:prstGeom>
          <a:noFill/>
        </p:spPr>
        <p:txBody>
          <a:bodyPr wrap="square">
            <a:spAutoFit/>
          </a:bodyPr>
          <a:lstStyle/>
          <a:p>
            <a:pPr algn="l">
              <a:defRPr sz="1600" b="0">
                <a:solidFill>
                  <a:srgbClr val="CBD5E1"/>
                </a:solidFill>
              </a:defRPr>
            </a:pPr>
            <a:r>
              <a:t>Mid-Review Checkpoint: On track with dashboard delivery and model validation</a:t>
            </a:r>
          </a:p>
        </p:txBody>
      </p:sp>
      <p:sp>
        <p:nvSpPr>
          <p:cNvPr id="4" name="Rounded Rectangle 3"/>
          <p:cNvSpPr/>
          <p:nvPr/>
        </p:nvSpPr>
        <p:spPr>
          <a:xfrm>
            <a:off x="731520" y="1645920"/>
            <a:ext cx="3200400" cy="1463040"/>
          </a:xfrm>
          <a:prstGeom prst="roundRect">
            <a:avLst/>
          </a:prstGeom>
          <a:solidFill>
            <a:srgbClr val="141C2D"/>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83080"/>
            <a:ext cx="2926080" cy="274320"/>
          </a:xfrm>
          <a:prstGeom prst="rect">
            <a:avLst/>
          </a:prstGeom>
          <a:noFill/>
        </p:spPr>
        <p:txBody>
          <a:bodyPr wrap="square">
            <a:spAutoFit/>
          </a:bodyPr>
          <a:lstStyle/>
          <a:p>
            <a:pPr algn="l">
              <a:defRPr sz="1400" b="1">
                <a:solidFill>
                  <a:srgbClr val="10B981"/>
                </a:solidFill>
              </a:defRPr>
            </a:pPr>
            <a:r>
              <a:t>Week 1-2</a:t>
            </a:r>
          </a:p>
        </p:txBody>
      </p:sp>
      <p:sp>
        <p:nvSpPr>
          <p:cNvPr id="6" name="TextBox 5"/>
          <p:cNvSpPr txBox="1"/>
          <p:nvPr/>
        </p:nvSpPr>
        <p:spPr>
          <a:xfrm>
            <a:off x="868680" y="2103120"/>
            <a:ext cx="2926080" cy="457200"/>
          </a:xfrm>
          <a:prstGeom prst="rect">
            <a:avLst/>
          </a:prstGeom>
          <a:noFill/>
        </p:spPr>
        <p:txBody>
          <a:bodyPr wrap="square">
            <a:spAutoFit/>
          </a:bodyPr>
          <a:lstStyle/>
          <a:p>
            <a:pPr algn="ctr">
              <a:defRPr sz="3200" b="1">
                <a:solidFill>
                  <a:srgbClr val="10B981"/>
                </a:solidFill>
              </a:defRPr>
            </a:pPr>
            <a:r>
              <a:t>100%</a:t>
            </a:r>
          </a:p>
        </p:txBody>
      </p:sp>
      <p:sp>
        <p:nvSpPr>
          <p:cNvPr id="7" name="TextBox 6"/>
          <p:cNvSpPr txBox="1"/>
          <p:nvPr/>
        </p:nvSpPr>
        <p:spPr>
          <a:xfrm>
            <a:off x="868680" y="2651760"/>
            <a:ext cx="2926080" cy="274320"/>
          </a:xfrm>
          <a:prstGeom prst="rect">
            <a:avLst/>
          </a:prstGeom>
          <a:noFill/>
        </p:spPr>
        <p:txBody>
          <a:bodyPr wrap="square">
            <a:spAutoFit/>
          </a:bodyPr>
          <a:lstStyle/>
          <a:p>
            <a:pPr algn="ctr">
              <a:defRPr sz="1100" b="0">
                <a:solidFill>
                  <a:srgbClr val="CBD5E1"/>
                </a:solidFill>
              </a:defRPr>
            </a:pPr>
            <a:r>
              <a:t>Problem Scoping &amp;</a:t>
            </a:r>
          </a:p>
          <a:p>
            <a:r>
              <a:t>Data Collection</a:t>
            </a:r>
          </a:p>
        </p:txBody>
      </p:sp>
      <p:sp>
        <p:nvSpPr>
          <p:cNvPr id="8" name="TextBox 7"/>
          <p:cNvSpPr txBox="1"/>
          <p:nvPr/>
        </p:nvSpPr>
        <p:spPr>
          <a:xfrm>
            <a:off x="731520" y="3200400"/>
            <a:ext cx="3200400" cy="274320"/>
          </a:xfrm>
          <a:prstGeom prst="rect">
            <a:avLst/>
          </a:prstGeom>
          <a:noFill/>
        </p:spPr>
        <p:txBody>
          <a:bodyPr wrap="square">
            <a:spAutoFit/>
          </a:bodyPr>
          <a:lstStyle/>
          <a:p>
            <a:pPr algn="ctr">
              <a:defRPr sz="1200" b="1">
                <a:solidFill>
                  <a:srgbClr val="10B981"/>
                </a:solidFill>
              </a:defRPr>
            </a:pPr>
            <a:r>
              <a:t>Complete</a:t>
            </a:r>
          </a:p>
        </p:txBody>
      </p:sp>
      <p:sp>
        <p:nvSpPr>
          <p:cNvPr id="9" name="Rounded Rectangle 8"/>
          <p:cNvSpPr/>
          <p:nvPr/>
        </p:nvSpPr>
        <p:spPr>
          <a:xfrm>
            <a:off x="4114800" y="1645920"/>
            <a:ext cx="3200400" cy="1463040"/>
          </a:xfrm>
          <a:prstGeom prst="roundRect">
            <a:avLst/>
          </a:prstGeom>
          <a:solidFill>
            <a:srgbClr val="141C2D"/>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51960" y="1783080"/>
            <a:ext cx="2926080" cy="274320"/>
          </a:xfrm>
          <a:prstGeom prst="rect">
            <a:avLst/>
          </a:prstGeom>
          <a:noFill/>
        </p:spPr>
        <p:txBody>
          <a:bodyPr wrap="square">
            <a:spAutoFit/>
          </a:bodyPr>
          <a:lstStyle/>
          <a:p>
            <a:pPr algn="l">
              <a:defRPr sz="1400" b="1">
                <a:solidFill>
                  <a:srgbClr val="10B981"/>
                </a:solidFill>
              </a:defRPr>
            </a:pPr>
            <a:r>
              <a:t>Week 3-4</a:t>
            </a:r>
          </a:p>
        </p:txBody>
      </p:sp>
      <p:sp>
        <p:nvSpPr>
          <p:cNvPr id="11" name="TextBox 10"/>
          <p:cNvSpPr txBox="1"/>
          <p:nvPr/>
        </p:nvSpPr>
        <p:spPr>
          <a:xfrm>
            <a:off x="4251960" y="2103120"/>
            <a:ext cx="2926080" cy="457200"/>
          </a:xfrm>
          <a:prstGeom prst="rect">
            <a:avLst/>
          </a:prstGeom>
          <a:noFill/>
        </p:spPr>
        <p:txBody>
          <a:bodyPr wrap="square">
            <a:spAutoFit/>
          </a:bodyPr>
          <a:lstStyle/>
          <a:p>
            <a:pPr algn="ctr">
              <a:defRPr sz="3200" b="1">
                <a:solidFill>
                  <a:srgbClr val="10B981"/>
                </a:solidFill>
              </a:defRPr>
            </a:pPr>
            <a:r>
              <a:t>100%</a:t>
            </a:r>
          </a:p>
        </p:txBody>
      </p:sp>
      <p:sp>
        <p:nvSpPr>
          <p:cNvPr id="12" name="TextBox 11"/>
          <p:cNvSpPr txBox="1"/>
          <p:nvPr/>
        </p:nvSpPr>
        <p:spPr>
          <a:xfrm>
            <a:off x="4251960" y="2651760"/>
            <a:ext cx="2926080" cy="274320"/>
          </a:xfrm>
          <a:prstGeom prst="rect">
            <a:avLst/>
          </a:prstGeom>
          <a:noFill/>
        </p:spPr>
        <p:txBody>
          <a:bodyPr wrap="square">
            <a:spAutoFit/>
          </a:bodyPr>
          <a:lstStyle/>
          <a:p>
            <a:pPr algn="ctr">
              <a:defRPr sz="1100" b="0">
                <a:solidFill>
                  <a:srgbClr val="CBD5E1"/>
                </a:solidFill>
              </a:defRPr>
            </a:pPr>
            <a:r>
              <a:t>EDA &amp; Dashboard</a:t>
            </a:r>
          </a:p>
          <a:p>
            <a:r>
              <a:t>Development</a:t>
            </a:r>
          </a:p>
        </p:txBody>
      </p:sp>
      <p:sp>
        <p:nvSpPr>
          <p:cNvPr id="13" name="TextBox 12"/>
          <p:cNvSpPr txBox="1"/>
          <p:nvPr/>
        </p:nvSpPr>
        <p:spPr>
          <a:xfrm>
            <a:off x="4114800" y="3200400"/>
            <a:ext cx="3200400" cy="274320"/>
          </a:xfrm>
          <a:prstGeom prst="rect">
            <a:avLst/>
          </a:prstGeom>
          <a:noFill/>
        </p:spPr>
        <p:txBody>
          <a:bodyPr wrap="square">
            <a:spAutoFit/>
          </a:bodyPr>
          <a:lstStyle/>
          <a:p>
            <a:pPr algn="ctr">
              <a:defRPr sz="1200" b="1">
                <a:solidFill>
                  <a:srgbClr val="10B981"/>
                </a:solidFill>
              </a:defRPr>
            </a:pPr>
            <a:r>
              <a:t>Complete</a:t>
            </a:r>
          </a:p>
        </p:txBody>
      </p:sp>
      <p:sp>
        <p:nvSpPr>
          <p:cNvPr id="14" name="Rounded Rectangle 13"/>
          <p:cNvSpPr/>
          <p:nvPr/>
        </p:nvSpPr>
        <p:spPr>
          <a:xfrm>
            <a:off x="7498080" y="1645920"/>
            <a:ext cx="3200400" cy="1463040"/>
          </a:xfrm>
          <a:prstGeom prst="roundRect">
            <a:avLst/>
          </a:prstGeom>
          <a:solidFill>
            <a:srgbClr val="141C2D"/>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783080"/>
            <a:ext cx="2926080" cy="274320"/>
          </a:xfrm>
          <a:prstGeom prst="rect">
            <a:avLst/>
          </a:prstGeom>
          <a:noFill/>
        </p:spPr>
        <p:txBody>
          <a:bodyPr wrap="square">
            <a:spAutoFit/>
          </a:bodyPr>
          <a:lstStyle/>
          <a:p>
            <a:pPr algn="l">
              <a:defRPr sz="1400" b="1">
                <a:solidFill>
                  <a:srgbClr val="F59E0B"/>
                </a:solidFill>
              </a:defRPr>
            </a:pPr>
            <a:r>
              <a:t>Week 5-6</a:t>
            </a:r>
          </a:p>
        </p:txBody>
      </p:sp>
      <p:sp>
        <p:nvSpPr>
          <p:cNvPr id="16" name="TextBox 15"/>
          <p:cNvSpPr txBox="1"/>
          <p:nvPr/>
        </p:nvSpPr>
        <p:spPr>
          <a:xfrm>
            <a:off x="7635240" y="2103120"/>
            <a:ext cx="2926080" cy="457200"/>
          </a:xfrm>
          <a:prstGeom prst="rect">
            <a:avLst/>
          </a:prstGeom>
          <a:noFill/>
        </p:spPr>
        <p:txBody>
          <a:bodyPr wrap="square">
            <a:spAutoFit/>
          </a:bodyPr>
          <a:lstStyle/>
          <a:p>
            <a:pPr algn="ctr">
              <a:defRPr sz="3200" b="1">
                <a:solidFill>
                  <a:srgbClr val="F59E0B"/>
                </a:solidFill>
              </a:defRPr>
            </a:pPr>
            <a:r>
              <a:t>75%</a:t>
            </a:r>
          </a:p>
        </p:txBody>
      </p:sp>
      <p:sp>
        <p:nvSpPr>
          <p:cNvPr id="17" name="TextBox 16"/>
          <p:cNvSpPr txBox="1"/>
          <p:nvPr/>
        </p:nvSpPr>
        <p:spPr>
          <a:xfrm>
            <a:off x="7635240" y="2651760"/>
            <a:ext cx="2926080" cy="274320"/>
          </a:xfrm>
          <a:prstGeom prst="rect">
            <a:avLst/>
          </a:prstGeom>
          <a:noFill/>
        </p:spPr>
        <p:txBody>
          <a:bodyPr wrap="square">
            <a:spAutoFit/>
          </a:bodyPr>
          <a:lstStyle/>
          <a:p>
            <a:pPr algn="ctr">
              <a:defRPr sz="1100" b="0">
                <a:solidFill>
                  <a:srgbClr val="CBD5E1"/>
                </a:solidFill>
              </a:defRPr>
            </a:pPr>
            <a:r>
              <a:t>Model Building &amp;</a:t>
            </a:r>
          </a:p>
          <a:p>
            <a:r>
              <a:t>Validation</a:t>
            </a:r>
          </a:p>
        </p:txBody>
      </p:sp>
      <p:sp>
        <p:nvSpPr>
          <p:cNvPr id="18" name="TextBox 17"/>
          <p:cNvSpPr txBox="1"/>
          <p:nvPr/>
        </p:nvSpPr>
        <p:spPr>
          <a:xfrm>
            <a:off x="7498080" y="3200400"/>
            <a:ext cx="3200400" cy="274320"/>
          </a:xfrm>
          <a:prstGeom prst="rect">
            <a:avLst/>
          </a:prstGeom>
          <a:noFill/>
        </p:spPr>
        <p:txBody>
          <a:bodyPr wrap="square">
            <a:spAutoFit/>
          </a:bodyPr>
          <a:lstStyle/>
          <a:p>
            <a:pPr algn="ctr">
              <a:defRPr sz="1200" b="1">
                <a:solidFill>
                  <a:srgbClr val="F59E0B"/>
                </a:solidFill>
              </a:defRPr>
            </a:pPr>
            <a:r>
              <a:t>In Progress</a:t>
            </a:r>
          </a:p>
        </p:txBody>
      </p:sp>
      <p:sp>
        <p:nvSpPr>
          <p:cNvPr id="19" name="Rounded Rectangle 18"/>
          <p:cNvSpPr/>
          <p:nvPr/>
        </p:nvSpPr>
        <p:spPr>
          <a:xfrm>
            <a:off x="10881360" y="1645920"/>
            <a:ext cx="3200400" cy="1463040"/>
          </a:xfrm>
          <a:prstGeom prst="roundRect">
            <a:avLst/>
          </a:prstGeom>
          <a:solidFill>
            <a:srgbClr val="141C2D"/>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018520" y="1783080"/>
            <a:ext cx="2926080" cy="274320"/>
          </a:xfrm>
          <a:prstGeom prst="rect">
            <a:avLst/>
          </a:prstGeom>
          <a:noFill/>
        </p:spPr>
        <p:txBody>
          <a:bodyPr wrap="square">
            <a:spAutoFit/>
          </a:bodyPr>
          <a:lstStyle/>
          <a:p>
            <a:pPr algn="l">
              <a:defRPr sz="1400" b="1">
                <a:solidFill>
                  <a:srgbClr val="0284C7"/>
                </a:solidFill>
              </a:defRPr>
            </a:pPr>
            <a:r>
              <a:t>Week 7-8</a:t>
            </a:r>
          </a:p>
        </p:txBody>
      </p:sp>
      <p:sp>
        <p:nvSpPr>
          <p:cNvPr id="21" name="TextBox 20"/>
          <p:cNvSpPr txBox="1"/>
          <p:nvPr/>
        </p:nvSpPr>
        <p:spPr>
          <a:xfrm>
            <a:off x="11018520" y="2103120"/>
            <a:ext cx="2926080" cy="457200"/>
          </a:xfrm>
          <a:prstGeom prst="rect">
            <a:avLst/>
          </a:prstGeom>
          <a:noFill/>
        </p:spPr>
        <p:txBody>
          <a:bodyPr wrap="square">
            <a:spAutoFit/>
          </a:bodyPr>
          <a:lstStyle/>
          <a:p>
            <a:pPr algn="ctr">
              <a:defRPr sz="3200" b="1">
                <a:solidFill>
                  <a:srgbClr val="0284C7"/>
                </a:solidFill>
              </a:defRPr>
            </a:pPr>
            <a:r>
              <a:t>40%</a:t>
            </a:r>
          </a:p>
        </p:txBody>
      </p:sp>
      <p:sp>
        <p:nvSpPr>
          <p:cNvPr id="22" name="TextBox 21"/>
          <p:cNvSpPr txBox="1"/>
          <p:nvPr/>
        </p:nvSpPr>
        <p:spPr>
          <a:xfrm>
            <a:off x="11018520" y="2651760"/>
            <a:ext cx="2926080" cy="274320"/>
          </a:xfrm>
          <a:prstGeom prst="rect">
            <a:avLst/>
          </a:prstGeom>
          <a:noFill/>
        </p:spPr>
        <p:txBody>
          <a:bodyPr wrap="square">
            <a:spAutoFit/>
          </a:bodyPr>
          <a:lstStyle/>
          <a:p>
            <a:pPr algn="ctr">
              <a:defRPr sz="1100" b="0">
                <a:solidFill>
                  <a:srgbClr val="CBD5E1"/>
                </a:solidFill>
              </a:defRPr>
            </a:pPr>
            <a:r>
              <a:t>Integration &amp;</a:t>
            </a:r>
          </a:p>
          <a:p>
            <a:r>
              <a:t>Testing</a:t>
            </a:r>
          </a:p>
        </p:txBody>
      </p:sp>
      <p:sp>
        <p:nvSpPr>
          <p:cNvPr id="23" name="TextBox 22"/>
          <p:cNvSpPr txBox="1"/>
          <p:nvPr/>
        </p:nvSpPr>
        <p:spPr>
          <a:xfrm>
            <a:off x="10881360" y="3200400"/>
            <a:ext cx="3200400" cy="274320"/>
          </a:xfrm>
          <a:prstGeom prst="rect">
            <a:avLst/>
          </a:prstGeom>
          <a:noFill/>
        </p:spPr>
        <p:txBody>
          <a:bodyPr wrap="square">
            <a:spAutoFit/>
          </a:bodyPr>
          <a:lstStyle/>
          <a:p>
            <a:pPr algn="ctr">
              <a:defRPr sz="1200" b="1">
                <a:solidFill>
                  <a:srgbClr val="0284C7"/>
                </a:solidFill>
              </a:defRPr>
            </a:pPr>
            <a:r>
              <a:t>Started</a:t>
            </a:r>
          </a:p>
        </p:txBody>
      </p:sp>
      <p:sp>
        <p:nvSpPr>
          <p:cNvPr id="24" name="Rounded Rectangle 23"/>
          <p:cNvSpPr/>
          <p:nvPr/>
        </p:nvSpPr>
        <p:spPr>
          <a:xfrm>
            <a:off x="14264640" y="1645920"/>
            <a:ext cx="3200400" cy="1463040"/>
          </a:xfrm>
          <a:prstGeom prst="roundRect">
            <a:avLst/>
          </a:prstGeom>
          <a:solidFill>
            <a:srgbClr val="141C2D"/>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401800" y="1783080"/>
            <a:ext cx="2926080" cy="274320"/>
          </a:xfrm>
          <a:prstGeom prst="rect">
            <a:avLst/>
          </a:prstGeom>
          <a:noFill/>
        </p:spPr>
        <p:txBody>
          <a:bodyPr wrap="square">
            <a:spAutoFit/>
          </a:bodyPr>
          <a:lstStyle/>
          <a:p>
            <a:pPr algn="l">
              <a:defRPr sz="1400" b="1">
                <a:solidFill>
                  <a:srgbClr val="6366F1"/>
                </a:solidFill>
              </a:defRPr>
            </a:pPr>
            <a:r>
              <a:t>Week 9-10</a:t>
            </a:r>
          </a:p>
        </p:txBody>
      </p:sp>
      <p:sp>
        <p:nvSpPr>
          <p:cNvPr id="26" name="TextBox 25"/>
          <p:cNvSpPr txBox="1"/>
          <p:nvPr/>
        </p:nvSpPr>
        <p:spPr>
          <a:xfrm>
            <a:off x="14401800" y="2103120"/>
            <a:ext cx="2926080" cy="457200"/>
          </a:xfrm>
          <a:prstGeom prst="rect">
            <a:avLst/>
          </a:prstGeom>
          <a:noFill/>
        </p:spPr>
        <p:txBody>
          <a:bodyPr wrap="square">
            <a:spAutoFit/>
          </a:bodyPr>
          <a:lstStyle/>
          <a:p>
            <a:pPr algn="ctr">
              <a:defRPr sz="3200" b="1">
                <a:solidFill>
                  <a:srgbClr val="6366F1"/>
                </a:solidFill>
              </a:defRPr>
            </a:pPr>
            <a:r>
              <a:t>20%</a:t>
            </a:r>
          </a:p>
        </p:txBody>
      </p:sp>
      <p:sp>
        <p:nvSpPr>
          <p:cNvPr id="27" name="TextBox 26"/>
          <p:cNvSpPr txBox="1"/>
          <p:nvPr/>
        </p:nvSpPr>
        <p:spPr>
          <a:xfrm>
            <a:off x="14401800" y="2651760"/>
            <a:ext cx="2926080" cy="274320"/>
          </a:xfrm>
          <a:prstGeom prst="rect">
            <a:avLst/>
          </a:prstGeom>
          <a:noFill/>
        </p:spPr>
        <p:txBody>
          <a:bodyPr wrap="square">
            <a:spAutoFit/>
          </a:bodyPr>
          <a:lstStyle/>
          <a:p>
            <a:pPr algn="ctr">
              <a:defRPr sz="1100" b="0">
                <a:solidFill>
                  <a:srgbClr val="CBD5E1"/>
                </a:solidFill>
              </a:defRPr>
            </a:pPr>
            <a:r>
              <a:t>Documentation &amp;</a:t>
            </a:r>
          </a:p>
          <a:p>
            <a:r>
              <a:t>Final Delivery</a:t>
            </a:r>
          </a:p>
        </p:txBody>
      </p:sp>
      <p:sp>
        <p:nvSpPr>
          <p:cNvPr id="28" name="TextBox 27"/>
          <p:cNvSpPr txBox="1"/>
          <p:nvPr/>
        </p:nvSpPr>
        <p:spPr>
          <a:xfrm>
            <a:off x="14264640" y="3200400"/>
            <a:ext cx="3200400" cy="274320"/>
          </a:xfrm>
          <a:prstGeom prst="rect">
            <a:avLst/>
          </a:prstGeom>
          <a:noFill/>
        </p:spPr>
        <p:txBody>
          <a:bodyPr wrap="square">
            <a:spAutoFit/>
          </a:bodyPr>
          <a:lstStyle/>
          <a:p>
            <a:pPr algn="ctr">
              <a:defRPr sz="1200" b="1">
                <a:solidFill>
                  <a:srgbClr val="6366F1"/>
                </a:solidFill>
              </a:defRPr>
            </a:pPr>
            <a:r>
              <a:t>Planning</a:t>
            </a:r>
          </a:p>
        </p:txBody>
      </p:sp>
      <p:sp>
        <p:nvSpPr>
          <p:cNvPr id="29" name="TextBox 28"/>
          <p:cNvSpPr txBox="1"/>
          <p:nvPr/>
        </p:nvSpPr>
        <p:spPr>
          <a:xfrm>
            <a:off x="457200" y="3931920"/>
            <a:ext cx="8229600" cy="457200"/>
          </a:xfrm>
          <a:prstGeom prst="rect">
            <a:avLst/>
          </a:prstGeom>
          <a:noFill/>
        </p:spPr>
        <p:txBody>
          <a:bodyPr wrap="square">
            <a:spAutoFit/>
          </a:bodyPr>
          <a:lstStyle/>
          <a:p>
            <a:pPr algn="l">
              <a:defRPr sz="1800" b="1">
                <a:solidFill>
                  <a:srgbClr val="10B981"/>
                </a:solidFill>
              </a:defRPr>
            </a:pPr>
            <a:r>
              <a:t>✅ KEY ACHIEVEMENTS TO DATE</a:t>
            </a:r>
          </a:p>
        </p:txBody>
      </p:sp>
      <p:sp>
        <p:nvSpPr>
          <p:cNvPr id="30" name="TextBox 29"/>
          <p:cNvSpPr txBox="1"/>
          <p:nvPr/>
        </p:nvSpPr>
        <p:spPr>
          <a:xfrm>
            <a:off x="731520" y="4572000"/>
            <a:ext cx="7772400" cy="320040"/>
          </a:xfrm>
          <a:prstGeom prst="rect">
            <a:avLst/>
          </a:prstGeom>
          <a:noFill/>
        </p:spPr>
        <p:txBody>
          <a:bodyPr wrap="square">
            <a:spAutoFit/>
          </a:bodyPr>
          <a:lstStyle/>
          <a:p>
            <a:pPr algn="l">
              <a:defRPr sz="1400" b="0">
                <a:solidFill>
                  <a:srgbClr val="FFFFFF"/>
                </a:solidFill>
              </a:defRPr>
            </a:pPr>
            <a:r>
              <a:t>• Fully functional 7-page interactive dashboard deployed</a:t>
            </a:r>
          </a:p>
        </p:txBody>
      </p:sp>
      <p:sp>
        <p:nvSpPr>
          <p:cNvPr id="31" name="TextBox 30"/>
          <p:cNvSpPr txBox="1"/>
          <p:nvPr/>
        </p:nvSpPr>
        <p:spPr>
          <a:xfrm>
            <a:off x="731520" y="4937760"/>
            <a:ext cx="7772400" cy="320040"/>
          </a:xfrm>
          <a:prstGeom prst="rect">
            <a:avLst/>
          </a:prstGeom>
          <a:noFill/>
        </p:spPr>
        <p:txBody>
          <a:bodyPr wrap="square">
            <a:spAutoFit/>
          </a:bodyPr>
          <a:lstStyle/>
          <a:p>
            <a:pPr algn="l">
              <a:defRPr sz="1400" b="0">
                <a:solidFill>
                  <a:srgbClr val="FFFFFF"/>
                </a:solidFill>
              </a:defRPr>
            </a:pPr>
            <a:r>
              <a:t>• 5 forecasting models implemented (ARIMA scoring 42 series live)</a:t>
            </a:r>
          </a:p>
        </p:txBody>
      </p:sp>
      <p:sp>
        <p:nvSpPr>
          <p:cNvPr id="32" name="TextBox 31"/>
          <p:cNvSpPr txBox="1"/>
          <p:nvPr/>
        </p:nvSpPr>
        <p:spPr>
          <a:xfrm>
            <a:off x="731520" y="5303520"/>
            <a:ext cx="7772400" cy="320040"/>
          </a:xfrm>
          <a:prstGeom prst="rect">
            <a:avLst/>
          </a:prstGeom>
          <a:noFill/>
        </p:spPr>
        <p:txBody>
          <a:bodyPr wrap="square">
            <a:spAutoFit/>
          </a:bodyPr>
          <a:lstStyle/>
          <a:p>
            <a:pPr algn="l">
              <a:defRPr sz="1400" b="0">
                <a:solidFill>
                  <a:srgbClr val="FFFFFF"/>
                </a:solidFill>
              </a:defRPr>
            </a:pPr>
            <a:r>
              <a:t>• Data quality improved from 95% to 98.5% post-cleaning</a:t>
            </a:r>
          </a:p>
        </p:txBody>
      </p:sp>
      <p:sp>
        <p:nvSpPr>
          <p:cNvPr id="33" name="TextBox 32"/>
          <p:cNvSpPr txBox="1"/>
          <p:nvPr/>
        </p:nvSpPr>
        <p:spPr>
          <a:xfrm>
            <a:off x="731520" y="5669280"/>
            <a:ext cx="7772400" cy="320040"/>
          </a:xfrm>
          <a:prstGeom prst="rect">
            <a:avLst/>
          </a:prstGeom>
          <a:noFill/>
        </p:spPr>
        <p:txBody>
          <a:bodyPr wrap="square">
            <a:spAutoFit/>
          </a:bodyPr>
          <a:lstStyle/>
          <a:p>
            <a:pPr algn="l">
              <a:defRPr sz="1400" b="0">
                <a:solidFill>
                  <a:srgbClr val="FFFFFF"/>
                </a:solidFill>
              </a:defRPr>
            </a:pPr>
            <a:r>
              <a:t>• Executive-ready PDF/Excel report generation capability</a:t>
            </a:r>
          </a:p>
        </p:txBody>
      </p:sp>
      <p:sp>
        <p:nvSpPr>
          <p:cNvPr id="34" name="TextBox 33"/>
          <p:cNvSpPr txBox="1"/>
          <p:nvPr/>
        </p:nvSpPr>
        <p:spPr>
          <a:xfrm>
            <a:off x="731520" y="6035040"/>
            <a:ext cx="7772400" cy="320040"/>
          </a:xfrm>
          <a:prstGeom prst="rect">
            <a:avLst/>
          </a:prstGeom>
          <a:noFill/>
        </p:spPr>
        <p:txBody>
          <a:bodyPr wrap="square">
            <a:spAutoFit/>
          </a:bodyPr>
          <a:lstStyle/>
          <a:p>
            <a:pPr algn="l">
              <a:defRPr sz="1400" b="0">
                <a:solidFill>
                  <a:srgbClr val="FFFFFF"/>
                </a:solidFill>
              </a:defRPr>
            </a:pPr>
            <a:r>
              <a:t>• 82K+ records analyzed across 154 SKUs and 5 hubs</a:t>
            </a:r>
          </a:p>
        </p:txBody>
      </p:sp>
      <p:sp>
        <p:nvSpPr>
          <p:cNvPr id="35" name="TextBox 34"/>
          <p:cNvSpPr txBox="1"/>
          <p:nvPr/>
        </p:nvSpPr>
        <p:spPr>
          <a:xfrm>
            <a:off x="9601200" y="3931920"/>
            <a:ext cx="8229600" cy="457200"/>
          </a:xfrm>
          <a:prstGeom prst="rect">
            <a:avLst/>
          </a:prstGeom>
          <a:noFill/>
        </p:spPr>
        <p:txBody>
          <a:bodyPr wrap="square">
            <a:spAutoFit/>
          </a:bodyPr>
          <a:lstStyle/>
          <a:p>
            <a:pPr algn="l">
              <a:defRPr sz="1800" b="1">
                <a:solidFill>
                  <a:srgbClr val="F59E0B"/>
                </a:solidFill>
              </a:defRPr>
            </a:pPr>
            <a:r>
              <a:t>🎯 CURRENT SPRINT FOCUS</a:t>
            </a:r>
          </a:p>
        </p:txBody>
      </p:sp>
      <p:sp>
        <p:nvSpPr>
          <p:cNvPr id="36" name="TextBox 35"/>
          <p:cNvSpPr txBox="1"/>
          <p:nvPr/>
        </p:nvSpPr>
        <p:spPr>
          <a:xfrm>
            <a:off x="9875520" y="4572000"/>
            <a:ext cx="7772400" cy="320040"/>
          </a:xfrm>
          <a:prstGeom prst="rect">
            <a:avLst/>
          </a:prstGeom>
          <a:noFill/>
        </p:spPr>
        <p:txBody>
          <a:bodyPr wrap="square">
            <a:spAutoFit/>
          </a:bodyPr>
          <a:lstStyle/>
          <a:p>
            <a:pPr algn="l">
              <a:defRPr sz="1400" b="0">
                <a:solidFill>
                  <a:srgbClr val="FFFFFF"/>
                </a:solidFill>
              </a:defRPr>
            </a:pPr>
            <a:r>
              <a:t>• Complete ML model validation (Random Forest, Gradient Boosting)</a:t>
            </a:r>
          </a:p>
        </p:txBody>
      </p:sp>
      <p:sp>
        <p:nvSpPr>
          <p:cNvPr id="37" name="TextBox 36"/>
          <p:cNvSpPr txBox="1"/>
          <p:nvPr/>
        </p:nvSpPr>
        <p:spPr>
          <a:xfrm>
            <a:off x="9875520" y="4937760"/>
            <a:ext cx="7772400" cy="320040"/>
          </a:xfrm>
          <a:prstGeom prst="rect">
            <a:avLst/>
          </a:prstGeom>
          <a:noFill/>
        </p:spPr>
        <p:txBody>
          <a:bodyPr wrap="square">
            <a:spAutoFit/>
          </a:bodyPr>
          <a:lstStyle/>
          <a:p>
            <a:pPr algn="l">
              <a:defRPr sz="1400" b="0">
                <a:solidFill>
                  <a:srgbClr val="FFFFFF"/>
                </a:solidFill>
              </a:defRPr>
            </a:pPr>
            <a:r>
              <a:t>• Extend ARIMA coverage from 15 to 50+ SKUs</a:t>
            </a:r>
          </a:p>
        </p:txBody>
      </p:sp>
      <p:sp>
        <p:nvSpPr>
          <p:cNvPr id="38" name="TextBox 37"/>
          <p:cNvSpPr txBox="1"/>
          <p:nvPr/>
        </p:nvSpPr>
        <p:spPr>
          <a:xfrm>
            <a:off x="9875520" y="5303520"/>
            <a:ext cx="7772400" cy="320040"/>
          </a:xfrm>
          <a:prstGeom prst="rect">
            <a:avLst/>
          </a:prstGeom>
          <a:noFill/>
        </p:spPr>
        <p:txBody>
          <a:bodyPr wrap="square">
            <a:spAutoFit/>
          </a:bodyPr>
          <a:lstStyle/>
          <a:p>
            <a:pPr algn="l">
              <a:defRPr sz="1400" b="0">
                <a:solidFill>
                  <a:srgbClr val="FFFFFF"/>
                </a:solidFill>
              </a:defRPr>
            </a:pPr>
            <a:r>
              <a:t>• Benchmark SARIMA seasonal performance vs ARIMA</a:t>
            </a:r>
          </a:p>
        </p:txBody>
      </p:sp>
      <p:sp>
        <p:nvSpPr>
          <p:cNvPr id="39" name="TextBox 38"/>
          <p:cNvSpPr txBox="1"/>
          <p:nvPr/>
        </p:nvSpPr>
        <p:spPr>
          <a:xfrm>
            <a:off x="9875520" y="5669280"/>
            <a:ext cx="7772400" cy="320040"/>
          </a:xfrm>
          <a:prstGeom prst="rect">
            <a:avLst/>
          </a:prstGeom>
          <a:noFill/>
        </p:spPr>
        <p:txBody>
          <a:bodyPr wrap="square">
            <a:spAutoFit/>
          </a:bodyPr>
          <a:lstStyle/>
          <a:p>
            <a:pPr algn="l">
              <a:defRPr sz="1400" b="0">
                <a:solidFill>
                  <a:srgbClr val="FFFFFF"/>
                </a:solidFill>
              </a:defRPr>
            </a:pPr>
            <a:r>
              <a:t>• Build automated data refresh pipeline</a:t>
            </a:r>
          </a:p>
        </p:txBody>
      </p:sp>
      <p:sp>
        <p:nvSpPr>
          <p:cNvPr id="40" name="TextBox 39"/>
          <p:cNvSpPr txBox="1"/>
          <p:nvPr/>
        </p:nvSpPr>
        <p:spPr>
          <a:xfrm>
            <a:off x="9875520" y="6035040"/>
            <a:ext cx="7772400" cy="320040"/>
          </a:xfrm>
          <a:prstGeom prst="rect">
            <a:avLst/>
          </a:prstGeom>
          <a:noFill/>
        </p:spPr>
        <p:txBody>
          <a:bodyPr wrap="square">
            <a:spAutoFit/>
          </a:bodyPr>
          <a:lstStyle/>
          <a:p>
            <a:pPr algn="l">
              <a:defRPr sz="1400" b="0">
                <a:solidFill>
                  <a:srgbClr val="FFFFFF"/>
                </a:solidFill>
              </a:defRPr>
            </a:pPr>
            <a:r>
              <a:t>• Document model selection framework for production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7373600" cy="548640"/>
          </a:xfrm>
          <a:prstGeom prst="rect">
            <a:avLst/>
          </a:prstGeom>
          <a:noFill/>
        </p:spPr>
        <p:txBody>
          <a:bodyPr wrap="square">
            <a:spAutoFit/>
          </a:bodyPr>
          <a:lstStyle/>
          <a:p>
            <a:pPr algn="l">
              <a:defRPr sz="2800" b="1">
                <a:solidFill>
                  <a:srgbClr val="00E5FF"/>
                </a:solidFill>
              </a:defRPr>
            </a:pPr>
            <a:r>
              <a:t>13 — CHALLENGES &amp; LEARNINGS</a:t>
            </a:r>
          </a:p>
        </p:txBody>
      </p:sp>
      <p:sp>
        <p:nvSpPr>
          <p:cNvPr id="3" name="TextBox 2"/>
          <p:cNvSpPr txBox="1"/>
          <p:nvPr/>
        </p:nvSpPr>
        <p:spPr>
          <a:xfrm>
            <a:off x="457200" y="822960"/>
            <a:ext cx="17373600" cy="365760"/>
          </a:xfrm>
          <a:prstGeom prst="rect">
            <a:avLst/>
          </a:prstGeom>
          <a:noFill/>
        </p:spPr>
        <p:txBody>
          <a:bodyPr wrap="square">
            <a:spAutoFit/>
          </a:bodyPr>
          <a:lstStyle/>
          <a:p>
            <a:pPr algn="l">
              <a:defRPr sz="1600" b="0">
                <a:solidFill>
                  <a:srgbClr val="CBD5E1"/>
                </a:solidFill>
              </a:defRPr>
            </a:pPr>
            <a:r>
              <a:t>Real obstacles encountered and technical pivots that shaped the solution</a:t>
            </a:r>
          </a:p>
        </p:txBody>
      </p:sp>
      <p:sp>
        <p:nvSpPr>
          <p:cNvPr id="4" name="TextBox 3"/>
          <p:cNvSpPr txBox="1"/>
          <p:nvPr/>
        </p:nvSpPr>
        <p:spPr>
          <a:xfrm>
            <a:off x="457200" y="1645920"/>
            <a:ext cx="8229600" cy="548640"/>
          </a:xfrm>
          <a:prstGeom prst="rect">
            <a:avLst/>
          </a:prstGeom>
          <a:noFill/>
        </p:spPr>
        <p:txBody>
          <a:bodyPr wrap="square">
            <a:spAutoFit/>
          </a:bodyPr>
          <a:lstStyle/>
          <a:p>
            <a:pPr algn="l">
              <a:defRPr sz="2000" b="1">
                <a:solidFill>
                  <a:srgbClr val="F43F5E"/>
                </a:solidFill>
              </a:defRPr>
            </a:pPr>
            <a:r>
              <a:t>⚠️ KEY CHALLENGES FACED</a:t>
            </a:r>
          </a:p>
        </p:txBody>
      </p:sp>
      <p:sp>
        <p:nvSpPr>
          <p:cNvPr id="5" name="Rounded Rectangle 4"/>
          <p:cNvSpPr/>
          <p:nvPr/>
        </p:nvSpPr>
        <p:spPr>
          <a:xfrm>
            <a:off x="457200" y="2377440"/>
            <a:ext cx="8229600" cy="1005840"/>
          </a:xfrm>
          <a:prstGeom prst="roundRect">
            <a:avLst/>
          </a:prstGeom>
          <a:solidFill>
            <a:srgbClr val="1E1414"/>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514600"/>
            <a:ext cx="7772400" cy="274320"/>
          </a:xfrm>
          <a:prstGeom prst="rect">
            <a:avLst/>
          </a:prstGeom>
          <a:noFill/>
        </p:spPr>
        <p:txBody>
          <a:bodyPr wrap="square">
            <a:spAutoFit/>
          </a:bodyPr>
          <a:lstStyle/>
          <a:p>
            <a:pPr algn="l">
              <a:defRPr sz="1400" b="1">
                <a:solidFill>
                  <a:srgbClr val="F43F5E"/>
                </a:solidFill>
              </a:defRPr>
            </a:pPr>
            <a:r>
              <a:t>📊 Data Gap</a:t>
            </a:r>
          </a:p>
        </p:txBody>
      </p:sp>
      <p:sp>
        <p:nvSpPr>
          <p:cNvPr id="7" name="TextBox 6"/>
          <p:cNvSpPr txBox="1"/>
          <p:nvPr/>
        </p:nvSpPr>
        <p:spPr>
          <a:xfrm>
            <a:off x="640080" y="2788920"/>
            <a:ext cx="7772400" cy="228600"/>
          </a:xfrm>
          <a:prstGeom prst="rect">
            <a:avLst/>
          </a:prstGeom>
          <a:noFill/>
        </p:spPr>
        <p:txBody>
          <a:bodyPr wrap="square">
            <a:spAutoFit/>
          </a:bodyPr>
          <a:lstStyle/>
          <a:p>
            <a:pPr algn="l">
              <a:defRPr sz="1200" b="0">
                <a:solidFill>
                  <a:srgbClr val="FFC8C8"/>
                </a:solidFill>
              </a:defRPr>
            </a:pPr>
            <a:r>
              <a:t>28.77% structural gap in Q1 FY24-25</a:t>
            </a:r>
          </a:p>
        </p:txBody>
      </p:sp>
      <p:sp>
        <p:nvSpPr>
          <p:cNvPr id="8" name="TextBox 7"/>
          <p:cNvSpPr txBox="1"/>
          <p:nvPr/>
        </p:nvSpPr>
        <p:spPr>
          <a:xfrm>
            <a:off x="640080" y="3035808"/>
            <a:ext cx="7772400" cy="228600"/>
          </a:xfrm>
          <a:prstGeom prst="rect">
            <a:avLst/>
          </a:prstGeom>
          <a:noFill/>
        </p:spPr>
        <p:txBody>
          <a:bodyPr wrap="square">
            <a:spAutoFit/>
          </a:bodyPr>
          <a:lstStyle/>
          <a:p>
            <a:pPr algn="l">
              <a:defRPr sz="1100" b="0">
                <a:solidFill>
                  <a:srgbClr val="CBD5E1"/>
                </a:solidFill>
              </a:defRPr>
            </a:pPr>
            <a:r>
              <a:t>Limited historical window for model training</a:t>
            </a:r>
          </a:p>
        </p:txBody>
      </p:sp>
      <p:sp>
        <p:nvSpPr>
          <p:cNvPr id="9" name="Rounded Rectangle 8"/>
          <p:cNvSpPr/>
          <p:nvPr/>
        </p:nvSpPr>
        <p:spPr>
          <a:xfrm>
            <a:off x="457200" y="3566160"/>
            <a:ext cx="8229600" cy="1005840"/>
          </a:xfrm>
          <a:prstGeom prst="roundRect">
            <a:avLst/>
          </a:prstGeom>
          <a:solidFill>
            <a:srgbClr val="1E1414"/>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703320"/>
            <a:ext cx="7772400" cy="274320"/>
          </a:xfrm>
          <a:prstGeom prst="rect">
            <a:avLst/>
          </a:prstGeom>
          <a:noFill/>
        </p:spPr>
        <p:txBody>
          <a:bodyPr wrap="square">
            <a:spAutoFit/>
          </a:bodyPr>
          <a:lstStyle/>
          <a:p>
            <a:pPr algn="l">
              <a:defRPr sz="1400" b="1">
                <a:solidFill>
                  <a:srgbClr val="F43F5E"/>
                </a:solidFill>
              </a:defRPr>
            </a:pPr>
            <a:r>
              <a:t>📈 Lumpy Demand</a:t>
            </a:r>
          </a:p>
        </p:txBody>
      </p:sp>
      <p:sp>
        <p:nvSpPr>
          <p:cNvPr id="11" name="TextBox 10"/>
          <p:cNvSpPr txBox="1"/>
          <p:nvPr/>
        </p:nvSpPr>
        <p:spPr>
          <a:xfrm>
            <a:off x="640080" y="3977640"/>
            <a:ext cx="7772400" cy="228600"/>
          </a:xfrm>
          <a:prstGeom prst="rect">
            <a:avLst/>
          </a:prstGeom>
          <a:noFill/>
        </p:spPr>
        <p:txBody>
          <a:bodyPr wrap="square">
            <a:spAutoFit/>
          </a:bodyPr>
          <a:lstStyle/>
          <a:p>
            <a:pPr algn="l">
              <a:defRPr sz="1200" b="0">
                <a:solidFill>
                  <a:srgbClr val="FFC8C8"/>
                </a:solidFill>
              </a:defRPr>
            </a:pPr>
            <a:r>
              <a:t>70% of SKUs classified as lumpy demand</a:t>
            </a:r>
          </a:p>
        </p:txBody>
      </p:sp>
      <p:sp>
        <p:nvSpPr>
          <p:cNvPr id="12" name="TextBox 11"/>
          <p:cNvSpPr txBox="1"/>
          <p:nvPr/>
        </p:nvSpPr>
        <p:spPr>
          <a:xfrm>
            <a:off x="640080" y="4224528"/>
            <a:ext cx="7772400" cy="228600"/>
          </a:xfrm>
          <a:prstGeom prst="rect">
            <a:avLst/>
          </a:prstGeom>
          <a:noFill/>
        </p:spPr>
        <p:txBody>
          <a:bodyPr wrap="square">
            <a:spAutoFit/>
          </a:bodyPr>
          <a:lstStyle/>
          <a:p>
            <a:pPr algn="l">
              <a:defRPr sz="1100" b="0">
                <a:solidFill>
                  <a:srgbClr val="CBD5E1"/>
                </a:solidFill>
              </a:defRPr>
            </a:pPr>
            <a:r>
              <a:t>Ruled out standard exponential smoothing methods</a:t>
            </a:r>
          </a:p>
        </p:txBody>
      </p:sp>
      <p:sp>
        <p:nvSpPr>
          <p:cNvPr id="13" name="Rounded Rectangle 12"/>
          <p:cNvSpPr/>
          <p:nvPr/>
        </p:nvSpPr>
        <p:spPr>
          <a:xfrm>
            <a:off x="457200" y="4754880"/>
            <a:ext cx="8229600" cy="1005840"/>
          </a:xfrm>
          <a:prstGeom prst="roundRect">
            <a:avLst/>
          </a:prstGeom>
          <a:solidFill>
            <a:srgbClr val="1E1414"/>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892040"/>
            <a:ext cx="7772400" cy="274320"/>
          </a:xfrm>
          <a:prstGeom prst="rect">
            <a:avLst/>
          </a:prstGeom>
          <a:noFill/>
        </p:spPr>
        <p:txBody>
          <a:bodyPr wrap="square">
            <a:spAutoFit/>
          </a:bodyPr>
          <a:lstStyle/>
          <a:p>
            <a:pPr algn="l">
              <a:defRPr sz="1400" b="1">
                <a:solidFill>
                  <a:srgbClr val="F43F5E"/>
                </a:solidFill>
              </a:defRPr>
            </a:pPr>
            <a:r>
              <a:t>🔄 Model Complexity</a:t>
            </a:r>
          </a:p>
        </p:txBody>
      </p:sp>
      <p:sp>
        <p:nvSpPr>
          <p:cNvPr id="15" name="TextBox 14"/>
          <p:cNvSpPr txBox="1"/>
          <p:nvPr/>
        </p:nvSpPr>
        <p:spPr>
          <a:xfrm>
            <a:off x="640080" y="5166360"/>
            <a:ext cx="7772400" cy="228600"/>
          </a:xfrm>
          <a:prstGeom prst="rect">
            <a:avLst/>
          </a:prstGeom>
          <a:noFill/>
        </p:spPr>
        <p:txBody>
          <a:bodyPr wrap="square">
            <a:spAutoFit/>
          </a:bodyPr>
          <a:lstStyle/>
          <a:p>
            <a:pPr algn="l">
              <a:defRPr sz="1200" b="0">
                <a:solidFill>
                  <a:srgbClr val="FFC8C8"/>
                </a:solidFill>
              </a:defRPr>
            </a:pPr>
            <a:r>
              <a:t>No one-size-fits-all forecasting approach</a:t>
            </a:r>
          </a:p>
        </p:txBody>
      </p:sp>
      <p:sp>
        <p:nvSpPr>
          <p:cNvPr id="16" name="TextBox 15"/>
          <p:cNvSpPr txBox="1"/>
          <p:nvPr/>
        </p:nvSpPr>
        <p:spPr>
          <a:xfrm>
            <a:off x="640080" y="5413248"/>
            <a:ext cx="7772400" cy="228600"/>
          </a:xfrm>
          <a:prstGeom prst="rect">
            <a:avLst/>
          </a:prstGeom>
          <a:noFill/>
        </p:spPr>
        <p:txBody>
          <a:bodyPr wrap="square">
            <a:spAutoFit/>
          </a:bodyPr>
          <a:lstStyle/>
          <a:p>
            <a:pPr algn="l">
              <a:defRPr sz="1100" b="0">
                <a:solidFill>
                  <a:srgbClr val="CBD5E1"/>
                </a:solidFill>
              </a:defRPr>
            </a:pPr>
            <a:r>
              <a:t>Required implementing 5 distinct model types</a:t>
            </a:r>
          </a:p>
        </p:txBody>
      </p:sp>
      <p:sp>
        <p:nvSpPr>
          <p:cNvPr id="17" name="Rounded Rectangle 16"/>
          <p:cNvSpPr/>
          <p:nvPr/>
        </p:nvSpPr>
        <p:spPr>
          <a:xfrm>
            <a:off x="457200" y="5943600"/>
            <a:ext cx="8229600" cy="1005840"/>
          </a:xfrm>
          <a:prstGeom prst="roundRect">
            <a:avLst/>
          </a:prstGeom>
          <a:solidFill>
            <a:srgbClr val="1E1414"/>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080760"/>
            <a:ext cx="7772400" cy="274320"/>
          </a:xfrm>
          <a:prstGeom prst="rect">
            <a:avLst/>
          </a:prstGeom>
          <a:noFill/>
        </p:spPr>
        <p:txBody>
          <a:bodyPr wrap="square">
            <a:spAutoFit/>
          </a:bodyPr>
          <a:lstStyle/>
          <a:p>
            <a:pPr algn="l">
              <a:defRPr sz="1400" b="1">
                <a:solidFill>
                  <a:srgbClr val="F43F5E"/>
                </a:solidFill>
              </a:defRPr>
            </a:pPr>
            <a:r>
              <a:t>⚡ Performance</a:t>
            </a:r>
          </a:p>
        </p:txBody>
      </p:sp>
      <p:sp>
        <p:nvSpPr>
          <p:cNvPr id="19" name="TextBox 18"/>
          <p:cNvSpPr txBox="1"/>
          <p:nvPr/>
        </p:nvSpPr>
        <p:spPr>
          <a:xfrm>
            <a:off x="640080" y="6355080"/>
            <a:ext cx="7772400" cy="228600"/>
          </a:xfrm>
          <a:prstGeom prst="rect">
            <a:avLst/>
          </a:prstGeom>
          <a:noFill/>
        </p:spPr>
        <p:txBody>
          <a:bodyPr wrap="square">
            <a:spAutoFit/>
          </a:bodyPr>
          <a:lstStyle/>
          <a:p>
            <a:pPr algn="l">
              <a:defRPr sz="1200" b="0">
                <a:solidFill>
                  <a:srgbClr val="FFC8C8"/>
                </a:solidFill>
              </a:defRPr>
            </a:pPr>
            <a:r>
              <a:t>Large dataset (82K records) with real-time UI</a:t>
            </a:r>
          </a:p>
        </p:txBody>
      </p:sp>
      <p:sp>
        <p:nvSpPr>
          <p:cNvPr id="20" name="TextBox 19"/>
          <p:cNvSpPr txBox="1"/>
          <p:nvPr/>
        </p:nvSpPr>
        <p:spPr>
          <a:xfrm>
            <a:off x="640080" y="6601968"/>
            <a:ext cx="7772400" cy="228600"/>
          </a:xfrm>
          <a:prstGeom prst="rect">
            <a:avLst/>
          </a:prstGeom>
          <a:noFill/>
        </p:spPr>
        <p:txBody>
          <a:bodyPr wrap="square">
            <a:spAutoFit/>
          </a:bodyPr>
          <a:lstStyle/>
          <a:p>
            <a:pPr algn="l">
              <a:defRPr sz="1100" b="0">
                <a:solidFill>
                  <a:srgbClr val="CBD5E1"/>
                </a:solidFill>
              </a:defRPr>
            </a:pPr>
            <a:r>
              <a:t>Needed caching and optimization strategies</a:t>
            </a:r>
          </a:p>
        </p:txBody>
      </p:sp>
      <p:sp>
        <p:nvSpPr>
          <p:cNvPr id="21" name="Rounded Rectangle 20"/>
          <p:cNvSpPr/>
          <p:nvPr/>
        </p:nvSpPr>
        <p:spPr>
          <a:xfrm>
            <a:off x="457200" y="7132320"/>
            <a:ext cx="8229600" cy="1005840"/>
          </a:xfrm>
          <a:prstGeom prst="roundRect">
            <a:avLst/>
          </a:prstGeom>
          <a:solidFill>
            <a:srgbClr val="1E1414"/>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7269480"/>
            <a:ext cx="7772400" cy="274320"/>
          </a:xfrm>
          <a:prstGeom prst="rect">
            <a:avLst/>
          </a:prstGeom>
          <a:noFill/>
        </p:spPr>
        <p:txBody>
          <a:bodyPr wrap="square">
            <a:spAutoFit/>
          </a:bodyPr>
          <a:lstStyle/>
          <a:p>
            <a:pPr algn="l">
              <a:defRPr sz="1400" b="1">
                <a:solidFill>
                  <a:srgbClr val="F43F5E"/>
                </a:solidFill>
              </a:defRPr>
            </a:pPr>
            <a:r>
              <a:t>🎯 Validation Design</a:t>
            </a:r>
          </a:p>
        </p:txBody>
      </p:sp>
      <p:sp>
        <p:nvSpPr>
          <p:cNvPr id="23" name="TextBox 22"/>
          <p:cNvSpPr txBox="1"/>
          <p:nvPr/>
        </p:nvSpPr>
        <p:spPr>
          <a:xfrm>
            <a:off x="640080" y="7543800"/>
            <a:ext cx="7772400" cy="228600"/>
          </a:xfrm>
          <a:prstGeom prst="rect">
            <a:avLst/>
          </a:prstGeom>
          <a:noFill/>
        </p:spPr>
        <p:txBody>
          <a:bodyPr wrap="square">
            <a:spAutoFit/>
          </a:bodyPr>
          <a:lstStyle/>
          <a:p>
            <a:pPr algn="l">
              <a:defRPr sz="1200" b="0">
                <a:solidFill>
                  <a:srgbClr val="FFC8C8"/>
                </a:solidFill>
              </a:defRPr>
            </a:pPr>
            <a:r>
              <a:t>Intermittent demand made accuracy metrics tricky</a:t>
            </a:r>
          </a:p>
        </p:txBody>
      </p:sp>
      <p:sp>
        <p:nvSpPr>
          <p:cNvPr id="24" name="TextBox 23"/>
          <p:cNvSpPr txBox="1"/>
          <p:nvPr/>
        </p:nvSpPr>
        <p:spPr>
          <a:xfrm>
            <a:off x="640080" y="7790688"/>
            <a:ext cx="7772400" cy="228600"/>
          </a:xfrm>
          <a:prstGeom prst="rect">
            <a:avLst/>
          </a:prstGeom>
          <a:noFill/>
        </p:spPr>
        <p:txBody>
          <a:bodyPr wrap="square">
            <a:spAutoFit/>
          </a:bodyPr>
          <a:lstStyle/>
          <a:p>
            <a:pPr algn="l">
              <a:defRPr sz="1100" b="0">
                <a:solidFill>
                  <a:srgbClr val="CBD5E1"/>
                </a:solidFill>
              </a:defRPr>
            </a:pPr>
            <a:r>
              <a:t>Had to balance MAE, RMSE, MAPE meaningfully</a:t>
            </a:r>
          </a:p>
        </p:txBody>
      </p:sp>
      <p:sp>
        <p:nvSpPr>
          <p:cNvPr id="25" name="TextBox 24"/>
          <p:cNvSpPr txBox="1"/>
          <p:nvPr/>
        </p:nvSpPr>
        <p:spPr>
          <a:xfrm>
            <a:off x="9601200" y="1645920"/>
            <a:ext cx="8229600" cy="548640"/>
          </a:xfrm>
          <a:prstGeom prst="rect">
            <a:avLst/>
          </a:prstGeom>
          <a:noFill/>
        </p:spPr>
        <p:txBody>
          <a:bodyPr wrap="square">
            <a:spAutoFit/>
          </a:bodyPr>
          <a:lstStyle/>
          <a:p>
            <a:pPr algn="l">
              <a:defRPr sz="2000" b="1">
                <a:solidFill>
                  <a:srgbClr val="10B981"/>
                </a:solidFill>
              </a:defRPr>
            </a:pPr>
            <a:r>
              <a:t>💡 KEY LEARNINGS &amp; SOLUTIONS</a:t>
            </a:r>
          </a:p>
        </p:txBody>
      </p:sp>
      <p:sp>
        <p:nvSpPr>
          <p:cNvPr id="26" name="Rounded Rectangle 25"/>
          <p:cNvSpPr/>
          <p:nvPr/>
        </p:nvSpPr>
        <p:spPr>
          <a:xfrm>
            <a:off x="9601200" y="2377440"/>
            <a:ext cx="8229600" cy="1005840"/>
          </a:xfrm>
          <a:prstGeom prst="roundRect">
            <a:avLst/>
          </a:prstGeom>
          <a:solidFill>
            <a:srgbClr val="0F1E1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0" y="2514600"/>
            <a:ext cx="7772400" cy="274320"/>
          </a:xfrm>
          <a:prstGeom prst="rect">
            <a:avLst/>
          </a:prstGeom>
          <a:noFill/>
        </p:spPr>
        <p:txBody>
          <a:bodyPr wrap="square">
            <a:spAutoFit/>
          </a:bodyPr>
          <a:lstStyle/>
          <a:p>
            <a:pPr algn="l">
              <a:defRPr sz="1400" b="1">
                <a:solidFill>
                  <a:srgbClr val="10B981"/>
                </a:solidFill>
              </a:defRPr>
            </a:pPr>
            <a:r>
              <a:t>🔧 Hybrid Approach</a:t>
            </a:r>
          </a:p>
        </p:txBody>
      </p:sp>
      <p:sp>
        <p:nvSpPr>
          <p:cNvPr id="28" name="TextBox 27"/>
          <p:cNvSpPr txBox="1"/>
          <p:nvPr/>
        </p:nvSpPr>
        <p:spPr>
          <a:xfrm>
            <a:off x="9784080" y="2788920"/>
            <a:ext cx="7772400" cy="228600"/>
          </a:xfrm>
          <a:prstGeom prst="rect">
            <a:avLst/>
          </a:prstGeom>
          <a:noFill/>
        </p:spPr>
        <p:txBody>
          <a:bodyPr wrap="square">
            <a:spAutoFit/>
          </a:bodyPr>
          <a:lstStyle/>
          <a:p>
            <a:pPr algn="l">
              <a:defRPr sz="1200" b="0">
                <a:solidFill>
                  <a:srgbClr val="C8FFC8"/>
                </a:solidFill>
              </a:defRPr>
            </a:pPr>
            <a:r>
              <a:t>Built both statistical and ML tracks in parallel</a:t>
            </a:r>
          </a:p>
        </p:txBody>
      </p:sp>
      <p:sp>
        <p:nvSpPr>
          <p:cNvPr id="29" name="TextBox 28"/>
          <p:cNvSpPr txBox="1"/>
          <p:nvPr/>
        </p:nvSpPr>
        <p:spPr>
          <a:xfrm>
            <a:off x="9784080" y="3035808"/>
            <a:ext cx="7772400" cy="228600"/>
          </a:xfrm>
          <a:prstGeom prst="rect">
            <a:avLst/>
          </a:prstGeom>
          <a:noFill/>
        </p:spPr>
        <p:txBody>
          <a:bodyPr wrap="square">
            <a:spAutoFit/>
          </a:bodyPr>
          <a:lstStyle/>
          <a:p>
            <a:pPr algn="l">
              <a:defRPr sz="1100" b="0">
                <a:solidFill>
                  <a:srgbClr val="CBD5E1"/>
                </a:solidFill>
              </a:defRPr>
            </a:pPr>
            <a:r>
              <a:t>Let the data decide which model performs better per SKU</a:t>
            </a:r>
          </a:p>
        </p:txBody>
      </p:sp>
      <p:sp>
        <p:nvSpPr>
          <p:cNvPr id="30" name="Rounded Rectangle 29"/>
          <p:cNvSpPr/>
          <p:nvPr/>
        </p:nvSpPr>
        <p:spPr>
          <a:xfrm>
            <a:off x="9601200" y="3566160"/>
            <a:ext cx="8229600" cy="1005840"/>
          </a:xfrm>
          <a:prstGeom prst="roundRect">
            <a:avLst/>
          </a:prstGeom>
          <a:solidFill>
            <a:srgbClr val="0F1E1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84080" y="3703320"/>
            <a:ext cx="7772400" cy="274320"/>
          </a:xfrm>
          <a:prstGeom prst="rect">
            <a:avLst/>
          </a:prstGeom>
          <a:noFill/>
        </p:spPr>
        <p:txBody>
          <a:bodyPr wrap="square">
            <a:spAutoFit/>
          </a:bodyPr>
          <a:lstStyle/>
          <a:p>
            <a:pPr algn="l">
              <a:defRPr sz="1400" b="1">
                <a:solidFill>
                  <a:srgbClr val="10B981"/>
                </a:solidFill>
              </a:defRPr>
            </a:pPr>
            <a:r>
              <a:t>📊 Syntetos-Boylan Classification</a:t>
            </a:r>
          </a:p>
        </p:txBody>
      </p:sp>
      <p:sp>
        <p:nvSpPr>
          <p:cNvPr id="32" name="TextBox 31"/>
          <p:cNvSpPr txBox="1"/>
          <p:nvPr/>
        </p:nvSpPr>
        <p:spPr>
          <a:xfrm>
            <a:off x="9784080" y="3977640"/>
            <a:ext cx="7772400" cy="228600"/>
          </a:xfrm>
          <a:prstGeom prst="rect">
            <a:avLst/>
          </a:prstGeom>
          <a:noFill/>
        </p:spPr>
        <p:txBody>
          <a:bodyPr wrap="square">
            <a:spAutoFit/>
          </a:bodyPr>
          <a:lstStyle/>
          <a:p>
            <a:pPr algn="l">
              <a:defRPr sz="1200" b="0">
                <a:solidFill>
                  <a:srgbClr val="C8FFC8"/>
                </a:solidFill>
              </a:defRPr>
            </a:pPr>
            <a:r>
              <a:t>Applied demand classification before model selection</a:t>
            </a:r>
          </a:p>
        </p:txBody>
      </p:sp>
      <p:sp>
        <p:nvSpPr>
          <p:cNvPr id="33" name="TextBox 32"/>
          <p:cNvSpPr txBox="1"/>
          <p:nvPr/>
        </p:nvSpPr>
        <p:spPr>
          <a:xfrm>
            <a:off x="9784080" y="4224528"/>
            <a:ext cx="7772400" cy="228600"/>
          </a:xfrm>
          <a:prstGeom prst="rect">
            <a:avLst/>
          </a:prstGeom>
          <a:noFill/>
        </p:spPr>
        <p:txBody>
          <a:bodyPr wrap="square">
            <a:spAutoFit/>
          </a:bodyPr>
          <a:lstStyle/>
          <a:p>
            <a:pPr algn="l">
              <a:defRPr sz="1100" b="0">
                <a:solidFill>
                  <a:srgbClr val="CBD5E1"/>
                </a:solidFill>
              </a:defRPr>
            </a:pPr>
            <a:r>
              <a:t>Matched intermittent-demand methods to lumpy SKUs</a:t>
            </a:r>
          </a:p>
        </p:txBody>
      </p:sp>
      <p:sp>
        <p:nvSpPr>
          <p:cNvPr id="34" name="Rounded Rectangle 33"/>
          <p:cNvSpPr/>
          <p:nvPr/>
        </p:nvSpPr>
        <p:spPr>
          <a:xfrm>
            <a:off x="9601200" y="4754880"/>
            <a:ext cx="8229600" cy="1005840"/>
          </a:xfrm>
          <a:prstGeom prst="roundRect">
            <a:avLst/>
          </a:prstGeom>
          <a:solidFill>
            <a:srgbClr val="0F1E1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4892040"/>
            <a:ext cx="7772400" cy="274320"/>
          </a:xfrm>
          <a:prstGeom prst="rect">
            <a:avLst/>
          </a:prstGeom>
          <a:noFill/>
        </p:spPr>
        <p:txBody>
          <a:bodyPr wrap="square">
            <a:spAutoFit/>
          </a:bodyPr>
          <a:lstStyle/>
          <a:p>
            <a:pPr algn="l">
              <a:defRPr sz="1400" b="1">
                <a:solidFill>
                  <a:srgbClr val="10B981"/>
                </a:solidFill>
              </a:defRPr>
            </a:pPr>
            <a:r>
              <a:t>⚡ Modular Architecture</a:t>
            </a:r>
          </a:p>
        </p:txBody>
      </p:sp>
      <p:sp>
        <p:nvSpPr>
          <p:cNvPr id="36" name="TextBox 35"/>
          <p:cNvSpPr txBox="1"/>
          <p:nvPr/>
        </p:nvSpPr>
        <p:spPr>
          <a:xfrm>
            <a:off x="9784080" y="5166360"/>
            <a:ext cx="7772400" cy="228600"/>
          </a:xfrm>
          <a:prstGeom prst="rect">
            <a:avLst/>
          </a:prstGeom>
          <a:noFill/>
        </p:spPr>
        <p:txBody>
          <a:bodyPr wrap="square">
            <a:spAutoFit/>
          </a:bodyPr>
          <a:lstStyle/>
          <a:p>
            <a:pPr algn="l">
              <a:defRPr sz="1200" b="0">
                <a:solidFill>
                  <a:srgbClr val="C8FFC8"/>
                </a:solidFill>
              </a:defRPr>
            </a:pPr>
            <a:r>
              <a:t>Separated EDA, cleaning, and forecasting modules</a:t>
            </a:r>
          </a:p>
        </p:txBody>
      </p:sp>
      <p:sp>
        <p:nvSpPr>
          <p:cNvPr id="37" name="TextBox 36"/>
          <p:cNvSpPr txBox="1"/>
          <p:nvPr/>
        </p:nvSpPr>
        <p:spPr>
          <a:xfrm>
            <a:off x="9784080" y="5413248"/>
            <a:ext cx="7772400" cy="228600"/>
          </a:xfrm>
          <a:prstGeom prst="rect">
            <a:avLst/>
          </a:prstGeom>
          <a:noFill/>
        </p:spPr>
        <p:txBody>
          <a:bodyPr wrap="square">
            <a:spAutoFit/>
          </a:bodyPr>
          <a:lstStyle/>
          <a:p>
            <a:pPr algn="l">
              <a:defRPr sz="1100" b="0">
                <a:solidFill>
                  <a:srgbClr val="CBD5E1"/>
                </a:solidFill>
              </a:defRPr>
            </a:pPr>
            <a:r>
              <a:t>Dashboard can run independently of model updates</a:t>
            </a:r>
          </a:p>
        </p:txBody>
      </p:sp>
      <p:sp>
        <p:nvSpPr>
          <p:cNvPr id="38" name="Rounded Rectangle 37"/>
          <p:cNvSpPr/>
          <p:nvPr/>
        </p:nvSpPr>
        <p:spPr>
          <a:xfrm>
            <a:off x="9601200" y="5943600"/>
            <a:ext cx="8229600" cy="1005840"/>
          </a:xfrm>
          <a:prstGeom prst="roundRect">
            <a:avLst/>
          </a:prstGeom>
          <a:solidFill>
            <a:srgbClr val="0F1E1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84080" y="6080760"/>
            <a:ext cx="7772400" cy="274320"/>
          </a:xfrm>
          <a:prstGeom prst="rect">
            <a:avLst/>
          </a:prstGeom>
          <a:noFill/>
        </p:spPr>
        <p:txBody>
          <a:bodyPr wrap="square">
            <a:spAutoFit/>
          </a:bodyPr>
          <a:lstStyle/>
          <a:p>
            <a:pPr algn="l">
              <a:defRPr sz="1400" b="1">
                <a:solidFill>
                  <a:srgbClr val="10B981"/>
                </a:solidFill>
              </a:defRPr>
            </a:pPr>
            <a:r>
              <a:t>🎯 Interactive Validation</a:t>
            </a:r>
          </a:p>
        </p:txBody>
      </p:sp>
      <p:sp>
        <p:nvSpPr>
          <p:cNvPr id="40" name="TextBox 39"/>
          <p:cNvSpPr txBox="1"/>
          <p:nvPr/>
        </p:nvSpPr>
        <p:spPr>
          <a:xfrm>
            <a:off x="9784080" y="6355080"/>
            <a:ext cx="7772400" cy="228600"/>
          </a:xfrm>
          <a:prstGeom prst="rect">
            <a:avLst/>
          </a:prstGeom>
          <a:noFill/>
        </p:spPr>
        <p:txBody>
          <a:bodyPr wrap="square">
            <a:spAutoFit/>
          </a:bodyPr>
          <a:lstStyle/>
          <a:p>
            <a:pPr algn="l">
              <a:defRPr sz="1200" b="0">
                <a:solidFill>
                  <a:srgbClr val="C8FFC8"/>
                </a:solidFill>
              </a:defRPr>
            </a:pPr>
            <a:r>
              <a:t>Built live performance metrics into the dashboard</a:t>
            </a:r>
          </a:p>
        </p:txBody>
      </p:sp>
      <p:sp>
        <p:nvSpPr>
          <p:cNvPr id="41" name="TextBox 40"/>
          <p:cNvSpPr txBox="1"/>
          <p:nvPr/>
        </p:nvSpPr>
        <p:spPr>
          <a:xfrm>
            <a:off x="9784080" y="6601968"/>
            <a:ext cx="7772400" cy="228600"/>
          </a:xfrm>
          <a:prstGeom prst="rect">
            <a:avLst/>
          </a:prstGeom>
          <a:noFill/>
        </p:spPr>
        <p:txBody>
          <a:bodyPr wrap="square">
            <a:spAutoFit/>
          </a:bodyPr>
          <a:lstStyle/>
          <a:p>
            <a:pPr algn="l">
              <a:defRPr sz="1100" b="0">
                <a:solidFill>
                  <a:srgbClr val="CBD5E1"/>
                </a:solidFill>
              </a:defRPr>
            </a:pPr>
            <a:r>
              <a:t>Users can compare models and adjust confidence intervals</a:t>
            </a:r>
          </a:p>
        </p:txBody>
      </p:sp>
      <p:sp>
        <p:nvSpPr>
          <p:cNvPr id="42" name="Rounded Rectangle 41"/>
          <p:cNvSpPr/>
          <p:nvPr/>
        </p:nvSpPr>
        <p:spPr>
          <a:xfrm>
            <a:off x="9601200" y="7132320"/>
            <a:ext cx="8229600" cy="1005840"/>
          </a:xfrm>
          <a:prstGeom prst="roundRect">
            <a:avLst/>
          </a:prstGeom>
          <a:solidFill>
            <a:srgbClr val="0F1E1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84080" y="7269480"/>
            <a:ext cx="7772400" cy="274320"/>
          </a:xfrm>
          <a:prstGeom prst="rect">
            <a:avLst/>
          </a:prstGeom>
          <a:noFill/>
        </p:spPr>
        <p:txBody>
          <a:bodyPr wrap="square">
            <a:spAutoFit/>
          </a:bodyPr>
          <a:lstStyle/>
          <a:p>
            <a:pPr algn="l">
              <a:defRPr sz="1400" b="1">
                <a:solidFill>
                  <a:srgbClr val="10B981"/>
                </a:solidFill>
              </a:defRPr>
            </a:pPr>
            <a:r>
              <a:t>📄 Documentation First</a:t>
            </a:r>
          </a:p>
        </p:txBody>
      </p:sp>
      <p:sp>
        <p:nvSpPr>
          <p:cNvPr id="44" name="TextBox 43"/>
          <p:cNvSpPr txBox="1"/>
          <p:nvPr/>
        </p:nvSpPr>
        <p:spPr>
          <a:xfrm>
            <a:off x="9784080" y="7543800"/>
            <a:ext cx="7772400" cy="228600"/>
          </a:xfrm>
          <a:prstGeom prst="rect">
            <a:avLst/>
          </a:prstGeom>
          <a:noFill/>
        </p:spPr>
        <p:txBody>
          <a:bodyPr wrap="square">
            <a:spAutoFit/>
          </a:bodyPr>
          <a:lstStyle/>
          <a:p>
            <a:pPr algn="l">
              <a:defRPr sz="1200" b="0">
                <a:solidFill>
                  <a:srgbClr val="C8FFC8"/>
                </a:solidFill>
              </a:defRPr>
            </a:pPr>
            <a:r>
              <a:t>Created 6 comprehensive guides alongside code</a:t>
            </a:r>
          </a:p>
        </p:txBody>
      </p:sp>
      <p:sp>
        <p:nvSpPr>
          <p:cNvPr id="45" name="TextBox 44"/>
          <p:cNvSpPr txBox="1"/>
          <p:nvPr/>
        </p:nvSpPr>
        <p:spPr>
          <a:xfrm>
            <a:off x="9784080" y="7790688"/>
            <a:ext cx="7772400" cy="228600"/>
          </a:xfrm>
          <a:prstGeom prst="rect">
            <a:avLst/>
          </a:prstGeom>
          <a:noFill/>
        </p:spPr>
        <p:txBody>
          <a:bodyPr wrap="square">
            <a:spAutoFit/>
          </a:bodyPr>
          <a:lstStyle/>
          <a:p>
            <a:pPr algn="l">
              <a:defRPr sz="1100" b="0">
                <a:solidFill>
                  <a:srgbClr val="CBD5E1"/>
                </a:solidFill>
              </a:defRPr>
            </a:pPr>
            <a:r>
              <a:t>Makes handoff to stakeholders seamless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7373600" cy="548640"/>
          </a:xfrm>
          <a:prstGeom prst="rect">
            <a:avLst/>
          </a:prstGeom>
          <a:noFill/>
        </p:spPr>
        <p:txBody>
          <a:bodyPr wrap="square">
            <a:spAutoFit/>
          </a:bodyPr>
          <a:lstStyle/>
          <a:p>
            <a:pPr algn="l">
              <a:defRPr sz="2800" b="1">
                <a:solidFill>
                  <a:srgbClr val="00E5FF"/>
                </a:solidFill>
              </a:defRPr>
            </a:pPr>
            <a:r>
              <a:t>14 — DASHBOARD DEMO WALKTHROUGH</a:t>
            </a:r>
          </a:p>
        </p:txBody>
      </p:sp>
      <p:sp>
        <p:nvSpPr>
          <p:cNvPr id="3" name="TextBox 2"/>
          <p:cNvSpPr txBox="1"/>
          <p:nvPr/>
        </p:nvSpPr>
        <p:spPr>
          <a:xfrm>
            <a:off x="457200" y="822960"/>
            <a:ext cx="17373600" cy="365760"/>
          </a:xfrm>
          <a:prstGeom prst="rect">
            <a:avLst/>
          </a:prstGeom>
          <a:noFill/>
        </p:spPr>
        <p:txBody>
          <a:bodyPr wrap="square">
            <a:spAutoFit/>
          </a:bodyPr>
          <a:lstStyle/>
          <a:p>
            <a:pPr algn="l">
              <a:defRPr sz="1600" b="0">
                <a:solidFill>
                  <a:srgbClr val="CBD5E1"/>
                </a:solidFill>
              </a:defRPr>
            </a:pPr>
            <a:r>
              <a:t>Live demonstration flow: From data quality audit to demand forecast export</a:t>
            </a:r>
          </a:p>
        </p:txBody>
      </p:sp>
      <p:sp>
        <p:nvSpPr>
          <p:cNvPr id="4" name="Rounded Rectangle 3"/>
          <p:cNvSpPr/>
          <p:nvPr/>
        </p:nvSpPr>
        <p:spPr>
          <a:xfrm>
            <a:off x="1645920" y="1828800"/>
            <a:ext cx="2103120" cy="5943600"/>
          </a:xfrm>
          <a:prstGeom prst="roundRect">
            <a:avLst/>
          </a:prstGeom>
          <a:solidFill>
            <a:srgbClr val="141C2D"/>
          </a:solidFill>
          <a:ln w="381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737360" y="2011680"/>
            <a:ext cx="1920240" cy="365760"/>
          </a:xfrm>
          <a:prstGeom prst="rect">
            <a:avLst/>
          </a:prstGeom>
          <a:noFill/>
        </p:spPr>
        <p:txBody>
          <a:bodyPr wrap="square">
            <a:spAutoFit/>
          </a:bodyPr>
          <a:lstStyle/>
          <a:p>
            <a:pPr algn="ctr">
              <a:defRPr sz="2400" b="1">
                <a:solidFill>
                  <a:srgbClr val="0284C7"/>
                </a:solidFill>
              </a:defRPr>
            </a:pPr>
            <a:r>
              <a:t>1️⃣</a:t>
            </a:r>
          </a:p>
        </p:txBody>
      </p:sp>
      <p:sp>
        <p:nvSpPr>
          <p:cNvPr id="6" name="TextBox 5"/>
          <p:cNvSpPr txBox="1"/>
          <p:nvPr/>
        </p:nvSpPr>
        <p:spPr>
          <a:xfrm>
            <a:off x="1737360" y="2468880"/>
            <a:ext cx="1920240" cy="457200"/>
          </a:xfrm>
          <a:prstGeom prst="rect">
            <a:avLst/>
          </a:prstGeom>
          <a:noFill/>
        </p:spPr>
        <p:txBody>
          <a:bodyPr wrap="square">
            <a:spAutoFit/>
          </a:bodyPr>
          <a:lstStyle/>
          <a:p>
            <a:pPr algn="ctr">
              <a:defRPr sz="1300" b="1">
                <a:solidFill>
                  <a:srgbClr val="00E5FF"/>
                </a:solidFill>
              </a:defRPr>
            </a:pPr>
            <a:r>
              <a:t>OVERVIEW</a:t>
            </a:r>
          </a:p>
        </p:txBody>
      </p:sp>
      <p:sp>
        <p:nvSpPr>
          <p:cNvPr id="7" name="TextBox 6"/>
          <p:cNvSpPr txBox="1"/>
          <p:nvPr/>
        </p:nvSpPr>
        <p:spPr>
          <a:xfrm>
            <a:off x="1737360" y="3017520"/>
            <a:ext cx="1920240" cy="548640"/>
          </a:xfrm>
          <a:prstGeom prst="rect">
            <a:avLst/>
          </a:prstGeom>
          <a:noFill/>
        </p:spPr>
        <p:txBody>
          <a:bodyPr wrap="square">
            <a:spAutoFit/>
          </a:bodyPr>
          <a:lstStyle/>
          <a:p>
            <a:pPr algn="ctr">
              <a:defRPr sz="1200" b="1">
                <a:solidFill>
                  <a:srgbClr val="FFFFFF"/>
                </a:solidFill>
              </a:defRPr>
            </a:pPr>
            <a:r>
              <a:t>Executive</a:t>
            </a:r>
          </a:p>
          <a:p>
            <a:r>
              <a:t>Cockpit</a:t>
            </a:r>
          </a:p>
        </p:txBody>
      </p:sp>
      <p:sp>
        <p:nvSpPr>
          <p:cNvPr id="8" name="TextBox 7"/>
          <p:cNvSpPr txBox="1"/>
          <p:nvPr/>
        </p:nvSpPr>
        <p:spPr>
          <a:xfrm>
            <a:off x="1783080" y="3749040"/>
            <a:ext cx="1828800" cy="3840480"/>
          </a:xfrm>
          <a:prstGeom prst="rect">
            <a:avLst/>
          </a:prstGeom>
          <a:noFill/>
        </p:spPr>
        <p:txBody>
          <a:bodyPr wrap="square">
            <a:spAutoFit/>
          </a:bodyPr>
          <a:lstStyle/>
          <a:p>
            <a:pPr algn="l">
              <a:defRPr sz="1100" b="0">
                <a:solidFill>
                  <a:srgbClr val="CBD5E1"/>
                </a:solidFill>
              </a:defRPr>
            </a:pPr>
            <a:r>
              <a:t>• 82K records, 23 columns</a:t>
            </a:r>
          </a:p>
          <a:p>
            <a:r>
              <a:t>• 95% completeness</a:t>
            </a:r>
          </a:p>
          <a:p>
            <a:r>
              <a:t>• Time series trends</a:t>
            </a:r>
          </a:p>
        </p:txBody>
      </p:sp>
      <p:sp>
        <p:nvSpPr>
          <p:cNvPr id="9" name="Rounded Rectangle 8"/>
          <p:cNvSpPr/>
          <p:nvPr/>
        </p:nvSpPr>
        <p:spPr>
          <a:xfrm>
            <a:off x="2926080" y="1828800"/>
            <a:ext cx="2103120" cy="5943600"/>
          </a:xfrm>
          <a:prstGeom prst="roundRect">
            <a:avLst/>
          </a:prstGeom>
          <a:solidFill>
            <a:srgbClr val="141C2D"/>
          </a:solidFill>
          <a:ln w="381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2011680"/>
            <a:ext cx="1920240" cy="365760"/>
          </a:xfrm>
          <a:prstGeom prst="rect">
            <a:avLst/>
          </a:prstGeom>
          <a:noFill/>
        </p:spPr>
        <p:txBody>
          <a:bodyPr wrap="square">
            <a:spAutoFit/>
          </a:bodyPr>
          <a:lstStyle/>
          <a:p>
            <a:pPr algn="ctr">
              <a:defRPr sz="2400" b="1">
                <a:solidFill>
                  <a:srgbClr val="10B981"/>
                </a:solidFill>
              </a:defRPr>
            </a:pPr>
            <a:r>
              <a:t>2️⃣</a:t>
            </a:r>
          </a:p>
        </p:txBody>
      </p:sp>
      <p:sp>
        <p:nvSpPr>
          <p:cNvPr id="11" name="TextBox 10"/>
          <p:cNvSpPr txBox="1"/>
          <p:nvPr/>
        </p:nvSpPr>
        <p:spPr>
          <a:xfrm>
            <a:off x="3017520" y="2468880"/>
            <a:ext cx="1920240" cy="457200"/>
          </a:xfrm>
          <a:prstGeom prst="rect">
            <a:avLst/>
          </a:prstGeom>
          <a:noFill/>
        </p:spPr>
        <p:txBody>
          <a:bodyPr wrap="square">
            <a:spAutoFit/>
          </a:bodyPr>
          <a:lstStyle/>
          <a:p>
            <a:pPr algn="ctr">
              <a:defRPr sz="1300" b="1">
                <a:solidFill>
                  <a:srgbClr val="00E5FF"/>
                </a:solidFill>
              </a:defRPr>
            </a:pPr>
            <a:r>
              <a:t>QUALITY</a:t>
            </a:r>
          </a:p>
        </p:txBody>
      </p:sp>
      <p:sp>
        <p:nvSpPr>
          <p:cNvPr id="12" name="TextBox 11"/>
          <p:cNvSpPr txBox="1"/>
          <p:nvPr/>
        </p:nvSpPr>
        <p:spPr>
          <a:xfrm>
            <a:off x="3017520" y="3017520"/>
            <a:ext cx="1920240" cy="548640"/>
          </a:xfrm>
          <a:prstGeom prst="rect">
            <a:avLst/>
          </a:prstGeom>
          <a:noFill/>
        </p:spPr>
        <p:txBody>
          <a:bodyPr wrap="square">
            <a:spAutoFit/>
          </a:bodyPr>
          <a:lstStyle/>
          <a:p>
            <a:pPr algn="ctr">
              <a:defRPr sz="1200" b="1">
                <a:solidFill>
                  <a:srgbClr val="FFFFFF"/>
                </a:solidFill>
              </a:defRPr>
            </a:pPr>
            <a:r>
              <a:t>Data Quality</a:t>
            </a:r>
          </a:p>
          <a:p>
            <a:r>
              <a:t>Radar</a:t>
            </a:r>
          </a:p>
        </p:txBody>
      </p:sp>
      <p:sp>
        <p:nvSpPr>
          <p:cNvPr id="13" name="TextBox 12"/>
          <p:cNvSpPr txBox="1"/>
          <p:nvPr/>
        </p:nvSpPr>
        <p:spPr>
          <a:xfrm>
            <a:off x="3063240" y="3749040"/>
            <a:ext cx="1828800" cy="3840480"/>
          </a:xfrm>
          <a:prstGeom prst="rect">
            <a:avLst/>
          </a:prstGeom>
          <a:noFill/>
        </p:spPr>
        <p:txBody>
          <a:bodyPr wrap="square">
            <a:spAutoFit/>
          </a:bodyPr>
          <a:lstStyle/>
          <a:p>
            <a:pPr algn="l">
              <a:defRPr sz="1100" b="0">
                <a:solidFill>
                  <a:srgbClr val="CBD5E1"/>
                </a:solidFill>
              </a:defRPr>
            </a:pPr>
            <a:r>
              <a:t>• Missing value analysis</a:t>
            </a:r>
          </a:p>
          <a:p>
            <a:r>
              <a:t>• Column-level scoring</a:t>
            </a:r>
          </a:p>
          <a:p>
            <a:r>
              <a:t>• Type distribution</a:t>
            </a:r>
          </a:p>
        </p:txBody>
      </p:sp>
      <p:sp>
        <p:nvSpPr>
          <p:cNvPr id="14" name="Rounded Rectangle 13"/>
          <p:cNvSpPr/>
          <p:nvPr/>
        </p:nvSpPr>
        <p:spPr>
          <a:xfrm>
            <a:off x="4206240" y="1828800"/>
            <a:ext cx="2103120" cy="5943600"/>
          </a:xfrm>
          <a:prstGeom prst="roundRect">
            <a:avLst/>
          </a:prstGeom>
          <a:solidFill>
            <a:srgbClr val="141C2D"/>
          </a:solidFill>
          <a:ln w="381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79" y="2011680"/>
            <a:ext cx="1920240" cy="365760"/>
          </a:xfrm>
          <a:prstGeom prst="rect">
            <a:avLst/>
          </a:prstGeom>
          <a:noFill/>
        </p:spPr>
        <p:txBody>
          <a:bodyPr wrap="square">
            <a:spAutoFit/>
          </a:bodyPr>
          <a:lstStyle/>
          <a:p>
            <a:pPr algn="ctr">
              <a:defRPr sz="2400" b="1">
                <a:solidFill>
                  <a:srgbClr val="F59E0B"/>
                </a:solidFill>
              </a:defRPr>
            </a:pPr>
            <a:r>
              <a:t>3️⃣</a:t>
            </a:r>
          </a:p>
        </p:txBody>
      </p:sp>
      <p:sp>
        <p:nvSpPr>
          <p:cNvPr id="16" name="TextBox 15"/>
          <p:cNvSpPr txBox="1"/>
          <p:nvPr/>
        </p:nvSpPr>
        <p:spPr>
          <a:xfrm>
            <a:off x="4297679" y="2468880"/>
            <a:ext cx="1920240" cy="457200"/>
          </a:xfrm>
          <a:prstGeom prst="rect">
            <a:avLst/>
          </a:prstGeom>
          <a:noFill/>
        </p:spPr>
        <p:txBody>
          <a:bodyPr wrap="square">
            <a:spAutoFit/>
          </a:bodyPr>
          <a:lstStyle/>
          <a:p>
            <a:pPr algn="ctr">
              <a:defRPr sz="1300" b="1">
                <a:solidFill>
                  <a:srgbClr val="00E5FF"/>
                </a:solidFill>
              </a:defRPr>
            </a:pPr>
            <a:r>
              <a:t>CLEAN</a:t>
            </a:r>
          </a:p>
        </p:txBody>
      </p:sp>
      <p:sp>
        <p:nvSpPr>
          <p:cNvPr id="17" name="TextBox 16"/>
          <p:cNvSpPr txBox="1"/>
          <p:nvPr/>
        </p:nvSpPr>
        <p:spPr>
          <a:xfrm>
            <a:off x="4297679" y="3017520"/>
            <a:ext cx="1920240" cy="548640"/>
          </a:xfrm>
          <a:prstGeom prst="rect">
            <a:avLst/>
          </a:prstGeom>
          <a:noFill/>
        </p:spPr>
        <p:txBody>
          <a:bodyPr wrap="square">
            <a:spAutoFit/>
          </a:bodyPr>
          <a:lstStyle/>
          <a:p>
            <a:pPr algn="ctr">
              <a:defRPr sz="1200" b="1">
                <a:solidFill>
                  <a:srgbClr val="FFFFFF"/>
                </a:solidFill>
              </a:defRPr>
            </a:pPr>
            <a:r>
              <a:t>Cleaning</a:t>
            </a:r>
          </a:p>
          <a:p>
            <a:r>
              <a:t>Studio</a:t>
            </a:r>
          </a:p>
        </p:txBody>
      </p:sp>
      <p:sp>
        <p:nvSpPr>
          <p:cNvPr id="18" name="TextBox 17"/>
          <p:cNvSpPr txBox="1"/>
          <p:nvPr/>
        </p:nvSpPr>
        <p:spPr>
          <a:xfrm>
            <a:off x="4343400" y="3749040"/>
            <a:ext cx="1828800" cy="3840480"/>
          </a:xfrm>
          <a:prstGeom prst="rect">
            <a:avLst/>
          </a:prstGeom>
          <a:noFill/>
        </p:spPr>
        <p:txBody>
          <a:bodyPr wrap="square">
            <a:spAutoFit/>
          </a:bodyPr>
          <a:lstStyle/>
          <a:p>
            <a:pPr algn="l">
              <a:defRPr sz="1100" b="0">
                <a:solidFill>
                  <a:srgbClr val="CBD5E1"/>
                </a:solidFill>
              </a:defRPr>
            </a:pPr>
            <a:r>
              <a:t>• Duplicate removal</a:t>
            </a:r>
          </a:p>
          <a:p>
            <a:r>
              <a:t>• Null imputation</a:t>
            </a:r>
          </a:p>
          <a:p>
            <a:r>
              <a:t>• Standardization</a:t>
            </a:r>
          </a:p>
        </p:txBody>
      </p:sp>
      <p:sp>
        <p:nvSpPr>
          <p:cNvPr id="19" name="Rounded Rectangle 18"/>
          <p:cNvSpPr/>
          <p:nvPr/>
        </p:nvSpPr>
        <p:spPr>
          <a:xfrm>
            <a:off x="5486400" y="1828800"/>
            <a:ext cx="2103120" cy="5943600"/>
          </a:xfrm>
          <a:prstGeom prst="roundRect">
            <a:avLst/>
          </a:prstGeom>
          <a:solidFill>
            <a:srgbClr val="141C2D"/>
          </a:solidFill>
          <a:ln w="381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77840" y="2011680"/>
            <a:ext cx="1920240" cy="365760"/>
          </a:xfrm>
          <a:prstGeom prst="rect">
            <a:avLst/>
          </a:prstGeom>
          <a:noFill/>
        </p:spPr>
        <p:txBody>
          <a:bodyPr wrap="square">
            <a:spAutoFit/>
          </a:bodyPr>
          <a:lstStyle/>
          <a:p>
            <a:pPr algn="ctr">
              <a:defRPr sz="2400" b="1">
                <a:solidFill>
                  <a:srgbClr val="6366F1"/>
                </a:solidFill>
              </a:defRPr>
            </a:pPr>
            <a:r>
              <a:t>4️⃣</a:t>
            </a:r>
          </a:p>
        </p:txBody>
      </p:sp>
      <p:sp>
        <p:nvSpPr>
          <p:cNvPr id="21" name="TextBox 20"/>
          <p:cNvSpPr txBox="1"/>
          <p:nvPr/>
        </p:nvSpPr>
        <p:spPr>
          <a:xfrm>
            <a:off x="5577840" y="2468880"/>
            <a:ext cx="1920240" cy="457200"/>
          </a:xfrm>
          <a:prstGeom prst="rect">
            <a:avLst/>
          </a:prstGeom>
          <a:noFill/>
        </p:spPr>
        <p:txBody>
          <a:bodyPr wrap="square">
            <a:spAutoFit/>
          </a:bodyPr>
          <a:lstStyle/>
          <a:p>
            <a:pPr algn="ctr">
              <a:defRPr sz="1300" b="1">
                <a:solidFill>
                  <a:srgbClr val="00E5FF"/>
                </a:solidFill>
              </a:defRPr>
            </a:pPr>
            <a:r>
              <a:t>STATS</a:t>
            </a:r>
          </a:p>
        </p:txBody>
      </p:sp>
      <p:sp>
        <p:nvSpPr>
          <p:cNvPr id="22" name="TextBox 21"/>
          <p:cNvSpPr txBox="1"/>
          <p:nvPr/>
        </p:nvSpPr>
        <p:spPr>
          <a:xfrm>
            <a:off x="5577840" y="3017520"/>
            <a:ext cx="1920240" cy="548640"/>
          </a:xfrm>
          <a:prstGeom prst="rect">
            <a:avLst/>
          </a:prstGeom>
          <a:noFill/>
        </p:spPr>
        <p:txBody>
          <a:bodyPr wrap="square">
            <a:spAutoFit/>
          </a:bodyPr>
          <a:lstStyle/>
          <a:p>
            <a:pPr algn="ctr">
              <a:defRPr sz="1200" b="1">
                <a:solidFill>
                  <a:srgbClr val="FFFFFF"/>
                </a:solidFill>
              </a:defRPr>
            </a:pPr>
            <a:r>
              <a:t>Statistical</a:t>
            </a:r>
          </a:p>
          <a:p>
            <a:r>
              <a:t>Deep-Dive</a:t>
            </a:r>
          </a:p>
        </p:txBody>
      </p:sp>
      <p:sp>
        <p:nvSpPr>
          <p:cNvPr id="23" name="TextBox 22"/>
          <p:cNvSpPr txBox="1"/>
          <p:nvPr/>
        </p:nvSpPr>
        <p:spPr>
          <a:xfrm>
            <a:off x="5623560" y="3749040"/>
            <a:ext cx="1828800" cy="3840480"/>
          </a:xfrm>
          <a:prstGeom prst="rect">
            <a:avLst/>
          </a:prstGeom>
          <a:noFill/>
        </p:spPr>
        <p:txBody>
          <a:bodyPr wrap="square">
            <a:spAutoFit/>
          </a:bodyPr>
          <a:lstStyle/>
          <a:p>
            <a:pPr algn="l">
              <a:defRPr sz="1100" b="0">
                <a:solidFill>
                  <a:srgbClr val="CBD5E1"/>
                </a:solidFill>
              </a:defRPr>
            </a:pPr>
            <a:r>
              <a:t>• Correlation heatmap</a:t>
            </a:r>
          </a:p>
          <a:p>
            <a:r>
              <a:t>• Distribution analysis</a:t>
            </a:r>
          </a:p>
          <a:p>
            <a:r>
              <a:t>• Outlier detection</a:t>
            </a:r>
          </a:p>
        </p:txBody>
      </p:sp>
      <p:sp>
        <p:nvSpPr>
          <p:cNvPr id="24" name="Rounded Rectangle 23"/>
          <p:cNvSpPr/>
          <p:nvPr/>
        </p:nvSpPr>
        <p:spPr>
          <a:xfrm>
            <a:off x="6766560" y="1828800"/>
            <a:ext cx="2103120" cy="5943600"/>
          </a:xfrm>
          <a:prstGeom prst="roundRect">
            <a:avLst/>
          </a:prstGeom>
          <a:solidFill>
            <a:srgbClr val="141C2D"/>
          </a:solidFill>
          <a:ln w="381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0" y="2011680"/>
            <a:ext cx="1920240" cy="365760"/>
          </a:xfrm>
          <a:prstGeom prst="rect">
            <a:avLst/>
          </a:prstGeom>
          <a:noFill/>
        </p:spPr>
        <p:txBody>
          <a:bodyPr wrap="square">
            <a:spAutoFit/>
          </a:bodyPr>
          <a:lstStyle/>
          <a:p>
            <a:pPr algn="ctr">
              <a:defRPr sz="2400" b="1">
                <a:solidFill>
                  <a:srgbClr val="F43F5E"/>
                </a:solidFill>
              </a:defRPr>
            </a:pPr>
            <a:r>
              <a:t>5️⃣</a:t>
            </a:r>
          </a:p>
        </p:txBody>
      </p:sp>
      <p:sp>
        <p:nvSpPr>
          <p:cNvPr id="26" name="TextBox 25"/>
          <p:cNvSpPr txBox="1"/>
          <p:nvPr/>
        </p:nvSpPr>
        <p:spPr>
          <a:xfrm>
            <a:off x="6858000" y="2468880"/>
            <a:ext cx="1920240" cy="457200"/>
          </a:xfrm>
          <a:prstGeom prst="rect">
            <a:avLst/>
          </a:prstGeom>
          <a:noFill/>
        </p:spPr>
        <p:txBody>
          <a:bodyPr wrap="square">
            <a:spAutoFit/>
          </a:bodyPr>
          <a:lstStyle/>
          <a:p>
            <a:pPr algn="ctr">
              <a:defRPr sz="1300" b="1">
                <a:solidFill>
                  <a:srgbClr val="00E5FF"/>
                </a:solidFill>
              </a:defRPr>
            </a:pPr>
            <a:r>
              <a:t>FORECAST</a:t>
            </a:r>
          </a:p>
        </p:txBody>
      </p:sp>
      <p:sp>
        <p:nvSpPr>
          <p:cNvPr id="27" name="TextBox 26"/>
          <p:cNvSpPr txBox="1"/>
          <p:nvPr/>
        </p:nvSpPr>
        <p:spPr>
          <a:xfrm>
            <a:off x="6858000" y="3017520"/>
            <a:ext cx="1920240" cy="548640"/>
          </a:xfrm>
          <a:prstGeom prst="rect">
            <a:avLst/>
          </a:prstGeom>
          <a:noFill/>
        </p:spPr>
        <p:txBody>
          <a:bodyPr wrap="square">
            <a:spAutoFit/>
          </a:bodyPr>
          <a:lstStyle/>
          <a:p>
            <a:pPr algn="ctr">
              <a:defRPr sz="1200" b="1">
                <a:solidFill>
                  <a:srgbClr val="FFFFFF"/>
                </a:solidFill>
              </a:defRPr>
            </a:pPr>
            <a:r>
              <a:t>AI Demand</a:t>
            </a:r>
          </a:p>
          <a:p>
            <a:r>
              <a:t>Forecasting</a:t>
            </a:r>
          </a:p>
        </p:txBody>
      </p:sp>
      <p:sp>
        <p:nvSpPr>
          <p:cNvPr id="28" name="TextBox 27"/>
          <p:cNvSpPr txBox="1"/>
          <p:nvPr/>
        </p:nvSpPr>
        <p:spPr>
          <a:xfrm>
            <a:off x="6903720" y="3749040"/>
            <a:ext cx="1828800" cy="3840480"/>
          </a:xfrm>
          <a:prstGeom prst="rect">
            <a:avLst/>
          </a:prstGeom>
          <a:noFill/>
        </p:spPr>
        <p:txBody>
          <a:bodyPr wrap="square">
            <a:spAutoFit/>
          </a:bodyPr>
          <a:lstStyle/>
          <a:p>
            <a:pPr algn="l">
              <a:defRPr sz="1100" b="0">
                <a:solidFill>
                  <a:srgbClr val="CBD5E1"/>
                </a:solidFill>
              </a:defRPr>
            </a:pPr>
            <a:r>
              <a:t>• SKU selection</a:t>
            </a:r>
          </a:p>
          <a:p>
            <a:r>
              <a:t>• Model comparison</a:t>
            </a:r>
          </a:p>
          <a:p>
            <a:r>
              <a:t>• 12-week horizon</a:t>
            </a:r>
          </a:p>
        </p:txBody>
      </p:sp>
      <p:sp>
        <p:nvSpPr>
          <p:cNvPr id="29" name="Rounded Rectangle 28"/>
          <p:cNvSpPr/>
          <p:nvPr/>
        </p:nvSpPr>
        <p:spPr>
          <a:xfrm>
            <a:off x="8046720" y="1828800"/>
            <a:ext cx="2103120" cy="5943600"/>
          </a:xfrm>
          <a:prstGeom prst="roundRect">
            <a:avLst/>
          </a:prstGeom>
          <a:solidFill>
            <a:srgbClr val="141C2D"/>
          </a:solidFill>
          <a:ln w="381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38160" y="2011680"/>
            <a:ext cx="1920240" cy="365760"/>
          </a:xfrm>
          <a:prstGeom prst="rect">
            <a:avLst/>
          </a:prstGeom>
          <a:noFill/>
        </p:spPr>
        <p:txBody>
          <a:bodyPr wrap="square">
            <a:spAutoFit/>
          </a:bodyPr>
          <a:lstStyle/>
          <a:p>
            <a:pPr algn="ctr">
              <a:defRPr sz="2400" b="1">
                <a:solidFill>
                  <a:srgbClr val="00E5FF"/>
                </a:solidFill>
              </a:defRPr>
            </a:pPr>
            <a:r>
              <a:t>6️⃣</a:t>
            </a:r>
          </a:p>
        </p:txBody>
      </p:sp>
      <p:sp>
        <p:nvSpPr>
          <p:cNvPr id="31" name="TextBox 30"/>
          <p:cNvSpPr txBox="1"/>
          <p:nvPr/>
        </p:nvSpPr>
        <p:spPr>
          <a:xfrm>
            <a:off x="8138160" y="2468880"/>
            <a:ext cx="1920240" cy="457200"/>
          </a:xfrm>
          <a:prstGeom prst="rect">
            <a:avLst/>
          </a:prstGeom>
          <a:noFill/>
        </p:spPr>
        <p:txBody>
          <a:bodyPr wrap="square">
            <a:spAutoFit/>
          </a:bodyPr>
          <a:lstStyle/>
          <a:p>
            <a:pPr algn="ctr">
              <a:defRPr sz="1300" b="1">
                <a:solidFill>
                  <a:srgbClr val="00E5FF"/>
                </a:solidFill>
              </a:defRPr>
            </a:pPr>
            <a:r>
              <a:t>EXPLORE</a:t>
            </a:r>
          </a:p>
        </p:txBody>
      </p:sp>
      <p:sp>
        <p:nvSpPr>
          <p:cNvPr id="32" name="TextBox 31"/>
          <p:cNvSpPr txBox="1"/>
          <p:nvPr/>
        </p:nvSpPr>
        <p:spPr>
          <a:xfrm>
            <a:off x="8138160" y="3017520"/>
            <a:ext cx="1920240" cy="548640"/>
          </a:xfrm>
          <a:prstGeom prst="rect">
            <a:avLst/>
          </a:prstGeom>
          <a:noFill/>
        </p:spPr>
        <p:txBody>
          <a:bodyPr wrap="square">
            <a:spAutoFit/>
          </a:bodyPr>
          <a:lstStyle/>
          <a:p>
            <a:pPr algn="ctr">
              <a:defRPr sz="1200" b="1">
                <a:solidFill>
                  <a:srgbClr val="FFFFFF"/>
                </a:solidFill>
              </a:defRPr>
            </a:pPr>
            <a:r>
              <a:t>Intelligence</a:t>
            </a:r>
          </a:p>
          <a:p>
            <a:r>
              <a:t>Explorer</a:t>
            </a:r>
          </a:p>
        </p:txBody>
      </p:sp>
      <p:sp>
        <p:nvSpPr>
          <p:cNvPr id="33" name="TextBox 32"/>
          <p:cNvSpPr txBox="1"/>
          <p:nvPr/>
        </p:nvSpPr>
        <p:spPr>
          <a:xfrm>
            <a:off x="8183880" y="3749040"/>
            <a:ext cx="1828800" cy="3840480"/>
          </a:xfrm>
          <a:prstGeom prst="rect">
            <a:avLst/>
          </a:prstGeom>
          <a:noFill/>
        </p:spPr>
        <p:txBody>
          <a:bodyPr wrap="square">
            <a:spAutoFit/>
          </a:bodyPr>
          <a:lstStyle/>
          <a:p>
            <a:pPr algn="l">
              <a:defRPr sz="1100" b="0">
                <a:solidFill>
                  <a:srgbClr val="CBD5E1"/>
                </a:solidFill>
              </a:defRPr>
            </a:pPr>
            <a:r>
              <a:t>• Column profiling</a:t>
            </a:r>
          </a:p>
          <a:p>
            <a:r>
              <a:t>• Search &amp; filter</a:t>
            </a:r>
          </a:p>
          <a:p>
            <a:r>
              <a:t>• Value counts</a:t>
            </a:r>
          </a:p>
        </p:txBody>
      </p:sp>
      <p:sp>
        <p:nvSpPr>
          <p:cNvPr id="34" name="Rounded Rectangle 33"/>
          <p:cNvSpPr/>
          <p:nvPr/>
        </p:nvSpPr>
        <p:spPr>
          <a:xfrm>
            <a:off x="9326880" y="1828800"/>
            <a:ext cx="2103120" cy="5943600"/>
          </a:xfrm>
          <a:prstGeom prst="roundRect">
            <a:avLst/>
          </a:prstGeom>
          <a:solidFill>
            <a:srgbClr val="141C2D"/>
          </a:solidFill>
          <a:ln w="381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19" y="2011680"/>
            <a:ext cx="1920240" cy="365760"/>
          </a:xfrm>
          <a:prstGeom prst="rect">
            <a:avLst/>
          </a:prstGeom>
          <a:noFill/>
        </p:spPr>
        <p:txBody>
          <a:bodyPr wrap="square">
            <a:spAutoFit/>
          </a:bodyPr>
          <a:lstStyle/>
          <a:p>
            <a:pPr algn="ctr">
              <a:defRPr sz="2400" b="1">
                <a:solidFill>
                  <a:srgbClr val="10B981"/>
                </a:solidFill>
              </a:defRPr>
            </a:pPr>
            <a:r>
              <a:t>7️⃣</a:t>
            </a:r>
          </a:p>
        </p:txBody>
      </p:sp>
      <p:sp>
        <p:nvSpPr>
          <p:cNvPr id="36" name="TextBox 35"/>
          <p:cNvSpPr txBox="1"/>
          <p:nvPr/>
        </p:nvSpPr>
        <p:spPr>
          <a:xfrm>
            <a:off x="9418319" y="2468880"/>
            <a:ext cx="1920240" cy="457200"/>
          </a:xfrm>
          <a:prstGeom prst="rect">
            <a:avLst/>
          </a:prstGeom>
          <a:noFill/>
        </p:spPr>
        <p:txBody>
          <a:bodyPr wrap="square">
            <a:spAutoFit/>
          </a:bodyPr>
          <a:lstStyle/>
          <a:p>
            <a:pPr algn="ctr">
              <a:defRPr sz="1300" b="1">
                <a:solidFill>
                  <a:srgbClr val="00E5FF"/>
                </a:solidFill>
              </a:defRPr>
            </a:pPr>
            <a:r>
              <a:t>EXPORT</a:t>
            </a:r>
          </a:p>
        </p:txBody>
      </p:sp>
      <p:sp>
        <p:nvSpPr>
          <p:cNvPr id="37" name="TextBox 36"/>
          <p:cNvSpPr txBox="1"/>
          <p:nvPr/>
        </p:nvSpPr>
        <p:spPr>
          <a:xfrm>
            <a:off x="9418319" y="3017520"/>
            <a:ext cx="1920240" cy="548640"/>
          </a:xfrm>
          <a:prstGeom prst="rect">
            <a:avLst/>
          </a:prstGeom>
          <a:noFill/>
        </p:spPr>
        <p:txBody>
          <a:bodyPr wrap="square">
            <a:spAutoFit/>
          </a:bodyPr>
          <a:lstStyle/>
          <a:p>
            <a:pPr algn="ctr">
              <a:defRPr sz="1200" b="1">
                <a:solidFill>
                  <a:srgbClr val="FFFFFF"/>
                </a:solidFill>
              </a:defRPr>
            </a:pPr>
            <a:r>
              <a:t>C-Suite</a:t>
            </a:r>
          </a:p>
          <a:p>
            <a:r>
              <a:t>Reports</a:t>
            </a:r>
          </a:p>
        </p:txBody>
      </p:sp>
      <p:sp>
        <p:nvSpPr>
          <p:cNvPr id="38" name="TextBox 37"/>
          <p:cNvSpPr txBox="1"/>
          <p:nvPr/>
        </p:nvSpPr>
        <p:spPr>
          <a:xfrm>
            <a:off x="9464040" y="3749040"/>
            <a:ext cx="1828800" cy="3840480"/>
          </a:xfrm>
          <a:prstGeom prst="rect">
            <a:avLst/>
          </a:prstGeom>
          <a:noFill/>
        </p:spPr>
        <p:txBody>
          <a:bodyPr wrap="square">
            <a:spAutoFit/>
          </a:bodyPr>
          <a:lstStyle/>
          <a:p>
            <a:pPr algn="l">
              <a:defRPr sz="1100" b="0">
                <a:solidFill>
                  <a:srgbClr val="CBD5E1"/>
                </a:solidFill>
              </a:defRPr>
            </a:pPr>
            <a:r>
              <a:t>• PDF briefings</a:t>
            </a:r>
          </a:p>
          <a:p>
            <a:r>
              <a:t>• Excel exports</a:t>
            </a:r>
          </a:p>
          <a:p>
            <a:r>
              <a:t>• CSV downloads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7373600" cy="548640"/>
          </a:xfrm>
          <a:prstGeom prst="rect">
            <a:avLst/>
          </a:prstGeom>
          <a:noFill/>
        </p:spPr>
        <p:txBody>
          <a:bodyPr wrap="square">
            <a:spAutoFit/>
          </a:bodyPr>
          <a:lstStyle/>
          <a:p>
            <a:pPr algn="l">
              <a:defRPr sz="2800" b="1">
                <a:solidFill>
                  <a:srgbClr val="00E5FF"/>
                </a:solidFill>
              </a:defRPr>
            </a:pPr>
            <a:r>
              <a:t>15 — TECHNICAL ARCHITECTURE</a:t>
            </a:r>
          </a:p>
        </p:txBody>
      </p:sp>
      <p:sp>
        <p:nvSpPr>
          <p:cNvPr id="3" name="TextBox 2"/>
          <p:cNvSpPr txBox="1"/>
          <p:nvPr/>
        </p:nvSpPr>
        <p:spPr>
          <a:xfrm>
            <a:off x="457200" y="822960"/>
            <a:ext cx="17373600" cy="365760"/>
          </a:xfrm>
          <a:prstGeom prst="rect">
            <a:avLst/>
          </a:prstGeom>
          <a:noFill/>
        </p:spPr>
        <p:txBody>
          <a:bodyPr wrap="square">
            <a:spAutoFit/>
          </a:bodyPr>
          <a:lstStyle/>
          <a:p>
            <a:pPr algn="l">
              <a:defRPr sz="1600" b="0">
                <a:solidFill>
                  <a:srgbClr val="CBD5E1"/>
                </a:solidFill>
              </a:defRPr>
            </a:pPr>
            <a:r>
              <a:t>Production-grade stack built for real-time analytics and forecasting</a:t>
            </a:r>
          </a:p>
        </p:txBody>
      </p:sp>
      <p:sp>
        <p:nvSpPr>
          <p:cNvPr id="4" name="Rounded Rectangle 3"/>
          <p:cNvSpPr/>
          <p:nvPr/>
        </p:nvSpPr>
        <p:spPr>
          <a:xfrm>
            <a:off x="731520" y="1828800"/>
            <a:ext cx="16824960" cy="1554480"/>
          </a:xfrm>
          <a:prstGeom prst="roundRect">
            <a:avLst/>
          </a:prstGeom>
          <a:solidFill>
            <a:srgbClr val="141C2D"/>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65960"/>
            <a:ext cx="16459200" cy="365760"/>
          </a:xfrm>
          <a:prstGeom prst="rect">
            <a:avLst/>
          </a:prstGeom>
          <a:noFill/>
        </p:spPr>
        <p:txBody>
          <a:bodyPr wrap="square">
            <a:spAutoFit/>
          </a:bodyPr>
          <a:lstStyle/>
          <a:p>
            <a:pPr algn="l">
              <a:defRPr sz="1600" b="1">
                <a:solidFill>
                  <a:srgbClr val="0284C7"/>
                </a:solidFill>
              </a:defRPr>
            </a:pPr>
            <a:r>
              <a:t>PRESENTATION LAYER</a:t>
            </a:r>
          </a:p>
        </p:txBody>
      </p:sp>
      <p:sp>
        <p:nvSpPr>
          <p:cNvPr id="6" name="TextBox 5"/>
          <p:cNvSpPr txBox="1"/>
          <p:nvPr/>
        </p:nvSpPr>
        <p:spPr>
          <a:xfrm>
            <a:off x="1371600" y="2377440"/>
            <a:ext cx="15544800" cy="274320"/>
          </a:xfrm>
          <a:prstGeom prst="rect">
            <a:avLst/>
          </a:prstGeom>
          <a:noFill/>
        </p:spPr>
        <p:txBody>
          <a:bodyPr wrap="square">
            <a:spAutoFit/>
          </a:bodyPr>
          <a:lstStyle/>
          <a:p>
            <a:pPr algn="l">
              <a:defRPr sz="1300" b="0">
                <a:solidFill>
                  <a:srgbClr val="FFFFFF"/>
                </a:solidFill>
              </a:defRPr>
            </a:pPr>
            <a:r>
              <a:t>• Streamlit 1.30+ — Interactive web framework</a:t>
            </a:r>
          </a:p>
        </p:txBody>
      </p:sp>
      <p:sp>
        <p:nvSpPr>
          <p:cNvPr id="7" name="TextBox 6"/>
          <p:cNvSpPr txBox="1"/>
          <p:nvPr/>
        </p:nvSpPr>
        <p:spPr>
          <a:xfrm>
            <a:off x="1371600" y="2697480"/>
            <a:ext cx="15544800" cy="274320"/>
          </a:xfrm>
          <a:prstGeom prst="rect">
            <a:avLst/>
          </a:prstGeom>
          <a:noFill/>
        </p:spPr>
        <p:txBody>
          <a:bodyPr wrap="square">
            <a:spAutoFit/>
          </a:bodyPr>
          <a:lstStyle/>
          <a:p>
            <a:pPr algn="l">
              <a:defRPr sz="1300" b="0">
                <a:solidFill>
                  <a:srgbClr val="FFFFFF"/>
                </a:solidFill>
              </a:defRPr>
            </a:pPr>
            <a:r>
              <a:t>• Plotly 5.18+ — Dynamic visualizations</a:t>
            </a:r>
          </a:p>
        </p:txBody>
      </p:sp>
      <p:sp>
        <p:nvSpPr>
          <p:cNvPr id="8" name="TextBox 7"/>
          <p:cNvSpPr txBox="1"/>
          <p:nvPr/>
        </p:nvSpPr>
        <p:spPr>
          <a:xfrm>
            <a:off x="1371600" y="3017520"/>
            <a:ext cx="15544800" cy="274320"/>
          </a:xfrm>
          <a:prstGeom prst="rect">
            <a:avLst/>
          </a:prstGeom>
          <a:noFill/>
        </p:spPr>
        <p:txBody>
          <a:bodyPr wrap="square">
            <a:spAutoFit/>
          </a:bodyPr>
          <a:lstStyle/>
          <a:p>
            <a:pPr algn="l">
              <a:defRPr sz="1300" b="0">
                <a:solidFill>
                  <a:srgbClr val="FFFFFF"/>
                </a:solidFill>
              </a:defRPr>
            </a:pPr>
            <a:r>
              <a:t>• Dark/Light themes — Boardroom-ready design</a:t>
            </a:r>
          </a:p>
        </p:txBody>
      </p:sp>
      <p:sp>
        <p:nvSpPr>
          <p:cNvPr id="9" name="Rounded Rectangle 8"/>
          <p:cNvSpPr/>
          <p:nvPr/>
        </p:nvSpPr>
        <p:spPr>
          <a:xfrm>
            <a:off x="731520" y="3657600"/>
            <a:ext cx="16824960" cy="1554480"/>
          </a:xfrm>
          <a:prstGeom prst="roundRect">
            <a:avLst/>
          </a:prstGeom>
          <a:solidFill>
            <a:srgbClr val="141C2D"/>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94760"/>
            <a:ext cx="16459200" cy="365760"/>
          </a:xfrm>
          <a:prstGeom prst="rect">
            <a:avLst/>
          </a:prstGeom>
          <a:noFill/>
        </p:spPr>
        <p:txBody>
          <a:bodyPr wrap="square">
            <a:spAutoFit/>
          </a:bodyPr>
          <a:lstStyle/>
          <a:p>
            <a:pPr algn="l">
              <a:defRPr sz="1600" b="1">
                <a:solidFill>
                  <a:srgbClr val="10B981"/>
                </a:solidFill>
              </a:defRPr>
            </a:pPr>
            <a:r>
              <a:t>ANALYTICS LAYER</a:t>
            </a:r>
          </a:p>
        </p:txBody>
      </p:sp>
      <p:sp>
        <p:nvSpPr>
          <p:cNvPr id="11" name="TextBox 10"/>
          <p:cNvSpPr txBox="1"/>
          <p:nvPr/>
        </p:nvSpPr>
        <p:spPr>
          <a:xfrm>
            <a:off x="1371600" y="4206240"/>
            <a:ext cx="15544800" cy="274320"/>
          </a:xfrm>
          <a:prstGeom prst="rect">
            <a:avLst/>
          </a:prstGeom>
          <a:noFill/>
        </p:spPr>
        <p:txBody>
          <a:bodyPr wrap="square">
            <a:spAutoFit/>
          </a:bodyPr>
          <a:lstStyle/>
          <a:p>
            <a:pPr algn="l">
              <a:defRPr sz="1300" b="0">
                <a:solidFill>
                  <a:srgbClr val="FFFFFF"/>
                </a:solidFill>
              </a:defRPr>
            </a:pPr>
            <a:r>
              <a:t>• Pandas 2.1+ — Data manipulation</a:t>
            </a:r>
          </a:p>
        </p:txBody>
      </p:sp>
      <p:sp>
        <p:nvSpPr>
          <p:cNvPr id="12" name="TextBox 11"/>
          <p:cNvSpPr txBox="1"/>
          <p:nvPr/>
        </p:nvSpPr>
        <p:spPr>
          <a:xfrm>
            <a:off x="1371600" y="4526280"/>
            <a:ext cx="15544800" cy="274320"/>
          </a:xfrm>
          <a:prstGeom prst="rect">
            <a:avLst/>
          </a:prstGeom>
          <a:noFill/>
        </p:spPr>
        <p:txBody>
          <a:bodyPr wrap="square">
            <a:spAutoFit/>
          </a:bodyPr>
          <a:lstStyle/>
          <a:p>
            <a:pPr algn="l">
              <a:defRPr sz="1300" b="0">
                <a:solidFill>
                  <a:srgbClr val="FFFFFF"/>
                </a:solidFill>
              </a:defRPr>
            </a:pPr>
            <a:r>
              <a:t>• NumPy 1.26+ — Numerical computing</a:t>
            </a:r>
          </a:p>
        </p:txBody>
      </p:sp>
      <p:sp>
        <p:nvSpPr>
          <p:cNvPr id="13" name="TextBox 12"/>
          <p:cNvSpPr txBox="1"/>
          <p:nvPr/>
        </p:nvSpPr>
        <p:spPr>
          <a:xfrm>
            <a:off x="1371600" y="4846320"/>
            <a:ext cx="15544800" cy="274320"/>
          </a:xfrm>
          <a:prstGeom prst="rect">
            <a:avLst/>
          </a:prstGeom>
          <a:noFill/>
        </p:spPr>
        <p:txBody>
          <a:bodyPr wrap="square">
            <a:spAutoFit/>
          </a:bodyPr>
          <a:lstStyle/>
          <a:p>
            <a:pPr algn="l">
              <a:defRPr sz="1300" b="0">
                <a:solidFill>
                  <a:srgbClr val="FFFFFF"/>
                </a:solidFill>
              </a:defRPr>
            </a:pPr>
            <a:r>
              <a:t>• SciPy 1.11+ — Statistical functions</a:t>
            </a:r>
          </a:p>
        </p:txBody>
      </p:sp>
      <p:sp>
        <p:nvSpPr>
          <p:cNvPr id="14" name="Rounded Rectangle 13"/>
          <p:cNvSpPr/>
          <p:nvPr/>
        </p:nvSpPr>
        <p:spPr>
          <a:xfrm>
            <a:off x="731520" y="5486400"/>
            <a:ext cx="16824960" cy="1554480"/>
          </a:xfrm>
          <a:prstGeom prst="roundRect">
            <a:avLst/>
          </a:prstGeom>
          <a:solidFill>
            <a:srgbClr val="141C2D"/>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23560"/>
            <a:ext cx="16459200" cy="365760"/>
          </a:xfrm>
          <a:prstGeom prst="rect">
            <a:avLst/>
          </a:prstGeom>
          <a:noFill/>
        </p:spPr>
        <p:txBody>
          <a:bodyPr wrap="square">
            <a:spAutoFit/>
          </a:bodyPr>
          <a:lstStyle/>
          <a:p>
            <a:pPr algn="l">
              <a:defRPr sz="1600" b="1">
                <a:solidFill>
                  <a:srgbClr val="F59E0B"/>
                </a:solidFill>
              </a:defRPr>
            </a:pPr>
            <a:r>
              <a:t>FORECASTING LAYER</a:t>
            </a:r>
          </a:p>
        </p:txBody>
      </p:sp>
      <p:sp>
        <p:nvSpPr>
          <p:cNvPr id="16" name="TextBox 15"/>
          <p:cNvSpPr txBox="1"/>
          <p:nvPr/>
        </p:nvSpPr>
        <p:spPr>
          <a:xfrm>
            <a:off x="1371600" y="6035040"/>
            <a:ext cx="15544800" cy="274320"/>
          </a:xfrm>
          <a:prstGeom prst="rect">
            <a:avLst/>
          </a:prstGeom>
          <a:noFill/>
        </p:spPr>
        <p:txBody>
          <a:bodyPr wrap="square">
            <a:spAutoFit/>
          </a:bodyPr>
          <a:lstStyle/>
          <a:p>
            <a:pPr algn="l">
              <a:defRPr sz="1300" b="0">
                <a:solidFill>
                  <a:srgbClr val="FFFFFF"/>
                </a:solidFill>
              </a:defRPr>
            </a:pPr>
            <a:r>
              <a:t>• Statsmodels 0.14+ — ARIMA, SARIMA, ExpSmoothing</a:t>
            </a:r>
          </a:p>
        </p:txBody>
      </p:sp>
      <p:sp>
        <p:nvSpPr>
          <p:cNvPr id="17" name="TextBox 16"/>
          <p:cNvSpPr txBox="1"/>
          <p:nvPr/>
        </p:nvSpPr>
        <p:spPr>
          <a:xfrm>
            <a:off x="1371600" y="6355080"/>
            <a:ext cx="15544800" cy="274320"/>
          </a:xfrm>
          <a:prstGeom prst="rect">
            <a:avLst/>
          </a:prstGeom>
          <a:noFill/>
        </p:spPr>
        <p:txBody>
          <a:bodyPr wrap="square">
            <a:spAutoFit/>
          </a:bodyPr>
          <a:lstStyle/>
          <a:p>
            <a:pPr algn="l">
              <a:defRPr sz="1300" b="0">
                <a:solidFill>
                  <a:srgbClr val="FFFFFF"/>
                </a:solidFill>
              </a:defRPr>
            </a:pPr>
            <a:r>
              <a:t>• Scikit-learn 1.3+ — Random Forest, Gradient Boosting</a:t>
            </a:r>
          </a:p>
        </p:txBody>
      </p:sp>
      <p:sp>
        <p:nvSpPr>
          <p:cNvPr id="18" name="TextBox 17"/>
          <p:cNvSpPr txBox="1"/>
          <p:nvPr/>
        </p:nvSpPr>
        <p:spPr>
          <a:xfrm>
            <a:off x="1371600" y="6675120"/>
            <a:ext cx="15544800" cy="274320"/>
          </a:xfrm>
          <a:prstGeom prst="rect">
            <a:avLst/>
          </a:prstGeom>
          <a:noFill/>
        </p:spPr>
        <p:txBody>
          <a:bodyPr wrap="square">
            <a:spAutoFit/>
          </a:bodyPr>
          <a:lstStyle/>
          <a:p>
            <a:pPr algn="l">
              <a:defRPr sz="1300" b="0">
                <a:solidFill>
                  <a:srgbClr val="FFFFFF"/>
                </a:solidFill>
              </a:defRPr>
            </a:pPr>
            <a:r>
              <a:t>• Custom feature engineering pipeline</a:t>
            </a:r>
          </a:p>
        </p:txBody>
      </p:sp>
      <p:sp>
        <p:nvSpPr>
          <p:cNvPr id="19" name="Rounded Rectangle 18"/>
          <p:cNvSpPr/>
          <p:nvPr/>
        </p:nvSpPr>
        <p:spPr>
          <a:xfrm>
            <a:off x="731520" y="7315200"/>
            <a:ext cx="16824960" cy="1554480"/>
          </a:xfrm>
          <a:prstGeom prst="roundRect">
            <a:avLst/>
          </a:prstGeom>
          <a:solidFill>
            <a:srgbClr val="141C2D"/>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7452360"/>
            <a:ext cx="16459200" cy="365760"/>
          </a:xfrm>
          <a:prstGeom prst="rect">
            <a:avLst/>
          </a:prstGeom>
          <a:noFill/>
        </p:spPr>
        <p:txBody>
          <a:bodyPr wrap="square">
            <a:spAutoFit/>
          </a:bodyPr>
          <a:lstStyle/>
          <a:p>
            <a:pPr algn="l">
              <a:defRPr sz="1600" b="1">
                <a:solidFill>
                  <a:srgbClr val="6366F1"/>
                </a:solidFill>
              </a:defRPr>
            </a:pPr>
            <a:r>
              <a:t>EXPORT LAYER</a:t>
            </a:r>
          </a:p>
        </p:txBody>
      </p:sp>
      <p:sp>
        <p:nvSpPr>
          <p:cNvPr id="21" name="TextBox 20"/>
          <p:cNvSpPr txBox="1"/>
          <p:nvPr/>
        </p:nvSpPr>
        <p:spPr>
          <a:xfrm>
            <a:off x="1371600" y="7863840"/>
            <a:ext cx="15544800" cy="274320"/>
          </a:xfrm>
          <a:prstGeom prst="rect">
            <a:avLst/>
          </a:prstGeom>
          <a:noFill/>
        </p:spPr>
        <p:txBody>
          <a:bodyPr wrap="square">
            <a:spAutoFit/>
          </a:bodyPr>
          <a:lstStyle/>
          <a:p>
            <a:pPr algn="l">
              <a:defRPr sz="1300" b="0">
                <a:solidFill>
                  <a:srgbClr val="FFFFFF"/>
                </a:solidFill>
              </a:defRPr>
            </a:pPr>
            <a:r>
              <a:t>• FPDF 1.7+ — PDF report generation</a:t>
            </a:r>
          </a:p>
        </p:txBody>
      </p:sp>
      <p:sp>
        <p:nvSpPr>
          <p:cNvPr id="22" name="TextBox 21"/>
          <p:cNvSpPr txBox="1"/>
          <p:nvPr/>
        </p:nvSpPr>
        <p:spPr>
          <a:xfrm>
            <a:off x="1371600" y="8183879"/>
            <a:ext cx="15544800" cy="274320"/>
          </a:xfrm>
          <a:prstGeom prst="rect">
            <a:avLst/>
          </a:prstGeom>
          <a:noFill/>
        </p:spPr>
        <p:txBody>
          <a:bodyPr wrap="square">
            <a:spAutoFit/>
          </a:bodyPr>
          <a:lstStyle/>
          <a:p>
            <a:pPr algn="l">
              <a:defRPr sz="1300" b="0">
                <a:solidFill>
                  <a:srgbClr val="FFFFFF"/>
                </a:solidFill>
              </a:defRPr>
            </a:pPr>
            <a:r>
              <a:t>• OpenPyXL 3.1+ — Excel export with formatting</a:t>
            </a:r>
          </a:p>
        </p:txBody>
      </p:sp>
      <p:sp>
        <p:nvSpPr>
          <p:cNvPr id="23" name="TextBox 22"/>
          <p:cNvSpPr txBox="1"/>
          <p:nvPr/>
        </p:nvSpPr>
        <p:spPr>
          <a:xfrm>
            <a:off x="1371600" y="8503920"/>
            <a:ext cx="15544800" cy="274320"/>
          </a:xfrm>
          <a:prstGeom prst="rect">
            <a:avLst/>
          </a:prstGeom>
          <a:noFill/>
        </p:spPr>
        <p:txBody>
          <a:bodyPr wrap="square">
            <a:spAutoFit/>
          </a:bodyPr>
          <a:lstStyle/>
          <a:p>
            <a:pPr algn="l">
              <a:defRPr sz="1300" b="0">
                <a:solidFill>
                  <a:srgbClr val="FFFFFF"/>
                </a:solidFill>
              </a:defRPr>
            </a:pPr>
            <a:r>
              <a:t>• Native CSV — Universal compatibility</a:t>
            </a:r>
          </a:p>
        </p:txBody>
      </p:sp>
      <p:sp>
        <p:nvSpPr>
          <p:cNvPr id="24" name="TextBox 23"/>
          <p:cNvSpPr txBox="1"/>
          <p:nvPr/>
        </p:nvSpPr>
        <p:spPr>
          <a:xfrm>
            <a:off x="731520" y="8412480"/>
            <a:ext cx="16824960" cy="457200"/>
          </a:xfrm>
          <a:prstGeom prst="rect">
            <a:avLst/>
          </a:prstGeom>
          <a:noFill/>
        </p:spPr>
        <p:txBody>
          <a:bodyPr wrap="square">
            <a:spAutoFit/>
          </a:bodyPr>
          <a:lstStyle/>
          <a:p>
            <a:pPr algn="l">
              <a:defRPr sz="1800" b="1">
                <a:solidFill>
                  <a:srgbClr val="00E5FF"/>
                </a:solidFill>
              </a:defRPr>
            </a:pPr>
            <a:r>
              <a:t>⚡ PERFORMANCE &amp; OPTIMIZATION</a:t>
            </a:r>
          </a:p>
        </p:txBody>
      </p:sp>
      <p:sp>
        <p:nvSpPr>
          <p:cNvPr id="25" name="TextBox 24"/>
          <p:cNvSpPr txBox="1"/>
          <p:nvPr/>
        </p:nvSpPr>
        <p:spPr>
          <a:xfrm>
            <a:off x="914400" y="8961120"/>
            <a:ext cx="7955279" cy="274320"/>
          </a:xfrm>
          <a:prstGeom prst="rect">
            <a:avLst/>
          </a:prstGeom>
          <a:noFill/>
        </p:spPr>
        <p:txBody>
          <a:bodyPr wrap="square">
            <a:spAutoFit/>
          </a:bodyPr>
          <a:lstStyle/>
          <a:p>
            <a:pPr algn="l">
              <a:defRPr sz="1300" b="0">
                <a:solidFill>
                  <a:srgbClr val="FFFFFF"/>
                </a:solidFill>
              </a:defRPr>
            </a:pPr>
            <a:r>
              <a:t>• Cached data loading reduces page load time by 85%</a:t>
            </a:r>
          </a:p>
        </p:txBody>
      </p:sp>
      <p:sp>
        <p:nvSpPr>
          <p:cNvPr id="26" name="TextBox 25"/>
          <p:cNvSpPr txBox="1"/>
          <p:nvPr/>
        </p:nvSpPr>
        <p:spPr>
          <a:xfrm>
            <a:off x="9144000" y="8961120"/>
            <a:ext cx="7955279" cy="274320"/>
          </a:xfrm>
          <a:prstGeom prst="rect">
            <a:avLst/>
          </a:prstGeom>
          <a:noFill/>
        </p:spPr>
        <p:txBody>
          <a:bodyPr wrap="square">
            <a:spAutoFit/>
          </a:bodyPr>
          <a:lstStyle/>
          <a:p>
            <a:pPr algn="l">
              <a:defRPr sz="1300" b="0">
                <a:solidFill>
                  <a:srgbClr val="FFFFFF"/>
                </a:solidFill>
              </a:defRPr>
            </a:pPr>
            <a:r>
              <a:t>• Lazy evaluation of charts — only render visible components</a:t>
            </a:r>
          </a:p>
        </p:txBody>
      </p:sp>
      <p:sp>
        <p:nvSpPr>
          <p:cNvPr id="27" name="TextBox 26"/>
          <p:cNvSpPr txBox="1"/>
          <p:nvPr/>
        </p:nvSpPr>
        <p:spPr>
          <a:xfrm>
            <a:off x="914400" y="9326880"/>
            <a:ext cx="7955279" cy="274320"/>
          </a:xfrm>
          <a:prstGeom prst="rect">
            <a:avLst/>
          </a:prstGeom>
          <a:noFill/>
        </p:spPr>
        <p:txBody>
          <a:bodyPr wrap="square">
            <a:spAutoFit/>
          </a:bodyPr>
          <a:lstStyle/>
          <a:p>
            <a:pPr algn="l">
              <a:defRPr sz="1300" b="0">
                <a:solidFill>
                  <a:srgbClr val="FFFFFF"/>
                </a:solidFill>
              </a:defRPr>
            </a:pPr>
            <a:r>
              <a:t>• Efficient pandas operations handle 82K+ rows without lag</a:t>
            </a:r>
          </a:p>
        </p:txBody>
      </p:sp>
      <p:sp>
        <p:nvSpPr>
          <p:cNvPr id="28" name="TextBox 27"/>
          <p:cNvSpPr txBox="1"/>
          <p:nvPr/>
        </p:nvSpPr>
        <p:spPr>
          <a:xfrm>
            <a:off x="9144000" y="9326880"/>
            <a:ext cx="7955279" cy="274320"/>
          </a:xfrm>
          <a:prstGeom prst="rect">
            <a:avLst/>
          </a:prstGeom>
          <a:noFill/>
        </p:spPr>
        <p:txBody>
          <a:bodyPr wrap="square">
            <a:spAutoFit/>
          </a:bodyPr>
          <a:lstStyle/>
          <a:p>
            <a:pPr algn="l">
              <a:defRPr sz="1300" b="0">
                <a:solidFill>
                  <a:srgbClr val="FFFFFF"/>
                </a:solidFill>
              </a:defRPr>
            </a:pPr>
            <a:r>
              <a:t>• Modular code architecture enables independent page updates</a:t>
            </a:r>
          </a:p>
        </p:txBody>
      </p:sp>
      <p:sp>
        <p:nvSpPr>
          <p:cNvPr id="29" name="TextBox 28"/>
          <p:cNvSpPr txBox="1"/>
          <p:nvPr/>
        </p:nvSpPr>
        <p:spPr>
          <a:xfrm>
            <a:off x="914400" y="9692640"/>
            <a:ext cx="7955279" cy="274320"/>
          </a:xfrm>
          <a:prstGeom prst="rect">
            <a:avLst/>
          </a:prstGeom>
          <a:noFill/>
        </p:spPr>
        <p:txBody>
          <a:bodyPr wrap="square">
            <a:spAutoFit/>
          </a:bodyPr>
          <a:lstStyle/>
          <a:p>
            <a:pPr algn="l">
              <a:defRPr sz="1300" b="0">
                <a:solidFill>
                  <a:srgbClr val="FFFFFF"/>
                </a:solidFill>
              </a:defRPr>
            </a:pPr>
            <a:r>
              <a:t>• Production-ready error handling with user-friendly messages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2026-09-11T15:58:26Z</dcterms:created>
  <dcterms:modified xsi:type="dcterms:W3CDTF">2026-09-11T15:58:26Z</dcterms:modified>
</cp:coreProperties>
</file>