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046720" cy="96012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772400" cy="8686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QC STORY</a:t>
            </a:r>
          </a:p>
          <a:p>
            <a:r>
              <a:rPr sz="1150" b="1">
                <a:solidFill>
                  <a:srgbClr val="38BDF8"/>
                </a:solidFill>
              </a:rPr>
              <a:t>SMALL STEPS, BIG IMPACT  •  </a:t>
            </a:r>
            <a:r>
              <a:rPr sz="1150">
                <a:solidFill>
                  <a:srgbClr val="E0E7FF"/>
                </a:solidFill>
              </a:rPr>
              <a:t>AI Demand Forecasting &amp; Dynamic Inventory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49640" y="274320"/>
            <a:ext cx="4389120" cy="9601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1080" y="347472"/>
            <a:ext cx="4206240" cy="8229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1050" i="1" b="1">
                <a:solidFill>
                  <a:srgbClr val="0284C7"/>
                </a:solidFill>
              </a:defRPr>
            </a:pPr>
            <a:r>
              <a:t>"Predictive Precision Today, Resilient Supply Chain Tomorrow"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ISB AMPBA Capstone Project with Deloitte  |  Commercial Air Conditioning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1033271"/>
            <a:ext cx="73152" cy="10972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51007" y="978407"/>
            <a:ext cx="73152" cy="16459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60736" y="923544"/>
            <a:ext cx="73152" cy="21945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70463" y="868680"/>
            <a:ext cx="73152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075920" y="274320"/>
            <a:ext cx="4846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13080" y="320040"/>
            <a:ext cx="4572000" cy="8686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b="1" sz="950">
                <a:solidFill>
                  <a:srgbClr val="0F172A"/>
                </a:solidFill>
              </a:rPr>
              <a:t>Team Name  : </a:t>
            </a:r>
            <a:r>
              <a:rPr sz="900">
                <a:solidFill>
                  <a:srgbClr val="475569"/>
                </a:solidFill>
              </a:rPr>
              <a:t>ISB Capstone Team (Sai Prashanth, Arvind, Hariharan, Vani, Vedika)</a:t>
            </a:r>
          </a:p>
          <a:p>
            <a:r>
              <a:rPr b="1" sz="950">
                <a:solidFill>
                  <a:srgbClr val="0F172A"/>
                </a:solidFill>
              </a:rPr>
              <a:t>Sponsor      : </a:t>
            </a:r>
            <a:r>
              <a:rPr sz="900">
                <a:solidFill>
                  <a:srgbClr val="475569"/>
                </a:solidFill>
              </a:rPr>
              <a:t>Deloitte  |  Department: Supply Chain &amp; Analytics</a:t>
            </a:r>
          </a:p>
          <a:p>
            <a:r>
              <a:rPr b="1" sz="950">
                <a:solidFill>
                  <a:srgbClr val="0F172A"/>
                </a:solidFill>
              </a:rPr>
              <a:t>Evaluation   : </a:t>
            </a:r>
            <a:r>
              <a:rPr sz="900" b="1">
                <a:solidFill>
                  <a:srgbClr val="10B981"/>
                </a:solidFill>
              </a:rPr>
              <a:t>FY24-25 Holdout Validated (444K units) | 14/14 Audits Passed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3258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325880"/>
            <a:ext cx="5120640" cy="292608"/>
          </a:xfrm>
          <a:prstGeom prst="rect">
            <a:avLst/>
          </a:prstGeom>
          <a:solidFill>
            <a:srgbClr val="2B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 rIns="45720" bIns="0"/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1   THEME / PROBLEM STATEMENT</a:t>
            </a:r>
          </a:p>
        </p:txBody>
      </p:sp>
      <p:sp>
        <p:nvSpPr>
          <p:cNvPr id="14" name="Oval 13"/>
          <p:cNvSpPr/>
          <p:nvPr/>
        </p:nvSpPr>
        <p:spPr>
          <a:xfrm>
            <a:off x="530352" y="1783080"/>
            <a:ext cx="585216" cy="58521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282" y="1865010"/>
            <a:ext cx="421355" cy="4213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8360" y="1941088"/>
            <a:ext cx="269199" cy="269199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8586" y="2011314"/>
            <a:ext cx="128747" cy="1287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1655064"/>
            <a:ext cx="4160520" cy="18288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b="1" sz="900">
                <a:solidFill>
                  <a:srgbClr val="0F172A"/>
                </a:solidFill>
              </a:rPr>
              <a:t>Title : </a:t>
            </a:r>
            <a:r>
              <a:rPr b="1" sz="900">
                <a:solidFill>
                  <a:srgbClr val="2B4C7E"/>
                </a:solidFill>
              </a:rPr>
              <a:t>AI SKU Demand Forecasting &amp; Safety Stock Sizing</a:t>
            </a:r>
          </a:p>
          <a:p>
            <a:r>
              <a:rPr b="1" sz="900">
                <a:solidFill>
                  <a:srgbClr val="0F172A"/>
                </a:solidFill>
              </a:rPr>
              <a:t>Process/Line : </a:t>
            </a:r>
            <a:r>
              <a:rPr b="0" sz="900">
                <a:solidFill>
                  <a:srgbClr val="475569"/>
                </a:solidFill>
              </a:rPr>
              <a:t>Commercial Room AC (RA-ODU) Supply Chain — 5 South Hubs</a:t>
            </a:r>
          </a:p>
          <a:p>
            <a:r>
              <a:rPr b="1" sz="900">
                <a:solidFill>
                  <a:srgbClr val="0F172A"/>
                </a:solidFill>
              </a:rPr>
              <a:t>Problem : </a:t>
            </a:r>
            <a:r>
              <a:rPr b="0" sz="900">
                <a:solidFill>
                  <a:srgbClr val="475569"/>
                </a:solidFill>
              </a:rPr>
              <a:t>97.1% volatile/lumpy demand &amp; acute Q4 summer surge cause severe stockouts and massive post-season dead-stock under legacy 8-wk moving average.</a:t>
            </a:r>
          </a:p>
          <a:p>
            <a:r>
              <a:rPr b="1" sz="900">
                <a:solidFill>
                  <a:srgbClr val="0F172A"/>
                </a:solidFill>
              </a:rPr>
              <a:t>Period : </a:t>
            </a:r>
            <a:r>
              <a:rPr b="0" sz="900">
                <a:solidFill>
                  <a:srgbClr val="1E40AF"/>
                </a:solidFill>
              </a:rPr>
              <a:t>Jul 2021 – Jun 2024 (Training) to FY25 (Holdout Validation)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325880"/>
            <a:ext cx="6858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1325880"/>
            <a:ext cx="6858000" cy="292608"/>
          </a:xfrm>
          <a:prstGeom prst="rect">
            <a:avLst/>
          </a:prstGeom>
          <a:solidFill>
            <a:srgbClr val="2E6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 rIns="45720" bIns="0"/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2   CURRENT SITUATION (AS-IS)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1645919"/>
            <a:ext cx="6675120" cy="640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• What is happening? Acute demand lumpiness (45% annual sales in 10 summer weeks); legacy MA ignores seasonality.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Where is it occurring? 5 South Hubs: Chennai (MAA 36.7%), Hyderabad (SBD/SBD1 43.4%), Cochin (COK 10%), Bangalore (BLR 9.9%).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Scale: 99,395 real billing transactions across 240 active ODU SKUs and 1,038 billing days analyzed.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760720" y="2350008"/>
          <a:ext cx="429768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</a:tblGrid>
              <a:tr h="262890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0F172A"/>
                          </a:solidFill>
                        </a:defRPr>
                      </a:pPr>
                      <a:r>
                        <a:t>Demand Pattern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97.1% Volatile (62.3% Erratic, 34.8% Lumpy by Syntetos-Boylan)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0F172A"/>
                          </a:solidFill>
                        </a:defRPr>
                      </a:pPr>
                      <a:r>
                        <a:t>Legacy Forecast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Static 8-week Moving Average (~50% weekly WAPE error)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0F172A"/>
                          </a:solidFill>
                        </a:defRPr>
                      </a:pPr>
                      <a:r>
                        <a:t>Working Capital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Excess safety stocks tying up ~20% unneeded buffer capital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0F172A"/>
                          </a:solidFill>
                        </a:defRPr>
                      </a:pPr>
                      <a:r>
                        <a:t>Stockout Risk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Recurrent peak stockouts on fast-moving 1.5T/2.0T high-margin SKUs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10195560" y="2350008"/>
            <a:ext cx="214884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2386584"/>
            <a:ext cx="205740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b="1" sz="800">
                <a:solidFill>
                  <a:srgbClr val="2E6930"/>
                </a:solidFill>
              </a:defRPr>
            </a:pPr>
            <a:r>
              <a:t>Summer Peak Surge (As-Is)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24160" y="3035808"/>
            <a:ext cx="329184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51008" y="3236976"/>
            <a:ext cx="47548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650">
                <a:solidFill>
                  <a:srgbClr val="0F172A"/>
                </a:solidFill>
              </a:defRPr>
            </a:pPr>
            <a:r>
              <a:t>Q1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63072" y="2990088"/>
            <a:ext cx="329184" cy="228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0" y="3236976"/>
            <a:ext cx="47548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650">
                <a:solidFill>
                  <a:srgbClr val="0F172A"/>
                </a:solidFill>
              </a:defRPr>
            </a:pPr>
            <a:r>
              <a:t>Q2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301984" y="2871216"/>
            <a:ext cx="329184" cy="34747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28832" y="3236976"/>
            <a:ext cx="47548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650">
                <a:solidFill>
                  <a:srgbClr val="0F172A"/>
                </a:solidFill>
              </a:defRPr>
            </a:pPr>
            <a:r>
              <a:t>Q3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740896" y="2532888"/>
            <a:ext cx="329184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67744" y="3236976"/>
            <a:ext cx="47548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650">
                <a:solidFill>
                  <a:srgbClr val="0F172A"/>
                </a:solidFill>
              </a:defRPr>
            </a:pPr>
            <a:r>
              <a:t>Q4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618720" y="132588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618720" y="1325880"/>
            <a:ext cx="530352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 rIns="45720" bIns="0"/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3   TARGET (GOAL)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755880" y="1673352"/>
            <a:ext cx="3108960" cy="1783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b="1" sz="950">
                <a:solidFill>
                  <a:srgbClr val="0F172A"/>
                </a:solidFill>
              </a:defRPr>
            </a:pPr>
            <a:r>
              <a:t>Target Statement: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Deploy multi-model AI forecasting engine to minimize forecast error and optimize safety stock buffers.</a:t>
            </a:r>
          </a:p>
          <a:p>
            <a:r>
              <a:rPr b="1" sz="900">
                <a:solidFill>
                  <a:srgbClr val="0F172A"/>
                </a:solidFill>
              </a:rPr>
              <a:t>Reduce : </a:t>
            </a:r>
            <a:r>
              <a:rPr b="0" sz="900">
                <a:solidFill>
                  <a:srgbClr val="475569"/>
                </a:solidFill>
              </a:rPr>
              <a:t>WAPE Forecast Error &amp; Excess Buffer</a:t>
            </a:r>
          </a:p>
          <a:p>
            <a:r>
              <a:rPr b="1" sz="900">
                <a:solidFill>
                  <a:srgbClr val="0F172A"/>
                </a:solidFill>
              </a:rPr>
              <a:t>From : </a:t>
            </a:r>
            <a:r>
              <a:rPr b="0" sz="900">
                <a:solidFill>
                  <a:srgbClr val="475569"/>
                </a:solidFill>
              </a:rPr>
              <a:t>Legacy MA (~50-60% weekly error)</a:t>
            </a:r>
          </a:p>
          <a:p>
            <a:r>
              <a:rPr b="1" sz="900">
                <a:solidFill>
                  <a:srgbClr val="0F172A"/>
                </a:solidFill>
              </a:rPr>
              <a:t>To : </a:t>
            </a:r>
            <a:r>
              <a:rPr b="1" sz="900">
                <a:solidFill>
                  <a:srgbClr val="B45309"/>
                </a:solidFill>
              </a:rPr>
              <a:t>Monthly WAPE &lt;=34.4% (Acc &gt;=65.6%), Qtr Acc &gt;=71.8%</a:t>
            </a:r>
          </a:p>
          <a:p>
            <a:r>
              <a:rPr b="1" sz="900">
                <a:solidFill>
                  <a:srgbClr val="0F172A"/>
                </a:solidFill>
              </a:rPr>
              <a:t>By Date : </a:t>
            </a:r>
            <a:r>
              <a:rPr b="1" sz="900">
                <a:solidFill>
                  <a:srgbClr val="0F172A"/>
                </a:solidFill>
              </a:rPr>
              <a:t>FY25 Holdout Deployment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002000" y="1737360"/>
            <a:ext cx="1783080" cy="16459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047720" y="1783080"/>
            <a:ext cx="1691640" cy="1554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b="1" sz="1300">
                <a:solidFill>
                  <a:srgbClr val="B45309"/>
                </a:solidFill>
              </a:defRPr>
            </a:pPr>
            <a:r>
              <a:t>🎯 GOAL</a:t>
            </a:r>
          </a:p>
          <a:p>
            <a:pPr algn="ctr">
              <a:defRPr b="1" sz="950">
                <a:solidFill>
                  <a:srgbClr val="0F172A"/>
                </a:solidFill>
              </a:defRPr>
            </a:pPr>
            <a:r>
              <a:t>Leaner Inventory</a:t>
            </a:r>
            <a:br/>
            <a:r>
              <a:t>Zero Stockouts</a:t>
            </a:r>
            <a:br/>
            <a:r>
              <a:t>Happier Customers</a:t>
            </a:r>
          </a:p>
          <a:p>
            <a:br/>
            <a:pPr algn="ctr">
              <a:defRPr b="1" sz="800">
                <a:solidFill>
                  <a:srgbClr val="047857"/>
                </a:solidFill>
              </a:defRPr>
            </a:pPr>
            <a:r>
              <a:t>✓ 71.8% Regional Acc</a:t>
            </a:r>
            <a:br/>
            <a:r>
              <a:t>✓ ~20% Buffer Cut</a:t>
            </a:r>
            <a:br/>
            <a:r>
              <a:t>✓ &gt;=95% OTIF Fill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3639312"/>
            <a:ext cx="804672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9312"/>
            <a:ext cx="8046720" cy="292608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 rIns="45720" bIns="0"/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4   ROOT CAUSE ANALYSIS  (WHY-WHY / FISHBONE)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626864"/>
            <a:ext cx="2697480" cy="36576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337560" y="4425696"/>
            <a:ext cx="1188720" cy="438912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b="1" sz="750">
                <a:solidFill>
                  <a:srgbClr val="C53030"/>
                </a:solidFill>
              </a:defRPr>
            </a:pPr>
            <a:r>
              <a:t>Inaccurate Demand &amp; Stock Imbalance</a:t>
            </a:r>
          </a:p>
        </p:txBody>
      </p:sp>
      <p:sp>
        <p:nvSpPr>
          <p:cNvPr id="42" name="Rectangle 41"/>
          <p:cNvSpPr/>
          <p:nvPr/>
        </p:nvSpPr>
        <p:spPr>
          <a:xfrm rot="2700000">
            <a:off x="1051560" y="4315968"/>
            <a:ext cx="320040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85800" y="4032504"/>
            <a:ext cx="77724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700">
                <a:solidFill>
                  <a:srgbClr val="0F172A"/>
                </a:solidFill>
              </a:defRPr>
            </a:pPr>
            <a:r>
              <a:t>Method</a:t>
            </a:r>
          </a:p>
        </p:txBody>
      </p:sp>
      <p:sp>
        <p:nvSpPr>
          <p:cNvPr id="44" name="Rectangle 43"/>
          <p:cNvSpPr/>
          <p:nvPr/>
        </p:nvSpPr>
        <p:spPr>
          <a:xfrm rot="2700000">
            <a:off x="1965960" y="4315968"/>
            <a:ext cx="320040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600200" y="4032504"/>
            <a:ext cx="77724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700">
                <a:solidFill>
                  <a:srgbClr val="0F172A"/>
                </a:solidFill>
              </a:defRPr>
            </a:pPr>
            <a:r>
              <a:t>Machine</a:t>
            </a:r>
          </a:p>
        </p:txBody>
      </p:sp>
      <p:sp>
        <p:nvSpPr>
          <p:cNvPr id="46" name="Rectangle 45"/>
          <p:cNvSpPr/>
          <p:nvPr/>
        </p:nvSpPr>
        <p:spPr>
          <a:xfrm rot="2700000">
            <a:off x="2880360" y="4315968"/>
            <a:ext cx="320040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514600" y="4032504"/>
            <a:ext cx="77724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700">
                <a:solidFill>
                  <a:srgbClr val="0F172A"/>
                </a:solidFill>
              </a:defRPr>
            </a:pPr>
            <a:r>
              <a:t>Measurement</a:t>
            </a:r>
          </a:p>
        </p:txBody>
      </p:sp>
      <p:sp>
        <p:nvSpPr>
          <p:cNvPr id="48" name="Rectangle 47"/>
          <p:cNvSpPr/>
          <p:nvPr/>
        </p:nvSpPr>
        <p:spPr>
          <a:xfrm rot="8100000">
            <a:off x="1051560" y="4946904"/>
            <a:ext cx="320040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85800" y="5038344"/>
            <a:ext cx="77724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700">
                <a:solidFill>
                  <a:srgbClr val="0F172A"/>
                </a:solidFill>
              </a:defRPr>
            </a:pPr>
            <a:r>
              <a:t>Material</a:t>
            </a:r>
          </a:p>
        </p:txBody>
      </p:sp>
      <p:sp>
        <p:nvSpPr>
          <p:cNvPr id="50" name="Rectangle 49"/>
          <p:cNvSpPr/>
          <p:nvPr/>
        </p:nvSpPr>
        <p:spPr>
          <a:xfrm rot="8100000">
            <a:off x="1965960" y="4946904"/>
            <a:ext cx="320040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600200" y="5038344"/>
            <a:ext cx="77724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700">
                <a:solidFill>
                  <a:srgbClr val="0F172A"/>
                </a:solidFill>
              </a:defRPr>
            </a:pPr>
            <a:r>
              <a:t>Environment</a:t>
            </a:r>
          </a:p>
        </p:txBody>
      </p:sp>
      <p:sp>
        <p:nvSpPr>
          <p:cNvPr id="52" name="Rectangle 51"/>
          <p:cNvSpPr/>
          <p:nvPr/>
        </p:nvSpPr>
        <p:spPr>
          <a:xfrm rot="8100000">
            <a:off x="2880360" y="4946904"/>
            <a:ext cx="320040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514600" y="5038344"/>
            <a:ext cx="77724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700">
                <a:solidFill>
                  <a:srgbClr val="0F172A"/>
                </a:solidFill>
              </a:defRPr>
            </a:pPr>
            <a:r>
              <a:t>Management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4572000" y="3986784"/>
          <a:ext cx="370332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325880"/>
                <a:gridCol w="685800"/>
              </a:tblGrid>
              <a:tr h="331470">
                <a:tc>
                  <a:txBody>
                    <a:bodyPr/>
                    <a:lstStyle/>
                    <a:p>
                      <a:pPr>
                        <a:defRPr b="1" sz="750">
                          <a:solidFill>
                            <a:srgbClr val="C53030"/>
                          </a:solidFill>
                        </a:defRPr>
                      </a:pPr>
                      <a:r>
                        <a:t>Potential Cause</a:t>
                      </a:r>
                    </a:p>
                  </a:txBody>
                  <a:tcPr marL="36576" marR="36576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50">
                          <a:solidFill>
                            <a:srgbClr val="C53030"/>
                          </a:solidFill>
                        </a:defRPr>
                      </a:pPr>
                      <a:r>
                        <a:t>Verification</a:t>
                      </a:r>
                    </a:p>
                  </a:txBody>
                  <a:tcPr marL="36576" marR="36576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50">
                          <a:solidFill>
                            <a:srgbClr val="C53030"/>
                          </a:solidFill>
                        </a:defRPr>
                      </a:pPr>
                      <a:r>
                        <a:t>Root Cause</a:t>
                      </a:r>
                    </a:p>
                  </a:txBody>
                  <a:tcPr marL="36576" marR="36576">
                    <a:solidFill>
                      <a:srgbClr val="FEE2E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Static Moving Average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52-wk holdout backtest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C53030"/>
                          </a:solidFill>
                        </a:defRPr>
                      </a:pPr>
                      <a:r>
                        <a:t>YES (Y)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No Demand Profiling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Syntetos-Boylan test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C53030"/>
                          </a:solidFill>
                        </a:defRPr>
                      </a:pPr>
                      <a:r>
                        <a:t>YES (Y)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Isolated Single Series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LightGBM cross-learning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C53030"/>
                          </a:solidFill>
                        </a:defRPr>
                      </a:pPr>
                      <a:r>
                        <a:t>YES (Y)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5" name="Rounded Rectangle 54"/>
          <p:cNvSpPr/>
          <p:nvPr/>
        </p:nvSpPr>
        <p:spPr>
          <a:xfrm>
            <a:off x="475488" y="5376672"/>
            <a:ext cx="7827264" cy="402336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" y="5394960"/>
            <a:ext cx="7717536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b="1" sz="850">
                <a:solidFill>
                  <a:srgbClr val="C53030"/>
                </a:solidFill>
              </a:rPr>
              <a:t>Root Cause Identified: </a:t>
            </a:r>
            <a:r>
              <a:rPr sz="800">
                <a:solidFill>
                  <a:srgbClr val="0F172A"/>
                </a:solidFill>
              </a:rPr>
              <a:t>Isolated single-series statistical rules cannot learn cross-SKU dynamics or adapt to extreme lumpy intermittency without machine learning and demand quadrant segmentation.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49640" y="3639312"/>
            <a:ext cx="937260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549640" y="3639312"/>
            <a:ext cx="9372600" cy="292608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 rIns="45720" bIns="0"/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5   COUNTERMEASURE</a:t>
            </a: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8686800" y="3986784"/>
          <a:ext cx="740664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383280"/>
                <a:gridCol w="1005840"/>
                <a:gridCol w="1005840"/>
              </a:tblGrid>
              <a:tr h="351129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6B46C1"/>
                          </a:solidFill>
                        </a:defRPr>
                      </a:pPr>
                      <a:r>
                        <a:t>Root Cause</a:t>
                      </a:r>
                    </a:p>
                  </a:txBody>
                  <a:tcPr marL="45720" marR="45720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6B46C1"/>
                          </a:solidFill>
                        </a:defRPr>
                      </a:pPr>
                      <a:r>
                        <a:t>Action Planned / Countermeasure</a:t>
                      </a:r>
                    </a:p>
                  </a:txBody>
                  <a:tcPr marL="45720" marR="45720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6B46C1"/>
                          </a:solidFill>
                        </a:defRPr>
                      </a:pPr>
                      <a:r>
                        <a:t>Responsibility</a:t>
                      </a:r>
                    </a:p>
                  </a:txBody>
                  <a:tcPr marL="45720" marR="45720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6B46C1"/>
                          </a:solidFill>
                        </a:defRPr>
                      </a:pPr>
                      <a:r>
                        <a:t>Due / Status</a:t>
                      </a:r>
                    </a:p>
                  </a:txBody>
                  <a:tcPr marL="45720" marR="45720">
                    <a:solidFill>
                      <a:srgbClr val="F3E8FF"/>
                    </a:solidFill>
                  </a:tcPr>
                </a:tc>
              </a:tr>
              <a:tr h="351129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Lumpy Intermittency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Syntetos-Boylan demand quadrant classification (Smooth, Erratic, Lumpy, Intermittent)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Data Science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10B981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</a:tr>
              <a:tr h="351129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Single-Series Limits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17-Model Tournament: Global LightGBM cross-learning, SARIMA, ETS, Croston/TSB/SBA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ML Team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10B981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Overfitting Risk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Strict 52-week rolling-origin holdout backtesting; zero lookahead data leakage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Validation Lead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10B981"/>
                          </a:solidFill>
                        </a:defRPr>
                      </a:pPr>
                      <a:r>
                        <a:t>14/14 Passed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</a:tr>
              <a:tr h="351132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Planner Operational Gap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7-Page Interactive Streamlit Cockpit with live forecasting, P10/P90 &amp; report exports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Product Lead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10B981"/>
                          </a:solidFill>
                        </a:defRPr>
                      </a:pPr>
                      <a:r>
                        <a:t>Live Deployed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Rounded Rectangle 59"/>
          <p:cNvSpPr/>
          <p:nvPr/>
        </p:nvSpPr>
        <p:spPr>
          <a:xfrm>
            <a:off x="16230600" y="4050791"/>
            <a:ext cx="1554480" cy="16459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276319" y="4096512"/>
            <a:ext cx="1463040" cy="1554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b="1" sz="1050">
                <a:solidFill>
                  <a:srgbClr val="6B46C1"/>
                </a:solidFill>
              </a:defRPr>
            </a:pPr>
            <a:r>
              <a:t>📋 CHECKLIST</a:t>
            </a:r>
          </a:p>
          <a:p>
            <a:r>
              <a:rPr b="1" sz="800">
                <a:solidFill>
                  <a:srgbClr val="6D28D9"/>
                </a:solidFill>
              </a:rPr>
              <a:t>☑ Eliminate
</a:t>
            </a:r>
            <a:r>
              <a:rPr sz="700">
                <a:solidFill>
                  <a:srgbClr val="475569"/>
                </a:solidFill>
              </a:rPr>
              <a:t>Blind factory push &amp; static Excel models</a:t>
            </a:r>
          </a:p>
          <a:p>
            <a:r>
              <a:rPr b="1" sz="800">
                <a:solidFill>
                  <a:srgbClr val="6D28D9"/>
                </a:solidFill>
              </a:rPr>
              <a:t>☑ Prevent
</a:t>
            </a:r>
            <a:r>
              <a:rPr sz="700">
                <a:solidFill>
                  <a:srgbClr val="475569"/>
                </a:solidFill>
              </a:rPr>
              <a:t>Peak summer stockouts &amp; post-season dead stock</a:t>
            </a:r>
          </a:p>
          <a:p>
            <a:r>
              <a:rPr b="1" sz="800">
                <a:solidFill>
                  <a:srgbClr val="6D28D9"/>
                </a:solidFill>
              </a:rPr>
              <a:t>☑ Sustain
</a:t>
            </a:r>
            <a:r>
              <a:rPr sz="700">
                <a:solidFill>
                  <a:srgbClr val="475569"/>
                </a:solidFill>
              </a:rPr>
              <a:t>Automated drift audit &amp; continuous retraining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5760" y="5925312"/>
            <a:ext cx="804672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5760" y="5925312"/>
            <a:ext cx="80467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 rIns="45720" bIns="0"/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6   IMPLEMENTATION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5488" y="6254496"/>
            <a:ext cx="3931920" cy="1508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b="1" sz="850">
                <a:solidFill>
                  <a:srgbClr val="0D9488"/>
                </a:solidFill>
              </a:defRPr>
            </a:pPr>
            <a:r>
              <a:t>Actions Completed:</a:t>
            </a:r>
          </a:p>
          <a:p>
            <a:r>
              <a:rPr b="1" sz="750">
                <a:solidFill>
                  <a:srgbClr val="0F172A"/>
                </a:solidFill>
              </a:rPr>
              <a:t>1. Data Pipeline &amp; Cleaning: </a:t>
            </a:r>
            <a:r>
              <a:rPr sz="700">
                <a:solidFill>
                  <a:srgbClr val="475569"/>
                </a:solidFill>
              </a:rPr>
              <a:t>Cleaned 99,395 transactions, isolated synthetic sheets, audited 14/14 zero-leakage validation checks.</a:t>
            </a:r>
          </a:p>
          <a:p>
            <a:r>
              <a:rPr b="1" sz="750">
                <a:solidFill>
                  <a:srgbClr val="0F172A"/>
                </a:solidFill>
              </a:rPr>
              <a:t>2. Multi-Model Architecture: </a:t>
            </a:r>
            <a:r>
              <a:rPr sz="700">
                <a:solidFill>
                  <a:srgbClr val="475569"/>
                </a:solidFill>
              </a:rPr>
              <a:t>Built global LightGBM cross-learning model pooling 273 series with lag, rolling &amp; seasonal index features.</a:t>
            </a:r>
          </a:p>
          <a:p>
            <a:r>
              <a:rPr b="1" sz="750">
                <a:solidFill>
                  <a:srgbClr val="0F172A"/>
                </a:solidFill>
              </a:rPr>
              <a:t>3. Interactive Streamlit Cockpit: </a:t>
            </a:r>
            <a:r>
              <a:rPr sz="700">
                <a:solidFill>
                  <a:srgbClr val="475569"/>
                </a:solidFill>
              </a:rPr>
              <a:t>Shipped 7-module dashboard: Executive Cockpit, Forecast Visualizer, Inventory Optimizer, Report Generators.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26280" y="6336792"/>
            <a:ext cx="1691640" cy="13533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0" y="6382512"/>
            <a:ext cx="1600200" cy="12618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b="1" sz="800">
                <a:solidFill>
                  <a:srgbClr val="64748B"/>
                </a:solidFill>
              </a:defRPr>
            </a:pPr>
            <a:r>
              <a:t>BEFORE (As-Is)</a:t>
            </a:r>
          </a:p>
          <a:p>
            <a:pPr>
              <a:defRPr sz="700">
                <a:solidFill>
                  <a:srgbClr val="475569"/>
                </a:solidFill>
              </a:defRPr>
            </a:pPr>
            <a:r>
              <a:t>• Static 8-wk Moving Avg</a:t>
            </a:r>
            <a:br/>
            <a:r>
              <a:t>• Sub-50% weekly accuracy</a:t>
            </a:r>
            <a:br/>
            <a:r>
              <a:t>• Reactive factory push</a:t>
            </a:r>
            <a:br/>
            <a:r>
              <a:t>• Frequent peak stockouts</a:t>
            </a:r>
            <a:br/>
            <a:r>
              <a:t>• ~20% excess safety stock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6263640" y="6885432"/>
            <a:ext cx="320040" cy="2286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629400" y="6336792"/>
            <a:ext cx="1691640" cy="135331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75120" y="6382512"/>
            <a:ext cx="1600200" cy="12618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b="1" sz="800">
                <a:solidFill>
                  <a:srgbClr val="0D9488"/>
                </a:solidFill>
              </a:defRPr>
            </a:pPr>
            <a:r>
              <a:t>AFTER (AI Cockpit)</a:t>
            </a:r>
          </a:p>
          <a:p>
            <a:pPr>
              <a:defRPr sz="700">
                <a:solidFill>
                  <a:srgbClr val="0F172A"/>
                </a:solidFill>
              </a:defRPr>
            </a:pPr>
            <a:r>
              <a:t>• Global LightGBM cross-learn</a:t>
            </a:r>
            <a:br/>
            <a:r>
              <a:t>• 71.8% Regional Qtr Acc</a:t>
            </a:r>
            <a:br/>
            <a:r>
              <a:t>• 65.6% Monthly Acc</a:t>
            </a:r>
            <a:br/>
            <a:r>
              <a:t>• ~20% leaner safety stock</a:t>
            </a:r>
            <a:br/>
            <a:r>
              <a:t>• Live 7-page interactive UI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549640" y="5925312"/>
            <a:ext cx="937260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549640" y="5925312"/>
            <a:ext cx="937260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 rIns="45720" bIns="0"/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7   RESULTS &amp; BUSINESS IMPACT</a:t>
            </a:r>
          </a:p>
        </p:txBody>
      </p:sp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8686800" y="6272784"/>
          <a:ext cx="71323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645920"/>
                <a:gridCol w="1828800"/>
              </a:tblGrid>
              <a:tr h="292608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16A34A"/>
                          </a:solidFill>
                        </a:defRPr>
                      </a:pPr>
                      <a:r>
                        <a:t>Parameter / Metric</a:t>
                      </a:r>
                    </a:p>
                  </a:txBody>
                  <a:tcPr marL="45720" marR="4572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16A34A"/>
                          </a:solidFill>
                        </a:defRPr>
                      </a:pPr>
                      <a:r>
                        <a:t>Before (Legacy MA)</a:t>
                      </a:r>
                    </a:p>
                  </a:txBody>
                  <a:tcPr marL="45720" marR="4572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16A34A"/>
                          </a:solidFill>
                        </a:defRPr>
                      </a:pPr>
                      <a:r>
                        <a:t>After (AI Engine)</a:t>
                      </a:r>
                    </a:p>
                  </a:txBody>
                  <a:tcPr marL="45720" marR="4572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16A34A"/>
                          </a:solidFill>
                        </a:defRPr>
                      </a:pPr>
                      <a:r>
                        <a:t>Improvement / Impact</a:t>
                      </a:r>
                    </a:p>
                  </a:txBody>
                  <a:tcPr marL="45720" marR="45720"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Regional Monthly WAPE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50.5% (MA4 baseline)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34.4% (Rolling LightGBM)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47857"/>
                          </a:solidFill>
                        </a:defRPr>
                      </a:pPr>
                      <a:r>
                        <a:t>+31.9% Error Reduction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Regional Quarterly Accuracy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55.0% - 60.0%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71.8% Accuracy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47857"/>
                          </a:solidFill>
                        </a:defRPr>
                      </a:pPr>
                      <a:r>
                        <a:t>+16.8% Higher Precision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Model Forecast Bias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-22.6% (Severe Under-forecast)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+0.6% (Near-Zero Bias)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47857"/>
                          </a:solidFill>
                        </a:defRPr>
                      </a:pPr>
                      <a:r>
                        <a:t>Eliminates Peak Shortages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Safety Stock Buffer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High excess holding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~20% Excess Buffer Cut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47857"/>
                          </a:solidFill>
                        </a:defRPr>
                      </a:pPr>
                      <a:r>
                        <a:t>Massive Working Capital Freed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3" name="Rounded Rectangle 72"/>
          <p:cNvSpPr/>
          <p:nvPr/>
        </p:nvSpPr>
        <p:spPr>
          <a:xfrm>
            <a:off x="15956280" y="6336792"/>
            <a:ext cx="1828800" cy="1371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6002000" y="6364224"/>
            <a:ext cx="1737360" cy="12984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b="1" sz="1100">
                <a:solidFill>
                  <a:srgbClr val="16A34A"/>
                </a:solidFill>
              </a:defRPr>
            </a:pPr>
            <a:r>
              <a:t>🏆 IMPACT</a:t>
            </a:r>
          </a:p>
          <a:p>
            <a:pPr algn="ctr">
              <a:defRPr b="1" sz="2000">
                <a:solidFill>
                  <a:srgbClr val="047857"/>
                </a:solidFill>
              </a:defRPr>
            </a:pPr>
            <a:r>
              <a:t>71.8%</a:t>
            </a:r>
          </a:p>
          <a:p>
            <a:pPr algn="ctr">
              <a:defRPr b="1" sz="750">
                <a:solidFill>
                  <a:srgbClr val="0F172A"/>
                </a:solidFill>
              </a:defRPr>
            </a:pPr>
            <a:r>
              <a:t>Regional Qtr Accuracy</a:t>
            </a:r>
            <a:br/>
            <a:r>
              <a:t>~20% Buffer Reduction</a:t>
            </a:r>
            <a:br/>
            <a:r>
              <a:t>&gt;=95% OTIF Fill Rate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65760" y="7900416"/>
            <a:ext cx="1755648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65760" y="7900416"/>
            <a:ext cx="17556480" cy="292608"/>
          </a:xfrm>
          <a:prstGeom prst="rect">
            <a:avLst/>
          </a:prstGeom>
          <a:solidFill>
            <a:srgbClr val="3B5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 rIns="45720" bIns="0"/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8   STANDARDIZATION, FUTURE SCOPE &amp; HORIZONTAL DEPLOYMENT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75488" y="8247888"/>
            <a:ext cx="3749039" cy="15727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8284464"/>
            <a:ext cx="3602735" cy="1517904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b="1" sz="850">
                <a:solidFill>
                  <a:srgbClr val="3B5998"/>
                </a:solidFill>
              </a:defRPr>
            </a:pPr>
            <a:r>
              <a:t>Standardization &amp; Governance:</a:t>
            </a:r>
          </a:p>
          <a:p>
            <a:pPr>
              <a:defRPr b="1" sz="750">
                <a:solidFill>
                  <a:srgbClr val="0F172A"/>
                </a:solidFill>
              </a:defRPr>
            </a:pPr>
            <a:r>
              <a:t>SOP updated:             ☑ Yes    ☐ No</a:t>
            </a:r>
          </a:p>
          <a:p>
            <a:pPr>
              <a:defRPr b="1" sz="750">
                <a:solidFill>
                  <a:srgbClr val="0F172A"/>
                </a:solidFill>
              </a:defRPr>
            </a:pPr>
            <a:r>
              <a:t>Training completed:     ☑ Yes    ☐ No</a:t>
            </a:r>
          </a:p>
          <a:p>
            <a:pPr>
              <a:defRPr b="1" sz="750">
                <a:solidFill>
                  <a:srgbClr val="0F172A"/>
                </a:solidFill>
              </a:defRPr>
            </a:pPr>
            <a:r>
              <a:t>Control plan updated:   ☑ Yes    ☐ No</a:t>
            </a:r>
          </a:p>
          <a:p>
            <a:br/>
            <a:pPr>
              <a:defRPr b="1" sz="800">
                <a:solidFill>
                  <a:srgbClr val="0F172A"/>
                </a:solidFill>
              </a:defRPr>
            </a:pPr>
            <a:r>
              <a:t>Horizontal Scaling Roadmap:</a:t>
            </a:r>
          </a:p>
          <a:p>
            <a:pPr>
              <a:defRPr sz="720">
                <a:solidFill>
                  <a:srgbClr val="475569"/>
                </a:solidFill>
              </a:defRPr>
            </a:pPr>
            <a:r>
              <a:t>• Expand model from South Hubs to North, West, and East depots.</a:t>
            </a:r>
            <a:br/>
            <a:r>
              <a:t>• Hierarchical MinT reconciliation for coherent SKU-to-Factory roll-up.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361688" y="8247888"/>
            <a:ext cx="6675120" cy="1572768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71416" y="8284464"/>
            <a:ext cx="6455664" cy="1517904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b="1" sz="900">
                <a:solidFill>
                  <a:srgbClr val="0284C7"/>
                </a:solidFill>
              </a:rPr>
              <a:t>🚀 FUTURE SCOPE 1: </a:t>
            </a:r>
            <a:r>
              <a:rPr b="1" sz="900">
                <a:solidFill>
                  <a:srgbClr val="0F172A"/>
                </a:solidFill>
              </a:rPr>
              <a:t>Dynamic Stock Transfer-In &amp; Transfer-Out Optimization</a:t>
            </a:r>
          </a:p>
          <a:p>
            <a:r>
              <a:rPr b="1" sz="750">
                <a:solidFill>
                  <a:srgbClr val="0F172A"/>
                </a:solidFill>
              </a:rPr>
              <a:t>• Inter-Branch Network Balancing: </a:t>
            </a:r>
            <a:r>
              <a:rPr sz="720">
                <a:solidFill>
                  <a:srgbClr val="475569"/>
                </a:solidFill>
              </a:rPr>
              <a:t>Automated MILP optimization calculating optimal lateral Transfer-In (deficit depots) and Transfer-Out (surplus depots) across the 5 South distribution hubs.</a:t>
            </a:r>
          </a:p>
          <a:p>
            <a:r>
              <a:rPr b="1" sz="750">
                <a:solidFill>
                  <a:srgbClr val="0F172A"/>
                </a:solidFill>
              </a:rPr>
              <a:t>• Zero-Lead-Time Stockout Mitigation: </a:t>
            </a:r>
            <a:r>
              <a:rPr sz="720">
                <a:solidFill>
                  <a:srgbClr val="475569"/>
                </a:solidFill>
              </a:rPr>
              <a:t>When local heatwaves surge demand in one branch (e.g. Chennai MAA), lateral transfer from a neighboring hub (e.g. Bangalore BLR) resolves shortages in 24–48 hours instead of 4–6 week factory lead times.</a:t>
            </a:r>
          </a:p>
          <a:p>
            <a:r>
              <a:rPr b="1" sz="750">
                <a:solidFill>
                  <a:srgbClr val="0F172A"/>
                </a:solidFill>
              </a:rPr>
              <a:t>• Freight Cost vs. Margin Balancing: </a:t>
            </a:r>
            <a:r>
              <a:rPr sz="720">
                <a:solidFill>
                  <a:srgbClr val="475569"/>
                </a:solidFill>
              </a:rPr>
              <a:t>Mathematical algorithm balances secondary transfer freight and transit times against lost margin penalties, reducing total regional network safety stock by 12–15% through virtual pooling.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1173968" y="8247888"/>
            <a:ext cx="6638543" cy="1572768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283696" y="8284464"/>
            <a:ext cx="6419087" cy="1517904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b="1" sz="900">
                <a:solidFill>
                  <a:srgbClr val="7C3AED"/>
                </a:solidFill>
              </a:rPr>
              <a:t>🤖 FUTURE SCOPE 2: </a:t>
            </a:r>
            <a:r>
              <a:rPr b="1" sz="900">
                <a:solidFill>
                  <a:srgbClr val="0F172A"/>
                </a:solidFill>
              </a:rPr>
              <a:t>Local News &amp; Real-Time AI Market Intelligence Integration</a:t>
            </a:r>
          </a:p>
          <a:p>
            <a:r>
              <a:rPr b="1" sz="750">
                <a:solidFill>
                  <a:srgbClr val="0F172A"/>
                </a:solidFill>
              </a:rPr>
              <a:t>• GenAI External Signal Crawlers: </a:t>
            </a:r>
            <a:r>
              <a:rPr sz="720">
                <a:solidFill>
                  <a:srgbClr val="475569"/>
                </a:solidFill>
              </a:rPr>
              <a:t>Autonomous LLM pipelines ingesting regional news headlines, IMD meteorological heatwave warnings, local commercial real-estate starts, and dealer conference feedback.</a:t>
            </a:r>
          </a:p>
          <a:p>
            <a:r>
              <a:rPr b="1" sz="750">
                <a:solidFill>
                  <a:srgbClr val="0F172A"/>
                </a:solidFill>
              </a:rPr>
              <a:t>• NLP Demand Shock Multipliers: </a:t>
            </a:r>
            <a:r>
              <a:rPr sz="720">
                <a:solidFill>
                  <a:srgbClr val="475569"/>
                </a:solidFill>
              </a:rPr>
              <a:t>Translates unstructured regional news and municipal policy shifts into quantitative demand elasticity multipliers—converting forecasting from backward-looking to proactive leading sensing.</a:t>
            </a:r>
          </a:p>
          <a:p>
            <a:r>
              <a:rPr b="1" sz="750">
                <a:solidFill>
                  <a:srgbClr val="0F172A"/>
                </a:solidFill>
              </a:rPr>
              <a:t>• Conversational Supply Chain Copilot: </a:t>
            </a:r>
            <a:r>
              <a:rPr sz="720">
                <a:solidFill>
                  <a:srgbClr val="475569"/>
                </a:solidFill>
              </a:rPr>
              <a:t>In-cockpit GenAI agent providing causal explanations for demand surges (e.g. 'Chennai demand surged +22% due to announced tech corridor project and heatwave alert').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9948672"/>
            <a:ext cx="17556480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Continuous Supply Chain Intelligence &amp; Quality Excellence  |  ISB AMPBA Capstone Project with Deloitte (Room AC Demand Prediction &amp; Optimization Engine)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