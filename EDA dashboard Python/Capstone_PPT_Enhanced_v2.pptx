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18"/>
    <p:sldId id="257" r:id="rId3"/>
    <p:sldId id="258" r:id="rId4"/>
    <p:sldId id="259" r:id="rId5"/>
    <p:sldId id="260" r:id="rId6"/>
    <p:sldId id="261" r:id="rId7"/>
    <p:sldId id="262" r:id="rId8"/>
    <p:sldId id="263" r:id="rId9"/>
    <p:sldId id="264" r:id="rId10"/>
    <p:sldId id="265" r:id="rId11"/>
    <p:sldId id="266" r:id="rId12"/>
    <p:sldId id="268" r:id="rId19"/>
    <p:sldId id="269" r:id="rId20"/>
    <p:sldId id="270" r:id="rId21"/>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2"/>
        </a:solidFill>
      </p:bgPr>
    </p:bg>
    <p:spTree>
      <p:nvGrpSpPr>
        <p:cNvPr id="1" name=""/>
        <p:cNvGrpSpPr/>
        <p:nvPr/>
      </p:nvGrpSpPr>
      <p:grpSpPr>
        <a:xfrm>
          <a:off x="0" y="0"/>
          <a:ext cx="0" cy="0"/>
          <a:chOff x="0" y="0"/>
          <a:chExt cx="0" cy="0"/>
        </a:xfrm>
      </p:grpSpPr>
      <p:sp>
        <p:nvSpPr>
          <p:cNvPr id="2" name="Shape 0"/>
          <p:cNvSpPr/>
          <p:nvPr/>
        </p:nvSpPr>
        <p:spPr>
          <a:xfrm>
            <a:off x="952500" y="1007269"/>
            <a:ext cx="152400" cy="152400"/>
          </a:xfrm>
          <a:prstGeom prst="rect">
            <a:avLst/>
          </a:prstGeom>
          <a:solidFill>
            <a:srgbClr val="57D2E6"/>
          </a:solidFill>
          <a:ln/>
        </p:spPr>
      </p:sp>
      <p:sp>
        <p:nvSpPr>
          <p:cNvPr id="3" name="Text 1"/>
          <p:cNvSpPr/>
          <p:nvPr/>
        </p:nvSpPr>
        <p:spPr>
          <a:xfrm>
            <a:off x="1295400" y="952500"/>
            <a:ext cx="4103169"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ISB CAPSTONE PROJECT</a:t>
            </a:r>
            <a:endParaRPr lang="en-US" sz="1800" dirty="0"/>
          </a:p>
        </p:txBody>
      </p:sp>
      <p:sp>
        <p:nvSpPr>
          <p:cNvPr id="4" name="Text 2"/>
          <p:cNvSpPr/>
          <p:nvPr/>
        </p:nvSpPr>
        <p:spPr>
          <a:xfrm>
            <a:off x="952500" y="3567113"/>
            <a:ext cx="16344900" cy="1104900"/>
          </a:xfrm>
          <a:prstGeom prst="rect">
            <a:avLst/>
          </a:prstGeom>
          <a:noFill/>
          <a:ln/>
        </p:spPr>
        <p:txBody>
          <a:bodyPr wrap="square" lIns="25400" tIns="25400" rIns="25400" bIns="25400" rtlCol="0" anchor="t">
            <a:normAutofit/>
          </a:bodyPr>
          <a:lstStyle/>
          <a:p>
            <a:pPr algn="l" indent="0" marL="0">
              <a:lnSpc>
                <a:spcPct val="87160"/>
              </a:lnSpc>
              <a:buNone/>
            </a:pPr>
            <a:r>
              <a:rPr lang="en-US" sz="8400" b="1" spc="-252" kern="0" dirty="0">
                <a:solidFill>
                  <a:srgbClr val="EDF2F8"/>
                </a:solidFill>
                <a:latin typeface="Arial" pitchFamily="34" charset="0"/>
                <a:ea typeface="Arial" pitchFamily="34" charset="-122"/>
                <a:cs typeface="Arial" pitchFamily="34" charset="-120"/>
              </a:rPr>
              <a:t>Supply Chain Intelligence</a:t>
            </a:r>
            <a:endParaRPr lang="en-US" sz="8400" dirty="0"/>
          </a:p>
        </p:txBody>
      </p:sp>
      <p:sp>
        <p:nvSpPr>
          <p:cNvPr id="5" name="Shape 3"/>
          <p:cNvSpPr/>
          <p:nvPr/>
        </p:nvSpPr>
        <p:spPr>
          <a:xfrm>
            <a:off x="952500" y="4976813"/>
            <a:ext cx="14859000" cy="19050"/>
          </a:xfrm>
          <a:prstGeom prst="rect">
            <a:avLst/>
          </a:prstGeom>
          <a:solidFill>
            <a:srgbClr val="57D2E6"/>
          </a:solidFill>
          <a:ln/>
        </p:spPr>
      </p:sp>
      <p:sp>
        <p:nvSpPr>
          <p:cNvPr id="6" name="Text 4"/>
          <p:cNvSpPr/>
          <p:nvPr/>
        </p:nvSpPr>
        <p:spPr>
          <a:xfrm>
            <a:off x="952500" y="5338763"/>
            <a:ext cx="16344900" cy="561975"/>
          </a:xfrm>
          <a:prstGeom prst="rect">
            <a:avLst/>
          </a:prstGeom>
          <a:noFill/>
          <a:ln/>
        </p:spPr>
        <p:txBody>
          <a:bodyPr wrap="square" lIns="25400" tIns="25400" rIns="25400" bIns="25400" rtlCol="0" anchor="t">
            <a:normAutofit/>
          </a:bodyPr>
          <a:lstStyle/>
          <a:p>
            <a:pPr algn="l" indent="0" marL="0">
              <a:lnSpc>
                <a:spcPct val="107843"/>
              </a:lnSpc>
              <a:buNone/>
            </a:pPr>
            <a:r>
              <a:rPr lang="en-US" sz="3300" dirty="0">
                <a:solidFill>
                  <a:srgbClr val="93A5BB"/>
                </a:solidFill>
                <a:latin typeface="Arial" pitchFamily="34" charset="0"/>
                <a:ea typeface="Arial" pitchFamily="34" charset="-122"/>
                <a:cs typeface="Arial" pitchFamily="34" charset="-120"/>
              </a:rPr>
              <a:t>AI Demand Forecasting &amp; Quality Analytics</a:t>
            </a:r>
            <a:endParaRPr lang="en-US" sz="3300" dirty="0"/>
          </a:p>
        </p:txBody>
      </p:sp>
      <p:sp>
        <p:nvSpPr>
          <p:cNvPr id="7" name="Shape 5"/>
          <p:cNvSpPr/>
          <p:nvPr/>
        </p:nvSpPr>
        <p:spPr>
          <a:xfrm>
            <a:off x="952500" y="8215313"/>
            <a:ext cx="16383000" cy="19050"/>
          </a:xfrm>
          <a:prstGeom prst="rect">
            <a:avLst/>
          </a:prstGeom>
          <a:solidFill>
            <a:srgbClr val="E2ECF7">
              <a:alpha val="22000"/>
            </a:srgbClr>
          </a:solidFill>
          <a:ln/>
        </p:spPr>
      </p:sp>
      <p:sp>
        <p:nvSpPr>
          <p:cNvPr id="8" name="Shape 6"/>
          <p:cNvSpPr/>
          <p:nvPr/>
        </p:nvSpPr>
        <p:spPr>
          <a:xfrm>
            <a:off x="5057775" y="8234363"/>
            <a:ext cx="19050" cy="1290638"/>
          </a:xfrm>
          <a:prstGeom prst="rect">
            <a:avLst/>
          </a:prstGeom>
          <a:solidFill>
            <a:srgbClr val="E2ECF7">
              <a:alpha val="22000"/>
            </a:srgbClr>
          </a:solidFill>
          <a:ln/>
        </p:spPr>
      </p:sp>
      <p:sp>
        <p:nvSpPr>
          <p:cNvPr id="9" name="Text 7"/>
          <p:cNvSpPr/>
          <p:nvPr/>
        </p:nvSpPr>
        <p:spPr>
          <a:xfrm>
            <a:off x="952500" y="8615363"/>
            <a:ext cx="4012883"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SPONSOR</a:t>
            </a:r>
            <a:endParaRPr lang="en-US" sz="1800" dirty="0"/>
          </a:p>
        </p:txBody>
      </p:sp>
      <p:sp>
        <p:nvSpPr>
          <p:cNvPr id="10" name="Text 8"/>
          <p:cNvSpPr/>
          <p:nvPr/>
        </p:nvSpPr>
        <p:spPr>
          <a:xfrm>
            <a:off x="952500" y="9010650"/>
            <a:ext cx="4012883"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Deloitte</a:t>
            </a:r>
            <a:endParaRPr lang="en-US" sz="2550" dirty="0"/>
          </a:p>
        </p:txBody>
      </p:sp>
      <p:sp>
        <p:nvSpPr>
          <p:cNvPr id="11" name="Text 9"/>
          <p:cNvSpPr/>
          <p:nvPr/>
        </p:nvSpPr>
        <p:spPr>
          <a:xfrm>
            <a:off x="5534025" y="8615363"/>
            <a:ext cx="844486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TEAM</a:t>
            </a:r>
            <a:endParaRPr lang="en-US" sz="1800" dirty="0"/>
          </a:p>
        </p:txBody>
      </p:sp>
      <p:sp>
        <p:nvSpPr>
          <p:cNvPr id="12" name="Text 10"/>
          <p:cNvSpPr/>
          <p:nvPr/>
        </p:nvSpPr>
        <p:spPr>
          <a:xfrm>
            <a:off x="5534025" y="9010650"/>
            <a:ext cx="8444865" cy="552450"/>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Sai Prashanth, Arvind, Hariharan, Vani, Vedika</a:t>
            </a:r>
            <a:endParaRPr lang="en-US" sz="2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02 — CONTEXT</a:t>
            </a:r>
            <a:endParaRPr lang="en-US" sz="1800" dirty="0"/>
          </a:p>
        </p:txBody>
      </p:sp>
      <p:sp>
        <p:nvSpPr>
          <p:cNvPr id="3" name="Text 1"/>
          <p:cNvSpPr/>
          <p:nvPr/>
        </p:nvSpPr>
        <p:spPr>
          <a:xfrm>
            <a:off x="952500" y="1423988"/>
            <a:ext cx="14716125"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Five hubs and 154 SKUs carry the South India room AC business</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txBody>
          <a:bodyPr/>
          <a:p/>
        </p:txBody>
      </p:sp>
      <p:sp>
        <p:nvSpPr>
          <p:cNvPr id="5" name="Shape 3"/>
          <p:cNvSpPr/>
          <p:nvPr/>
        </p:nvSpPr>
        <p:spPr>
          <a:xfrm>
            <a:off x="9124950" y="3127028"/>
            <a:ext cx="19050" cy="6397972"/>
          </a:xfrm>
          <a:prstGeom prst="rect">
            <a:avLst/>
          </a:prstGeom>
          <a:solidFill>
            <a:srgbClr val="E2ECF7">
              <a:alpha val="22000"/>
            </a:srgbClr>
          </a:solidFill>
          <a:ln/>
        </p:spPr>
        <p:txBody>
          <a:bodyPr/>
          <a:p/>
        </p:txBody>
      </p:sp>
      <p:sp>
        <p:nvSpPr>
          <p:cNvPr id="6" name="Text 4"/>
          <p:cNvSpPr/>
          <p:nvPr/>
        </p:nvSpPr>
        <p:spPr>
          <a:xfrm>
            <a:off x="952500" y="3622328"/>
            <a:ext cx="7632763" cy="1446758"/>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EDF2F8"/>
                </a:solidFill>
                <a:latin typeface="Arial" pitchFamily="34" charset="0"/>
                <a:ea typeface="Arial" pitchFamily="34" charset="-122"/>
                <a:cs typeface="Arial" pitchFamily="34" charset="-120"/>
              </a:rPr>
              <a:t>Forecasting demand and optimizing supply chain distribution for Room Air Conditioners across South India.</a:t>
            </a:r>
            <a:endParaRPr lang="en-US" sz="2550" dirty="0"/>
          </a:p>
        </p:txBody>
      </p:sp>
      <p:sp>
        <p:nvSpPr>
          <p:cNvPr id="7" name="Text 5"/>
          <p:cNvSpPr/>
          <p:nvPr/>
        </p:nvSpPr>
        <p:spPr>
          <a:xfrm>
            <a:off x="952500" y="5297686"/>
            <a:ext cx="7632763" cy="1278210"/>
          </a:xfrm>
          <a:prstGeom prst="rect">
            <a:avLst/>
          </a:prstGeom>
          <a:noFill/>
          <a:ln/>
        </p:spPr>
        <p:txBody>
          <a:bodyPr wrap="square" lIns="25400" tIns="25400" rIns="25400" bIns="25400" rtlCol="0" anchor="t">
            <a:normAutofit/>
          </a:bodyPr>
          <a:lstStyle/>
          <a:p>
            <a:pPr algn="l" indent="0" marL="0">
              <a:lnSpc>
                <a:spcPct val="133538"/>
              </a:lnSpc>
              <a:buNone/>
            </a:pPr>
            <a:r>
              <a:rPr lang="en-US" sz="2100" dirty="0">
                <a:solidFill>
                  <a:srgbClr val="93A5BB"/>
                </a:solidFill>
                <a:latin typeface="Arial" pitchFamily="34" charset="0"/>
                <a:ea typeface="Arial" pitchFamily="34" charset="-122"/>
                <a:cs typeface="Arial" pitchFamily="34" charset="-120"/>
              </a:rPr>
              <a:t>Better forecasts at hub level translate directly into lower safety stock, fewer inter-hub transfers and fewer stockouts in peak season.</a:t>
            </a:r>
            <a:endParaRPr lang="en-US" sz="2100" dirty="0"/>
          </a:p>
        </p:txBody>
      </p:sp>
      <p:sp>
        <p:nvSpPr>
          <p:cNvPr id="8" name="Text 6"/>
          <p:cNvSpPr/>
          <p:nvPr/>
        </p:nvSpPr>
        <p:spPr>
          <a:xfrm>
            <a:off x="952500" y="8382000"/>
            <a:ext cx="815149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REGIONAL HUBS</a:t>
            </a:r>
            <a:endParaRPr lang="en-US" sz="1800" dirty="0"/>
          </a:p>
        </p:txBody>
      </p:sp>
      <p:sp>
        <p:nvSpPr>
          <p:cNvPr id="9" name="Shape 7"/>
          <p:cNvSpPr/>
          <p:nvPr/>
        </p:nvSpPr>
        <p:spPr>
          <a:xfrm>
            <a:off x="952500" y="9505950"/>
            <a:ext cx="7410450" cy="19050"/>
          </a:xfrm>
          <a:prstGeom prst="rect">
            <a:avLst/>
          </a:prstGeom>
          <a:solidFill>
            <a:srgbClr val="E2ECF7">
              <a:alpha val="22000"/>
            </a:srgbClr>
          </a:solidFill>
          <a:ln/>
        </p:spPr>
        <p:txBody>
          <a:bodyPr/>
          <a:p/>
        </p:txBody>
      </p:sp>
      <p:sp>
        <p:nvSpPr>
          <p:cNvPr id="10" name="Shape 8"/>
          <p:cNvSpPr/>
          <p:nvPr/>
        </p:nvSpPr>
        <p:spPr>
          <a:xfrm>
            <a:off x="952500" y="8758238"/>
            <a:ext cx="7410450" cy="19050"/>
          </a:xfrm>
          <a:prstGeom prst="rect">
            <a:avLst/>
          </a:prstGeom>
          <a:solidFill>
            <a:srgbClr val="E2ECF7">
              <a:alpha val="22000"/>
            </a:srgbClr>
          </a:solidFill>
          <a:ln/>
        </p:spPr>
        <p:txBody>
          <a:bodyPr/>
          <a:p/>
        </p:txBody>
      </p:sp>
      <p:sp>
        <p:nvSpPr>
          <p:cNvPr id="11" name="Shape 9"/>
          <p:cNvSpPr/>
          <p:nvPr/>
        </p:nvSpPr>
        <p:spPr>
          <a:xfrm>
            <a:off x="2266950" y="8777288"/>
            <a:ext cx="19050" cy="728663"/>
          </a:xfrm>
          <a:prstGeom prst="rect">
            <a:avLst/>
          </a:prstGeom>
          <a:solidFill>
            <a:srgbClr val="E2ECF7">
              <a:alpha val="22000"/>
            </a:srgbClr>
          </a:solidFill>
          <a:ln/>
        </p:spPr>
        <p:txBody>
          <a:bodyPr/>
          <a:p/>
        </p:txBody>
      </p:sp>
      <p:sp>
        <p:nvSpPr>
          <p:cNvPr id="12" name="Text 10"/>
          <p:cNvSpPr/>
          <p:nvPr/>
        </p:nvSpPr>
        <p:spPr>
          <a:xfrm>
            <a:off x="952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MAA</a:t>
            </a:r>
            <a:endParaRPr lang="en-US" sz="2100" dirty="0"/>
          </a:p>
        </p:txBody>
      </p:sp>
      <p:sp>
        <p:nvSpPr>
          <p:cNvPr id="13" name="Shape 11"/>
          <p:cNvSpPr/>
          <p:nvPr/>
        </p:nvSpPr>
        <p:spPr>
          <a:xfrm>
            <a:off x="3790950" y="8777288"/>
            <a:ext cx="19050" cy="728663"/>
          </a:xfrm>
          <a:prstGeom prst="rect">
            <a:avLst/>
          </a:prstGeom>
          <a:solidFill>
            <a:srgbClr val="E2ECF7">
              <a:alpha val="22000"/>
            </a:srgbClr>
          </a:solidFill>
          <a:ln/>
        </p:spPr>
        <p:txBody>
          <a:bodyPr/>
          <a:p/>
        </p:txBody>
      </p:sp>
      <p:sp>
        <p:nvSpPr>
          <p:cNvPr id="14" name="Text 12"/>
          <p:cNvSpPr/>
          <p:nvPr/>
        </p:nvSpPr>
        <p:spPr>
          <a:xfrm>
            <a:off x="2476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a:t>
            </a:r>
            <a:endParaRPr lang="en-US" sz="2100" dirty="0"/>
          </a:p>
        </p:txBody>
      </p:sp>
      <p:sp>
        <p:nvSpPr>
          <p:cNvPr id="15" name="Shape 13"/>
          <p:cNvSpPr/>
          <p:nvPr/>
        </p:nvSpPr>
        <p:spPr>
          <a:xfrm>
            <a:off x="5314950" y="8777288"/>
            <a:ext cx="19050" cy="728663"/>
          </a:xfrm>
          <a:prstGeom prst="rect">
            <a:avLst/>
          </a:prstGeom>
          <a:solidFill>
            <a:srgbClr val="E2ECF7">
              <a:alpha val="22000"/>
            </a:srgbClr>
          </a:solidFill>
          <a:ln/>
        </p:spPr>
        <p:txBody>
          <a:bodyPr/>
          <a:p/>
        </p:txBody>
      </p:sp>
      <p:sp>
        <p:nvSpPr>
          <p:cNvPr id="16" name="Text 14"/>
          <p:cNvSpPr/>
          <p:nvPr/>
        </p:nvSpPr>
        <p:spPr>
          <a:xfrm>
            <a:off x="4000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SBD1</a:t>
            </a:r>
            <a:endParaRPr lang="en-US" sz="2100" dirty="0"/>
          </a:p>
        </p:txBody>
      </p:sp>
      <p:sp>
        <p:nvSpPr>
          <p:cNvPr id="17" name="Shape 15"/>
          <p:cNvSpPr/>
          <p:nvPr/>
        </p:nvSpPr>
        <p:spPr>
          <a:xfrm>
            <a:off x="6838950" y="8777288"/>
            <a:ext cx="19050" cy="728663"/>
          </a:xfrm>
          <a:prstGeom prst="rect">
            <a:avLst/>
          </a:prstGeom>
          <a:solidFill>
            <a:srgbClr val="E2ECF7">
              <a:alpha val="22000"/>
            </a:srgbClr>
          </a:solidFill>
          <a:ln/>
        </p:spPr>
        <p:txBody>
          <a:bodyPr/>
          <a:p/>
        </p:txBody>
      </p:sp>
      <p:sp>
        <p:nvSpPr>
          <p:cNvPr id="18" name="Text 16"/>
          <p:cNvSpPr/>
          <p:nvPr/>
        </p:nvSpPr>
        <p:spPr>
          <a:xfrm>
            <a:off x="5524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COK</a:t>
            </a:r>
            <a:endParaRPr lang="en-US" sz="2100" dirty="0"/>
          </a:p>
        </p:txBody>
      </p:sp>
      <p:sp>
        <p:nvSpPr>
          <p:cNvPr id="19" name="Text 17"/>
          <p:cNvSpPr/>
          <p:nvPr/>
        </p:nvSpPr>
        <p:spPr>
          <a:xfrm>
            <a:off x="7048500" y="8986838"/>
            <a:ext cx="1390650"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BLR</a:t>
            </a:r>
            <a:endParaRPr lang="en-US" sz="2100" dirty="0"/>
          </a:p>
        </p:txBody>
      </p:sp>
      <p:sp>
        <p:nvSpPr>
          <p:cNvPr id="20" name="Shape 18"/>
          <p:cNvSpPr/>
          <p:nvPr/>
        </p:nvSpPr>
        <p:spPr>
          <a:xfrm>
            <a:off x="9906000" y="5436840"/>
            <a:ext cx="7429500" cy="19050"/>
          </a:xfrm>
          <a:prstGeom prst="rect">
            <a:avLst/>
          </a:prstGeom>
          <a:solidFill>
            <a:srgbClr val="E2ECF7">
              <a:alpha val="22000"/>
            </a:srgbClr>
          </a:solidFill>
          <a:ln/>
        </p:spPr>
        <p:txBody>
          <a:bodyPr/>
          <a:p/>
        </p:txBody>
      </p:sp>
      <p:sp>
        <p:nvSpPr>
          <p:cNvPr id="21" name="Text 19"/>
          <p:cNvSpPr/>
          <p:nvPr/>
        </p:nvSpPr>
        <p:spPr>
          <a:xfrm>
            <a:off x="9906000" y="3622328"/>
            <a:ext cx="8172450" cy="1085850"/>
          </a:xfrm>
          <a:prstGeom prst="rect">
            <a:avLst/>
          </a:prstGeom>
          <a:noFill/>
          <a:ln/>
        </p:spPr>
        <p:txBody>
          <a:bodyPr wrap="square" lIns="25400" tIns="25400" rIns="25400" bIns="25400" rtlCol="0" anchor="t">
            <a:normAutofit/>
          </a:bodyPr>
          <a:lstStyle/>
          <a:p>
            <a:pPr algn="l" indent="0" marL="0">
              <a:lnSpc>
                <a:spcPct val="86957"/>
              </a:lnSpc>
              <a:buNone/>
            </a:pPr>
            <a:r>
              <a:rPr lang="en-US" sz="8250" b="1" spc="-330" kern="0" dirty="0">
                <a:solidFill>
                  <a:srgbClr val="57D2E6"/>
                </a:solidFill>
                <a:latin typeface="Arial" pitchFamily="34" charset="0"/>
                <a:ea typeface="Arial" pitchFamily="34" charset="-122"/>
                <a:cs typeface="Arial" pitchFamily="34" charset="-120"/>
              </a:rPr>
              <a:t>154</a:t>
            </a:r>
            <a:endParaRPr lang="en-US" sz="8250" dirty="0"/>
          </a:p>
        </p:txBody>
      </p:sp>
      <p:sp>
        <p:nvSpPr>
          <p:cNvPr id="22" name="Text 20"/>
          <p:cNvSpPr/>
          <p:nvPr/>
        </p:nvSpPr>
        <p:spPr>
          <a:xfrm>
            <a:off x="9906000" y="4765328"/>
            <a:ext cx="81724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Active SKUs in scope</a:t>
            </a:r>
            <a:endParaRPr lang="en-US" sz="2100" dirty="0"/>
          </a:p>
        </p:txBody>
      </p:sp>
      <p:sp>
        <p:nvSpPr>
          <p:cNvPr id="23" name="Shape 21"/>
          <p:cNvSpPr/>
          <p:nvPr/>
        </p:nvSpPr>
        <p:spPr>
          <a:xfrm>
            <a:off x="9906000" y="7651403"/>
            <a:ext cx="7429500" cy="19050"/>
          </a:xfrm>
          <a:prstGeom prst="rect">
            <a:avLst/>
          </a:prstGeom>
          <a:solidFill>
            <a:srgbClr val="E2ECF7">
              <a:alpha val="22000"/>
            </a:srgbClr>
          </a:solidFill>
          <a:ln/>
        </p:spPr>
        <p:txBody>
          <a:bodyPr/>
          <a:p/>
        </p:txBody>
      </p:sp>
      <p:sp>
        <p:nvSpPr>
          <p:cNvPr id="24" name="Text 22"/>
          <p:cNvSpPr/>
          <p:nvPr/>
        </p:nvSpPr>
        <p:spPr>
          <a:xfrm>
            <a:off x="9906000" y="5836890"/>
            <a:ext cx="8172450" cy="1085850"/>
          </a:xfrm>
          <a:prstGeom prst="rect">
            <a:avLst/>
          </a:prstGeom>
          <a:noFill/>
          <a:ln/>
        </p:spPr>
        <p:txBody>
          <a:bodyPr wrap="square" lIns="25400" tIns="25400" rIns="25400" bIns="25400" rtlCol="0" anchor="t">
            <a:normAutofit/>
          </a:bodyPr>
          <a:lstStyle/>
          <a:p>
            <a:pPr algn="l" indent="0" marL="0">
              <a:lnSpc>
                <a:spcPct val="86957"/>
              </a:lnSpc>
              <a:buNone/>
            </a:pPr>
            <a:r>
              <a:rPr lang="en-US" sz="8250" b="1" spc="-330" kern="0" dirty="0">
                <a:solidFill>
                  <a:srgbClr val="57D2E6"/>
                </a:solidFill>
                <a:latin typeface="Arial" pitchFamily="34" charset="0"/>
                <a:ea typeface="Arial" pitchFamily="34" charset="-122"/>
                <a:cs typeface="Arial" pitchFamily="34" charset="-120"/>
              </a:rPr>
              <a:t>5</a:t>
            </a:r>
            <a:endParaRPr lang="en-US" sz="8250" dirty="0"/>
          </a:p>
        </p:txBody>
      </p:sp>
      <p:sp>
        <p:nvSpPr>
          <p:cNvPr id="25" name="Text 23"/>
          <p:cNvSpPr/>
          <p:nvPr/>
        </p:nvSpPr>
        <p:spPr>
          <a:xfrm>
            <a:off x="9906000" y="6979890"/>
            <a:ext cx="81724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Regional distribution hubs</a:t>
            </a:r>
            <a:endParaRPr lang="en-US" sz="2100" dirty="0"/>
          </a:p>
        </p:txBody>
      </p:sp>
      <p:sp>
        <p:nvSpPr>
          <p:cNvPr id="26" name="Text 24"/>
          <p:cNvSpPr/>
          <p:nvPr/>
        </p:nvSpPr>
        <p:spPr>
          <a:xfrm>
            <a:off x="9906000" y="8051453"/>
            <a:ext cx="8172450" cy="1085850"/>
          </a:xfrm>
          <a:prstGeom prst="rect">
            <a:avLst/>
          </a:prstGeom>
          <a:noFill/>
          <a:ln/>
        </p:spPr>
        <p:txBody>
          <a:bodyPr wrap="square" lIns="25400" tIns="25400" rIns="25400" bIns="25400" rtlCol="0" anchor="t">
            <a:normAutofit/>
          </a:bodyPr>
          <a:lstStyle/>
          <a:p>
            <a:pPr algn="l" indent="0" marL="0">
              <a:lnSpc>
                <a:spcPct val="86957"/>
              </a:lnSpc>
              <a:buNone/>
            </a:pPr>
            <a:r>
              <a:rPr lang="en-US" sz="8250" b="1" spc="-330" kern="0" dirty="0">
                <a:solidFill>
                  <a:srgbClr val="57D2E6"/>
                </a:solidFill>
                <a:latin typeface="Arial" pitchFamily="34" charset="0"/>
                <a:ea typeface="Arial" pitchFamily="34" charset="-122"/>
                <a:cs typeface="Arial" pitchFamily="34" charset="-120"/>
              </a:rPr>
              <a:t>3</a:t>
            </a:r>
            <a:endParaRPr lang="en-US" sz="8250" dirty="0"/>
          </a:p>
        </p:txBody>
      </p:sp>
      <p:sp>
        <p:nvSpPr>
          <p:cNvPr id="27" name="Text 25"/>
          <p:cNvSpPr/>
          <p:nvPr/>
        </p:nvSpPr>
        <p:spPr>
          <a:xfrm>
            <a:off x="9906000" y="9194453"/>
            <a:ext cx="81724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Fiscal years of billing data — Jul 2022 to Jun 2024</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03 — DATA</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The billing data is 95% complete, but a structural gap in Q1 FY24-25 caps the usable history</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5752058"/>
            <a:ext cx="16383000" cy="19050"/>
          </a:xfrm>
          <a:prstGeom prst="rect">
            <a:avLst/>
          </a:prstGeom>
          <a:solidFill>
            <a:srgbClr val="E2ECF7">
              <a:alpha val="22000"/>
            </a:srgbClr>
          </a:solidFill>
          <a:ln/>
        </p:spPr>
      </p:sp>
      <p:sp>
        <p:nvSpPr>
          <p:cNvPr id="6" name="Shape 4"/>
          <p:cNvSpPr/>
          <p:nvPr/>
        </p:nvSpPr>
        <p:spPr>
          <a:xfrm>
            <a:off x="952500" y="3622328"/>
            <a:ext cx="16383000" cy="19050"/>
          </a:xfrm>
          <a:prstGeom prst="rect">
            <a:avLst/>
          </a:prstGeom>
          <a:solidFill>
            <a:srgbClr val="E2ECF7">
              <a:alpha val="22000"/>
            </a:srgbClr>
          </a:solidFill>
          <a:ln/>
        </p:spPr>
      </p:sp>
      <p:sp>
        <p:nvSpPr>
          <p:cNvPr id="7" name="Shape 5"/>
          <p:cNvSpPr/>
          <p:nvPr/>
        </p:nvSpPr>
        <p:spPr>
          <a:xfrm>
            <a:off x="5029200" y="3641378"/>
            <a:ext cx="19050" cy="2110680"/>
          </a:xfrm>
          <a:prstGeom prst="rect">
            <a:avLst/>
          </a:prstGeom>
          <a:solidFill>
            <a:srgbClr val="E2ECF7">
              <a:alpha val="22000"/>
            </a:srgbClr>
          </a:solidFill>
          <a:ln/>
        </p:spPr>
      </p:sp>
      <p:sp>
        <p:nvSpPr>
          <p:cNvPr id="8" name="Text 6"/>
          <p:cNvSpPr/>
          <p:nvPr/>
        </p:nvSpPr>
        <p:spPr>
          <a:xfrm>
            <a:off x="952500" y="3984278"/>
            <a:ext cx="40652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82,034</a:t>
            </a:r>
            <a:endParaRPr lang="en-US" sz="4650" dirty="0"/>
          </a:p>
        </p:txBody>
      </p:sp>
      <p:sp>
        <p:nvSpPr>
          <p:cNvPr id="9" name="Text 7"/>
          <p:cNvSpPr/>
          <p:nvPr/>
        </p:nvSpPr>
        <p:spPr>
          <a:xfrm>
            <a:off x="952500" y="4689128"/>
            <a:ext cx="40652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Transaction records</a:t>
            </a:r>
            <a:endParaRPr lang="en-US" sz="2100" dirty="0"/>
          </a:p>
        </p:txBody>
      </p:sp>
      <p:sp>
        <p:nvSpPr>
          <p:cNvPr id="10" name="Shape 8"/>
          <p:cNvSpPr/>
          <p:nvPr/>
        </p:nvSpPr>
        <p:spPr>
          <a:xfrm>
            <a:off x="9124950" y="3641378"/>
            <a:ext cx="19050" cy="2110680"/>
          </a:xfrm>
          <a:prstGeom prst="rect">
            <a:avLst/>
          </a:prstGeom>
          <a:solidFill>
            <a:srgbClr val="E2ECF7">
              <a:alpha val="22000"/>
            </a:srgbClr>
          </a:solidFill>
          <a:ln/>
        </p:spPr>
      </p:sp>
      <p:sp>
        <p:nvSpPr>
          <p:cNvPr id="11" name="Text 9"/>
          <p:cNvSpPr/>
          <p:nvPr/>
        </p:nvSpPr>
        <p:spPr>
          <a:xfrm>
            <a:off x="5429250" y="39842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57D2E6"/>
                </a:solidFill>
                <a:latin typeface="Arial" pitchFamily="34" charset="0"/>
                <a:ea typeface="Arial" pitchFamily="34" charset="-122"/>
                <a:cs typeface="Arial" pitchFamily="34" charset="-120"/>
              </a:rPr>
              <a:t>94.99%</a:t>
            </a:r>
            <a:endParaRPr lang="en-US" sz="4650" dirty="0"/>
          </a:p>
        </p:txBody>
      </p:sp>
      <p:sp>
        <p:nvSpPr>
          <p:cNvPr id="12" name="Text 10"/>
          <p:cNvSpPr/>
          <p:nvPr/>
        </p:nvSpPr>
        <p:spPr>
          <a:xfrm>
            <a:off x="5429250" y="4689128"/>
            <a:ext cx="36461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Field completeness</a:t>
            </a:r>
            <a:endParaRPr lang="en-US" sz="2100" dirty="0"/>
          </a:p>
        </p:txBody>
      </p:sp>
      <p:sp>
        <p:nvSpPr>
          <p:cNvPr id="13" name="Shape 11"/>
          <p:cNvSpPr/>
          <p:nvPr/>
        </p:nvSpPr>
        <p:spPr>
          <a:xfrm>
            <a:off x="13220700" y="3641378"/>
            <a:ext cx="19050" cy="2110680"/>
          </a:xfrm>
          <a:prstGeom prst="rect">
            <a:avLst/>
          </a:prstGeom>
          <a:solidFill>
            <a:srgbClr val="E2ECF7">
              <a:alpha val="22000"/>
            </a:srgbClr>
          </a:solidFill>
          <a:ln/>
        </p:spPr>
      </p:sp>
      <p:sp>
        <p:nvSpPr>
          <p:cNvPr id="14" name="Text 12"/>
          <p:cNvSpPr/>
          <p:nvPr/>
        </p:nvSpPr>
        <p:spPr>
          <a:xfrm>
            <a:off x="9525000" y="39842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4,463</a:t>
            </a:r>
            <a:endParaRPr lang="en-US" sz="4650" dirty="0"/>
          </a:p>
        </p:txBody>
      </p:sp>
      <p:sp>
        <p:nvSpPr>
          <p:cNvPr id="15" name="Text 13"/>
          <p:cNvSpPr/>
          <p:nvPr/>
        </p:nvSpPr>
        <p:spPr>
          <a:xfrm>
            <a:off x="9525000" y="4689128"/>
            <a:ext cx="36461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Duplicate records — 5.44%</a:t>
            </a:r>
            <a:endParaRPr lang="en-US" sz="2100" dirty="0"/>
          </a:p>
        </p:txBody>
      </p:sp>
      <p:sp>
        <p:nvSpPr>
          <p:cNvPr id="16" name="Text 14"/>
          <p:cNvSpPr/>
          <p:nvPr/>
        </p:nvSpPr>
        <p:spPr>
          <a:xfrm>
            <a:off x="13620750" y="3984278"/>
            <a:ext cx="4086225"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2745F"/>
                </a:solidFill>
                <a:latin typeface="Arial" pitchFamily="34" charset="0"/>
                <a:ea typeface="Arial" pitchFamily="34" charset="-122"/>
                <a:cs typeface="Arial" pitchFamily="34" charset="-120"/>
              </a:rPr>
              <a:t>23,603</a:t>
            </a:r>
            <a:endParaRPr lang="en-US" sz="4650" dirty="0"/>
          </a:p>
        </p:txBody>
      </p:sp>
      <p:sp>
        <p:nvSpPr>
          <p:cNvPr id="17" name="Text 15"/>
          <p:cNvSpPr/>
          <p:nvPr/>
        </p:nvSpPr>
        <p:spPr>
          <a:xfrm>
            <a:off x="13620750" y="4689128"/>
            <a:ext cx="3826193"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Rows missing structurally — 28.77%, Q1 FY24-25</a:t>
            </a:r>
            <a:endParaRPr lang="en-US" sz="2100" dirty="0"/>
          </a:p>
        </p:txBody>
      </p:sp>
      <p:sp>
        <p:nvSpPr>
          <p:cNvPr id="18" name="Shape 16"/>
          <p:cNvSpPr/>
          <p:nvPr/>
        </p:nvSpPr>
        <p:spPr>
          <a:xfrm>
            <a:off x="10763250" y="5771108"/>
            <a:ext cx="19050" cy="3753892"/>
          </a:xfrm>
          <a:prstGeom prst="rect">
            <a:avLst/>
          </a:prstGeom>
          <a:solidFill>
            <a:srgbClr val="E2ECF7">
              <a:alpha val="22000"/>
            </a:srgbClr>
          </a:solidFill>
          <a:ln/>
        </p:spPr>
      </p:sp>
      <p:sp>
        <p:nvSpPr>
          <p:cNvPr id="19" name="Text 17"/>
          <p:cNvSpPr/>
          <p:nvPr/>
        </p:nvSpPr>
        <p:spPr>
          <a:xfrm>
            <a:off x="952500" y="6266408"/>
            <a:ext cx="99536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VOLUME RECONCILIATION — UNITS</a:t>
            </a:r>
            <a:endParaRPr lang="en-US" sz="1800" dirty="0"/>
          </a:p>
        </p:txBody>
      </p:sp>
      <p:sp>
        <p:nvSpPr>
          <p:cNvPr id="20" name="Text 18"/>
          <p:cNvSpPr/>
          <p:nvPr/>
        </p:nvSpPr>
        <p:spPr>
          <a:xfrm>
            <a:off x="952500" y="6849814"/>
            <a:ext cx="178117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Gross</a:t>
            </a:r>
            <a:endParaRPr lang="en-US" sz="2100" dirty="0"/>
          </a:p>
        </p:txBody>
      </p:sp>
      <p:sp>
        <p:nvSpPr>
          <p:cNvPr id="21" name="Shape 19"/>
          <p:cNvSpPr/>
          <p:nvPr/>
        </p:nvSpPr>
        <p:spPr>
          <a:xfrm>
            <a:off x="2838450" y="6775996"/>
            <a:ext cx="4514850" cy="438150"/>
          </a:xfrm>
          <a:prstGeom prst="rect">
            <a:avLst/>
          </a:prstGeom>
          <a:solidFill>
            <a:srgbClr val="57D2E6">
              <a:alpha val="14000"/>
            </a:srgbClr>
          </a:solidFill>
          <a:ln/>
        </p:spPr>
      </p:sp>
      <p:sp>
        <p:nvSpPr>
          <p:cNvPr id="22" name="Shape 20"/>
          <p:cNvSpPr/>
          <p:nvPr/>
        </p:nvSpPr>
        <p:spPr>
          <a:xfrm>
            <a:off x="2838450" y="6775996"/>
            <a:ext cx="4514850" cy="438150"/>
          </a:xfrm>
          <a:prstGeom prst="rect">
            <a:avLst/>
          </a:prstGeom>
          <a:solidFill>
            <a:srgbClr val="2E8FA0"/>
          </a:solidFill>
          <a:ln/>
        </p:spPr>
      </p:sp>
      <p:sp>
        <p:nvSpPr>
          <p:cNvPr id="23" name="Text 21"/>
          <p:cNvSpPr/>
          <p:nvPr/>
        </p:nvSpPr>
        <p:spPr>
          <a:xfrm>
            <a:off x="7381875" y="6840289"/>
            <a:ext cx="261937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909,451.5</a:t>
            </a:r>
            <a:endParaRPr lang="en-US" sz="2100" dirty="0"/>
          </a:p>
        </p:txBody>
      </p:sp>
      <p:sp>
        <p:nvSpPr>
          <p:cNvPr id="24" name="Text 22"/>
          <p:cNvSpPr/>
          <p:nvPr/>
        </p:nvSpPr>
        <p:spPr>
          <a:xfrm>
            <a:off x="952500" y="7478464"/>
            <a:ext cx="178117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Returns</a:t>
            </a:r>
            <a:endParaRPr lang="en-US" sz="2100" dirty="0"/>
          </a:p>
        </p:txBody>
      </p:sp>
      <p:sp>
        <p:nvSpPr>
          <p:cNvPr id="25" name="Shape 23"/>
          <p:cNvSpPr/>
          <p:nvPr/>
        </p:nvSpPr>
        <p:spPr>
          <a:xfrm>
            <a:off x="2838450" y="7404646"/>
            <a:ext cx="4514850" cy="438150"/>
          </a:xfrm>
          <a:prstGeom prst="rect">
            <a:avLst/>
          </a:prstGeom>
          <a:solidFill>
            <a:srgbClr val="57D2E6">
              <a:alpha val="14000"/>
            </a:srgbClr>
          </a:solidFill>
          <a:ln/>
        </p:spPr>
      </p:sp>
      <p:sp>
        <p:nvSpPr>
          <p:cNvPr id="26" name="Shape 24"/>
          <p:cNvSpPr/>
          <p:nvPr/>
        </p:nvSpPr>
        <p:spPr>
          <a:xfrm>
            <a:off x="2838450" y="7404646"/>
            <a:ext cx="35198" cy="438150"/>
          </a:xfrm>
          <a:prstGeom prst="rect">
            <a:avLst/>
          </a:prstGeom>
          <a:solidFill>
            <a:srgbClr val="E2745F"/>
          </a:solidFill>
          <a:ln/>
        </p:spPr>
      </p:sp>
      <p:sp>
        <p:nvSpPr>
          <p:cNvPr id="27" name="Text 25"/>
          <p:cNvSpPr/>
          <p:nvPr/>
        </p:nvSpPr>
        <p:spPr>
          <a:xfrm>
            <a:off x="7381875" y="7468939"/>
            <a:ext cx="261937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2745F"/>
                </a:solidFill>
                <a:latin typeface="Arial" pitchFamily="34" charset="0"/>
                <a:ea typeface="Arial" pitchFamily="34" charset="-122"/>
                <a:cs typeface="Arial" pitchFamily="34" charset="-120"/>
              </a:rPr>
              <a:t>−7,060.5</a:t>
            </a:r>
            <a:endParaRPr lang="en-US" sz="2100" dirty="0"/>
          </a:p>
        </p:txBody>
      </p:sp>
      <p:sp>
        <p:nvSpPr>
          <p:cNvPr id="28" name="Text 26"/>
          <p:cNvSpPr/>
          <p:nvPr/>
        </p:nvSpPr>
        <p:spPr>
          <a:xfrm>
            <a:off x="952500" y="8097589"/>
            <a:ext cx="17811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Net</a:t>
            </a:r>
            <a:endParaRPr lang="en-US" sz="2100" dirty="0"/>
          </a:p>
        </p:txBody>
      </p:sp>
      <p:sp>
        <p:nvSpPr>
          <p:cNvPr id="29" name="Shape 27"/>
          <p:cNvSpPr/>
          <p:nvPr/>
        </p:nvSpPr>
        <p:spPr>
          <a:xfrm>
            <a:off x="2838450" y="8033296"/>
            <a:ext cx="4514850" cy="438150"/>
          </a:xfrm>
          <a:prstGeom prst="rect">
            <a:avLst/>
          </a:prstGeom>
          <a:solidFill>
            <a:srgbClr val="57D2E6">
              <a:alpha val="14000"/>
            </a:srgbClr>
          </a:solidFill>
          <a:ln/>
        </p:spPr>
      </p:sp>
      <p:sp>
        <p:nvSpPr>
          <p:cNvPr id="30" name="Shape 28"/>
          <p:cNvSpPr/>
          <p:nvPr/>
        </p:nvSpPr>
        <p:spPr>
          <a:xfrm>
            <a:off x="2838450" y="8033296"/>
            <a:ext cx="4479578" cy="438150"/>
          </a:xfrm>
          <a:prstGeom prst="rect">
            <a:avLst/>
          </a:prstGeom>
          <a:solidFill>
            <a:srgbClr val="57D2E6"/>
          </a:solidFill>
          <a:ln/>
        </p:spPr>
      </p:sp>
      <p:sp>
        <p:nvSpPr>
          <p:cNvPr id="31" name="Text 29"/>
          <p:cNvSpPr/>
          <p:nvPr/>
        </p:nvSpPr>
        <p:spPr>
          <a:xfrm>
            <a:off x="7381875" y="8097589"/>
            <a:ext cx="261937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57D2E6"/>
                </a:solidFill>
                <a:latin typeface="Arial" pitchFamily="34" charset="0"/>
                <a:ea typeface="Arial" pitchFamily="34" charset="-122"/>
                <a:cs typeface="Arial" pitchFamily="34" charset="-120"/>
              </a:rPr>
              <a:t>902,391</a:t>
            </a:r>
            <a:endParaRPr lang="en-US" sz="2100" dirty="0"/>
          </a:p>
        </p:txBody>
      </p:sp>
      <p:sp>
        <p:nvSpPr>
          <p:cNvPr id="32" name="Text 30"/>
          <p:cNvSpPr/>
          <p:nvPr/>
        </p:nvSpPr>
        <p:spPr>
          <a:xfrm>
            <a:off x="11544300" y="6266408"/>
            <a:ext cx="637032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RETURNS PROFILE</a:t>
            </a:r>
            <a:endParaRPr lang="en-US" sz="1800" dirty="0"/>
          </a:p>
        </p:txBody>
      </p:sp>
      <p:sp>
        <p:nvSpPr>
          <p:cNvPr id="33" name="Text 31"/>
          <p:cNvSpPr/>
          <p:nvPr/>
        </p:nvSpPr>
        <p:spPr>
          <a:xfrm>
            <a:off x="11544300" y="6737896"/>
            <a:ext cx="6370320" cy="876300"/>
          </a:xfrm>
          <a:prstGeom prst="rect">
            <a:avLst/>
          </a:prstGeom>
          <a:noFill/>
          <a:ln/>
        </p:spPr>
        <p:txBody>
          <a:bodyPr wrap="square" lIns="25400" tIns="25400" rIns="25400" bIns="25400" rtlCol="0" anchor="t">
            <a:normAutofit/>
          </a:bodyPr>
          <a:lstStyle/>
          <a:p>
            <a:pPr algn="l" indent="0" marL="0">
              <a:lnSpc>
                <a:spcPct val="87129"/>
              </a:lnSpc>
              <a:buNone/>
            </a:pPr>
            <a:r>
              <a:rPr lang="en-US" sz="6600" b="1" spc="-264" kern="0" dirty="0">
                <a:solidFill>
                  <a:srgbClr val="EDF2F8"/>
                </a:solidFill>
                <a:latin typeface="Arial" pitchFamily="34" charset="0"/>
                <a:ea typeface="Arial" pitchFamily="34" charset="-122"/>
                <a:cs typeface="Arial" pitchFamily="34" charset="-120"/>
              </a:rPr>
              <a:t>1,735</a:t>
            </a:r>
            <a:endParaRPr lang="en-US" sz="6600" dirty="0"/>
          </a:p>
        </p:txBody>
      </p:sp>
      <p:sp>
        <p:nvSpPr>
          <p:cNvPr id="34" name="Text 32"/>
          <p:cNvSpPr/>
          <p:nvPr/>
        </p:nvSpPr>
        <p:spPr>
          <a:xfrm>
            <a:off x="11544300" y="7785646"/>
            <a:ext cx="5964936" cy="12382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negative return transactions — a 0.78% return rate, low enough to treat returns as noise rather than a demand signal.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04 — DEMAND</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No SKU in the portfolio has smooth demand — 70% is outright lumpy</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7486650" y="3127028"/>
            <a:ext cx="19050" cy="6397972"/>
          </a:xfrm>
          <a:prstGeom prst="rect">
            <a:avLst/>
          </a:prstGeom>
          <a:solidFill>
            <a:srgbClr val="E2ECF7">
              <a:alpha val="22000"/>
            </a:srgbClr>
          </a:solidFill>
          <a:ln/>
        </p:spPr>
      </p:sp>
      <p:sp>
        <p:nvSpPr>
          <p:cNvPr id="6" name="Text 4"/>
          <p:cNvSpPr/>
          <p:nvPr/>
        </p:nvSpPr>
        <p:spPr>
          <a:xfrm>
            <a:off x="952500" y="3622328"/>
            <a:ext cx="634936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OUTDOOR VS INDOOR UNITS</a:t>
            </a:r>
            <a:endParaRPr lang="en-US" sz="1800" dirty="0"/>
          </a:p>
        </p:txBody>
      </p:sp>
      <p:sp>
        <p:nvSpPr>
          <p:cNvPr id="7" name="Shape 5"/>
          <p:cNvSpPr/>
          <p:nvPr/>
        </p:nvSpPr>
        <p:spPr>
          <a:xfrm>
            <a:off x="952500" y="6255990"/>
            <a:ext cx="5772150" cy="19050"/>
          </a:xfrm>
          <a:prstGeom prst="rect">
            <a:avLst/>
          </a:prstGeom>
          <a:solidFill>
            <a:srgbClr val="E2ECF7">
              <a:alpha val="22000"/>
            </a:srgbClr>
          </a:solidFill>
          <a:ln/>
        </p:spPr>
      </p:sp>
      <p:sp>
        <p:nvSpPr>
          <p:cNvPr id="8" name="Text 6"/>
          <p:cNvSpPr/>
          <p:nvPr/>
        </p:nvSpPr>
        <p:spPr>
          <a:xfrm>
            <a:off x="952500" y="4227165"/>
            <a:ext cx="6349365"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spc="-288" kern="0" dirty="0">
                <a:solidFill>
                  <a:srgbClr val="57D2E6"/>
                </a:solidFill>
                <a:latin typeface="Arial" pitchFamily="34" charset="0"/>
                <a:ea typeface="Arial" pitchFamily="34" charset="-122"/>
                <a:cs typeface="Arial" pitchFamily="34" charset="-120"/>
              </a:rPr>
              <a:t>80.8%</a:t>
            </a:r>
            <a:endParaRPr lang="en-US" sz="7200" dirty="0"/>
          </a:p>
        </p:txBody>
      </p:sp>
      <p:sp>
        <p:nvSpPr>
          <p:cNvPr id="9" name="Text 7"/>
          <p:cNvSpPr/>
          <p:nvPr/>
        </p:nvSpPr>
        <p:spPr>
          <a:xfrm>
            <a:off x="952500" y="5236815"/>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EDF2F8"/>
                </a:solidFill>
                <a:latin typeface="Arial" pitchFamily="34" charset="0"/>
                <a:ea typeface="Arial" pitchFamily="34" charset="-122"/>
                <a:cs typeface="Arial" pitchFamily="34" charset="-120"/>
              </a:rPr>
              <a:t>ODU</a:t>
            </a:r>
            <a:endParaRPr lang="en-US" sz="2100" dirty="0"/>
          </a:p>
        </p:txBody>
      </p:sp>
      <p:sp>
        <p:nvSpPr>
          <p:cNvPr id="10" name="Text 8"/>
          <p:cNvSpPr/>
          <p:nvPr/>
        </p:nvSpPr>
        <p:spPr>
          <a:xfrm>
            <a:off x="952500" y="5622578"/>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729,297 units</a:t>
            </a:r>
            <a:endParaRPr lang="en-US" sz="2100" dirty="0"/>
          </a:p>
        </p:txBody>
      </p:sp>
      <p:sp>
        <p:nvSpPr>
          <p:cNvPr id="11" name="Text 9"/>
          <p:cNvSpPr/>
          <p:nvPr/>
        </p:nvSpPr>
        <p:spPr>
          <a:xfrm>
            <a:off x="952500" y="6617940"/>
            <a:ext cx="6349365"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spc="-288" kern="0" dirty="0">
                <a:solidFill>
                  <a:srgbClr val="EDF2F8"/>
                </a:solidFill>
                <a:latin typeface="Arial" pitchFamily="34" charset="0"/>
                <a:ea typeface="Arial" pitchFamily="34" charset="-122"/>
                <a:cs typeface="Arial" pitchFamily="34" charset="-120"/>
              </a:rPr>
              <a:t>19.2%</a:t>
            </a:r>
            <a:endParaRPr lang="en-US" sz="7200" dirty="0"/>
          </a:p>
        </p:txBody>
      </p:sp>
      <p:sp>
        <p:nvSpPr>
          <p:cNvPr id="12" name="Text 10"/>
          <p:cNvSpPr/>
          <p:nvPr/>
        </p:nvSpPr>
        <p:spPr>
          <a:xfrm>
            <a:off x="952500" y="7627590"/>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EDF2F8"/>
                </a:solidFill>
                <a:latin typeface="Arial" pitchFamily="34" charset="0"/>
                <a:ea typeface="Arial" pitchFamily="34" charset="-122"/>
                <a:cs typeface="Arial" pitchFamily="34" charset="-120"/>
              </a:rPr>
              <a:t>IDU</a:t>
            </a:r>
            <a:endParaRPr lang="en-US" sz="2100" dirty="0"/>
          </a:p>
        </p:txBody>
      </p:sp>
      <p:sp>
        <p:nvSpPr>
          <p:cNvPr id="13" name="Text 11"/>
          <p:cNvSpPr/>
          <p:nvPr/>
        </p:nvSpPr>
        <p:spPr>
          <a:xfrm>
            <a:off x="952500" y="8013353"/>
            <a:ext cx="63493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173,094 units</a:t>
            </a:r>
            <a:endParaRPr lang="en-US" sz="2100" dirty="0"/>
          </a:p>
        </p:txBody>
      </p:sp>
      <p:sp>
        <p:nvSpPr>
          <p:cNvPr id="14" name="Text 12"/>
          <p:cNvSpPr/>
          <p:nvPr/>
        </p:nvSpPr>
        <p:spPr>
          <a:xfrm>
            <a:off x="8267700" y="3622328"/>
            <a:ext cx="997458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SYNTETOS-BOYLAN CLASSIFICATION — 154 SKUS</a:t>
            </a:r>
            <a:endParaRPr lang="en-US" sz="1800" dirty="0"/>
          </a:p>
        </p:txBody>
      </p:sp>
      <p:sp>
        <p:nvSpPr>
          <p:cNvPr id="15" name="Shape 13"/>
          <p:cNvSpPr/>
          <p:nvPr/>
        </p:nvSpPr>
        <p:spPr>
          <a:xfrm>
            <a:off x="8267700" y="4170015"/>
            <a:ext cx="9067800" cy="19050"/>
          </a:xfrm>
          <a:prstGeom prst="rect">
            <a:avLst/>
          </a:prstGeom>
          <a:solidFill>
            <a:srgbClr val="E2ECF7">
              <a:alpha val="22000"/>
            </a:srgbClr>
          </a:solidFill>
          <a:ln/>
        </p:spPr>
      </p:sp>
      <p:sp>
        <p:nvSpPr>
          <p:cNvPr id="16" name="Shape 14"/>
          <p:cNvSpPr/>
          <p:nvPr/>
        </p:nvSpPr>
        <p:spPr>
          <a:xfrm>
            <a:off x="8267700" y="5055840"/>
            <a:ext cx="9067800" cy="19050"/>
          </a:xfrm>
          <a:prstGeom prst="rect">
            <a:avLst/>
          </a:prstGeom>
          <a:solidFill>
            <a:srgbClr val="E2ECF7">
              <a:alpha val="22000"/>
            </a:srgbClr>
          </a:solidFill>
          <a:ln/>
        </p:spPr>
      </p:sp>
      <p:sp>
        <p:nvSpPr>
          <p:cNvPr id="17" name="Text 15"/>
          <p:cNvSpPr/>
          <p:nvPr/>
        </p:nvSpPr>
        <p:spPr>
          <a:xfrm>
            <a:off x="8267700" y="4436715"/>
            <a:ext cx="1048271"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Lumpy</a:t>
            </a:r>
            <a:endParaRPr lang="en-US" sz="2550" dirty="0"/>
          </a:p>
        </p:txBody>
      </p:sp>
      <p:sp>
        <p:nvSpPr>
          <p:cNvPr id="18" name="Text 16"/>
          <p:cNvSpPr/>
          <p:nvPr/>
        </p:nvSpPr>
        <p:spPr>
          <a:xfrm>
            <a:off x="14455080" y="4436715"/>
            <a:ext cx="99447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70.1%</a:t>
            </a:r>
            <a:endParaRPr lang="en-US" sz="2550" dirty="0"/>
          </a:p>
        </p:txBody>
      </p:sp>
      <p:sp>
        <p:nvSpPr>
          <p:cNvPr id="19" name="Text 17"/>
          <p:cNvSpPr/>
          <p:nvPr/>
        </p:nvSpPr>
        <p:spPr>
          <a:xfrm>
            <a:off x="15763875" y="4503390"/>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108 SKUs</a:t>
            </a:r>
            <a:endParaRPr lang="en-US" sz="2100" dirty="0"/>
          </a:p>
        </p:txBody>
      </p:sp>
      <p:sp>
        <p:nvSpPr>
          <p:cNvPr id="20" name="Shape 18"/>
          <p:cNvSpPr/>
          <p:nvPr/>
        </p:nvSpPr>
        <p:spPr>
          <a:xfrm>
            <a:off x="8267700" y="5941665"/>
            <a:ext cx="9067800" cy="19050"/>
          </a:xfrm>
          <a:prstGeom prst="rect">
            <a:avLst/>
          </a:prstGeom>
          <a:solidFill>
            <a:srgbClr val="E2ECF7">
              <a:alpha val="22000"/>
            </a:srgbClr>
          </a:solidFill>
          <a:ln/>
        </p:spPr>
      </p:sp>
      <p:sp>
        <p:nvSpPr>
          <p:cNvPr id="21" name="Text 19"/>
          <p:cNvSpPr/>
          <p:nvPr/>
        </p:nvSpPr>
        <p:spPr>
          <a:xfrm>
            <a:off x="8267700" y="5322540"/>
            <a:ext cx="1781912"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Intermittent</a:t>
            </a:r>
            <a:endParaRPr lang="en-US" sz="2550" dirty="0"/>
          </a:p>
        </p:txBody>
      </p:sp>
      <p:sp>
        <p:nvSpPr>
          <p:cNvPr id="22" name="Text 20"/>
          <p:cNvSpPr/>
          <p:nvPr/>
        </p:nvSpPr>
        <p:spPr>
          <a:xfrm>
            <a:off x="14455080" y="5322540"/>
            <a:ext cx="99447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18.8%</a:t>
            </a:r>
            <a:endParaRPr lang="en-US" sz="2550" dirty="0"/>
          </a:p>
        </p:txBody>
      </p:sp>
      <p:sp>
        <p:nvSpPr>
          <p:cNvPr id="23" name="Text 21"/>
          <p:cNvSpPr/>
          <p:nvPr/>
        </p:nvSpPr>
        <p:spPr>
          <a:xfrm>
            <a:off x="15763875" y="5389215"/>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29 SKUs</a:t>
            </a:r>
            <a:endParaRPr lang="en-US" sz="2100" dirty="0"/>
          </a:p>
        </p:txBody>
      </p:sp>
      <p:sp>
        <p:nvSpPr>
          <p:cNvPr id="24" name="Shape 22"/>
          <p:cNvSpPr/>
          <p:nvPr/>
        </p:nvSpPr>
        <p:spPr>
          <a:xfrm>
            <a:off x="8267700" y="6827490"/>
            <a:ext cx="9067800" cy="19050"/>
          </a:xfrm>
          <a:prstGeom prst="rect">
            <a:avLst/>
          </a:prstGeom>
          <a:solidFill>
            <a:srgbClr val="E2ECF7">
              <a:alpha val="22000"/>
            </a:srgbClr>
          </a:solidFill>
          <a:ln/>
        </p:spPr>
      </p:sp>
      <p:sp>
        <p:nvSpPr>
          <p:cNvPr id="25" name="Text 23"/>
          <p:cNvSpPr/>
          <p:nvPr/>
        </p:nvSpPr>
        <p:spPr>
          <a:xfrm>
            <a:off x="8267700" y="6208365"/>
            <a:ext cx="1011882"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Erratic</a:t>
            </a:r>
            <a:endParaRPr lang="en-US" sz="2550" dirty="0"/>
          </a:p>
        </p:txBody>
      </p:sp>
      <p:sp>
        <p:nvSpPr>
          <p:cNvPr id="26" name="Text 24"/>
          <p:cNvSpPr/>
          <p:nvPr/>
        </p:nvSpPr>
        <p:spPr>
          <a:xfrm>
            <a:off x="14479116" y="6208365"/>
            <a:ext cx="970434"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11.0%</a:t>
            </a:r>
            <a:endParaRPr lang="en-US" sz="2550" dirty="0"/>
          </a:p>
        </p:txBody>
      </p:sp>
      <p:sp>
        <p:nvSpPr>
          <p:cNvPr id="27" name="Text 25"/>
          <p:cNvSpPr/>
          <p:nvPr/>
        </p:nvSpPr>
        <p:spPr>
          <a:xfrm>
            <a:off x="15763875" y="6275040"/>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17 SKUs</a:t>
            </a:r>
            <a:endParaRPr lang="en-US" sz="2100" dirty="0"/>
          </a:p>
        </p:txBody>
      </p:sp>
      <p:sp>
        <p:nvSpPr>
          <p:cNvPr id="28" name="Shape 26"/>
          <p:cNvSpPr/>
          <p:nvPr/>
        </p:nvSpPr>
        <p:spPr>
          <a:xfrm>
            <a:off x="8267700" y="7713315"/>
            <a:ext cx="9067800" cy="19050"/>
          </a:xfrm>
          <a:prstGeom prst="rect">
            <a:avLst/>
          </a:prstGeom>
          <a:solidFill>
            <a:srgbClr val="E2ECF7">
              <a:alpha val="22000"/>
            </a:srgbClr>
          </a:solidFill>
          <a:ln/>
        </p:spPr>
      </p:sp>
      <p:sp>
        <p:nvSpPr>
          <p:cNvPr id="29" name="Text 27"/>
          <p:cNvSpPr/>
          <p:nvPr/>
        </p:nvSpPr>
        <p:spPr>
          <a:xfrm>
            <a:off x="8267700" y="7094190"/>
            <a:ext cx="1192337"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93A5BB"/>
                </a:solidFill>
                <a:latin typeface="Arial" pitchFamily="34" charset="0"/>
                <a:ea typeface="Arial" pitchFamily="34" charset="-122"/>
                <a:cs typeface="Arial" pitchFamily="34" charset="-120"/>
              </a:rPr>
              <a:t>Smooth</a:t>
            </a:r>
            <a:endParaRPr lang="en-US" sz="2550" dirty="0"/>
          </a:p>
        </p:txBody>
      </p:sp>
      <p:sp>
        <p:nvSpPr>
          <p:cNvPr id="30" name="Text 28"/>
          <p:cNvSpPr/>
          <p:nvPr/>
        </p:nvSpPr>
        <p:spPr>
          <a:xfrm>
            <a:off x="14905286" y="7094190"/>
            <a:ext cx="544264"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93A5BB"/>
                </a:solidFill>
                <a:latin typeface="Arial" pitchFamily="34" charset="0"/>
                <a:ea typeface="Arial" pitchFamily="34" charset="-122"/>
                <a:cs typeface="Arial" pitchFamily="34" charset="-120"/>
              </a:rPr>
              <a:t>0%</a:t>
            </a:r>
            <a:endParaRPr lang="en-US" sz="2550" dirty="0"/>
          </a:p>
        </p:txBody>
      </p:sp>
      <p:sp>
        <p:nvSpPr>
          <p:cNvPr id="31" name="Text 29"/>
          <p:cNvSpPr/>
          <p:nvPr/>
        </p:nvSpPr>
        <p:spPr>
          <a:xfrm>
            <a:off x="15763875" y="7160865"/>
            <a:ext cx="1571625"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0 SKUs</a:t>
            </a:r>
            <a:endParaRPr lang="en-US" sz="2100" dirty="0"/>
          </a:p>
        </p:txBody>
      </p:sp>
      <p:sp>
        <p:nvSpPr>
          <p:cNvPr id="32" name="Text 30"/>
          <p:cNvSpPr/>
          <p:nvPr/>
        </p:nvSpPr>
        <p:spPr>
          <a:xfrm>
            <a:off x="8267700" y="8018115"/>
            <a:ext cx="8829675" cy="12382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An empty smooth quadrant rules out standard exponential smoothing portfolio-wide and pushes the model choice toward intermittent-demand methods.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05 — DISTRIBUTION</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Order lines are small and widely dispersed — the median indoor-unit line is zero</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4284315"/>
            <a:ext cx="16383000" cy="19050"/>
          </a:xfrm>
          <a:prstGeom prst="rect">
            <a:avLst/>
          </a:prstGeom>
          <a:solidFill>
            <a:srgbClr val="E2ECF7">
              <a:alpha val="22000"/>
            </a:srgbClr>
          </a:solidFill>
          <a:ln/>
        </p:spPr>
      </p:sp>
      <p:sp>
        <p:nvSpPr>
          <p:cNvPr id="6" name="Shape 4"/>
          <p:cNvSpPr/>
          <p:nvPr/>
        </p:nvSpPr>
        <p:spPr>
          <a:xfrm>
            <a:off x="952500" y="3622328"/>
            <a:ext cx="16383000" cy="19050"/>
          </a:xfrm>
          <a:prstGeom prst="rect">
            <a:avLst/>
          </a:prstGeom>
          <a:solidFill>
            <a:srgbClr val="E2ECF7">
              <a:alpha val="22000"/>
            </a:srgbClr>
          </a:solidFill>
          <a:ln/>
        </p:spPr>
      </p:sp>
      <p:sp>
        <p:nvSpPr>
          <p:cNvPr id="7" name="Text 5"/>
          <p:cNvSpPr/>
          <p:nvPr/>
        </p:nvSpPr>
        <p:spPr>
          <a:xfrm>
            <a:off x="952500" y="3831878"/>
            <a:ext cx="436879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93A5BB"/>
                </a:solidFill>
                <a:latin typeface="Arial" pitchFamily="34" charset="0"/>
                <a:ea typeface="Arial" pitchFamily="34" charset="-122"/>
                <a:cs typeface="Arial" pitchFamily="34" charset="-120"/>
              </a:rPr>
              <a:t>MEASURE</a:t>
            </a:r>
            <a:endParaRPr lang="en-US" sz="1800" dirty="0"/>
          </a:p>
        </p:txBody>
      </p:sp>
      <p:sp>
        <p:nvSpPr>
          <p:cNvPr id="8" name="Text 6"/>
          <p:cNvSpPr/>
          <p:nvPr/>
        </p:nvSpPr>
        <p:spPr>
          <a:xfrm>
            <a:off x="4675904" y="3831878"/>
            <a:ext cx="2730453"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MEAN</a:t>
            </a:r>
            <a:endParaRPr lang="en-US" sz="1800" dirty="0"/>
          </a:p>
        </p:txBody>
      </p:sp>
      <p:sp>
        <p:nvSpPr>
          <p:cNvPr id="9" name="Text 7"/>
          <p:cNvSpPr/>
          <p:nvPr/>
        </p:nvSpPr>
        <p:spPr>
          <a:xfrm>
            <a:off x="7158127" y="3831878"/>
            <a:ext cx="2730535"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STD DEV</a:t>
            </a:r>
            <a:endParaRPr lang="en-US" sz="1800" dirty="0"/>
          </a:p>
        </p:txBody>
      </p:sp>
      <p:sp>
        <p:nvSpPr>
          <p:cNvPr id="10" name="Text 8"/>
          <p:cNvSpPr/>
          <p:nvPr/>
        </p:nvSpPr>
        <p:spPr>
          <a:xfrm>
            <a:off x="9640439" y="3831878"/>
            <a:ext cx="2730453"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MIN</a:t>
            </a:r>
            <a:endParaRPr lang="en-US" sz="1800" dirty="0"/>
          </a:p>
        </p:txBody>
      </p:sp>
      <p:sp>
        <p:nvSpPr>
          <p:cNvPr id="11" name="Text 9"/>
          <p:cNvSpPr/>
          <p:nvPr/>
        </p:nvSpPr>
        <p:spPr>
          <a:xfrm>
            <a:off x="12122661" y="3831878"/>
            <a:ext cx="2730535"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MEDIAN</a:t>
            </a:r>
            <a:endParaRPr lang="en-US" sz="1800" dirty="0"/>
          </a:p>
        </p:txBody>
      </p:sp>
      <p:sp>
        <p:nvSpPr>
          <p:cNvPr id="12" name="Text 10"/>
          <p:cNvSpPr/>
          <p:nvPr/>
        </p:nvSpPr>
        <p:spPr>
          <a:xfrm>
            <a:off x="14604965" y="3831878"/>
            <a:ext cx="2730535"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MAX</a:t>
            </a:r>
            <a:endParaRPr lang="en-US" sz="1800" dirty="0"/>
          </a:p>
        </p:txBody>
      </p:sp>
      <p:sp>
        <p:nvSpPr>
          <p:cNvPr id="13" name="Shape 11"/>
          <p:cNvSpPr/>
          <p:nvPr/>
        </p:nvSpPr>
        <p:spPr>
          <a:xfrm>
            <a:off x="952500" y="5246340"/>
            <a:ext cx="16383000" cy="19050"/>
          </a:xfrm>
          <a:prstGeom prst="rect">
            <a:avLst/>
          </a:prstGeom>
          <a:solidFill>
            <a:srgbClr val="E2ECF7">
              <a:alpha val="22000"/>
            </a:srgbClr>
          </a:solidFill>
          <a:ln/>
        </p:spPr>
      </p:sp>
      <p:sp>
        <p:nvSpPr>
          <p:cNvPr id="14" name="Text 12"/>
          <p:cNvSpPr/>
          <p:nvPr/>
        </p:nvSpPr>
        <p:spPr>
          <a:xfrm>
            <a:off x="952500" y="4589115"/>
            <a:ext cx="436879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Billing quantity ODU</a:t>
            </a:r>
            <a:endParaRPr lang="en-US" sz="2550" dirty="0"/>
          </a:p>
        </p:txBody>
      </p:sp>
      <p:sp>
        <p:nvSpPr>
          <p:cNvPr id="15" name="Text 13"/>
          <p:cNvSpPr/>
          <p:nvPr/>
        </p:nvSpPr>
        <p:spPr>
          <a:xfrm>
            <a:off x="4675904" y="460340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8.89</a:t>
            </a:r>
            <a:endParaRPr lang="en-US" sz="2550" dirty="0"/>
          </a:p>
        </p:txBody>
      </p:sp>
      <p:sp>
        <p:nvSpPr>
          <p:cNvPr id="16" name="Text 14"/>
          <p:cNvSpPr/>
          <p:nvPr/>
        </p:nvSpPr>
        <p:spPr>
          <a:xfrm>
            <a:off x="7158127" y="460340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18.05</a:t>
            </a:r>
            <a:endParaRPr lang="en-US" sz="2550" dirty="0"/>
          </a:p>
        </p:txBody>
      </p:sp>
      <p:sp>
        <p:nvSpPr>
          <p:cNvPr id="17" name="Text 15"/>
          <p:cNvSpPr/>
          <p:nvPr/>
        </p:nvSpPr>
        <p:spPr>
          <a:xfrm>
            <a:off x="9640439" y="460340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2745F"/>
                </a:solidFill>
                <a:latin typeface="Arial" pitchFamily="34" charset="0"/>
                <a:ea typeface="Arial" pitchFamily="34" charset="-122"/>
                <a:cs typeface="Arial" pitchFamily="34" charset="-120"/>
              </a:rPr>
              <a:t>−135</a:t>
            </a:r>
            <a:endParaRPr lang="en-US" sz="2550" dirty="0"/>
          </a:p>
        </p:txBody>
      </p:sp>
      <p:sp>
        <p:nvSpPr>
          <p:cNvPr id="18" name="Text 16"/>
          <p:cNvSpPr/>
          <p:nvPr/>
        </p:nvSpPr>
        <p:spPr>
          <a:xfrm>
            <a:off x="12122661" y="460340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3</a:t>
            </a:r>
            <a:endParaRPr lang="en-US" sz="2550" dirty="0"/>
          </a:p>
        </p:txBody>
      </p:sp>
      <p:sp>
        <p:nvSpPr>
          <p:cNvPr id="19" name="Text 17"/>
          <p:cNvSpPr/>
          <p:nvPr/>
        </p:nvSpPr>
        <p:spPr>
          <a:xfrm>
            <a:off x="14604965" y="460340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180</a:t>
            </a:r>
            <a:endParaRPr lang="en-US" sz="2550" dirty="0"/>
          </a:p>
        </p:txBody>
      </p:sp>
      <p:sp>
        <p:nvSpPr>
          <p:cNvPr id="20" name="Shape 18"/>
          <p:cNvSpPr/>
          <p:nvPr/>
        </p:nvSpPr>
        <p:spPr>
          <a:xfrm>
            <a:off x="952500" y="6208365"/>
            <a:ext cx="16383000" cy="19050"/>
          </a:xfrm>
          <a:prstGeom prst="rect">
            <a:avLst/>
          </a:prstGeom>
          <a:solidFill>
            <a:srgbClr val="E2ECF7">
              <a:alpha val="22000"/>
            </a:srgbClr>
          </a:solidFill>
          <a:ln/>
        </p:spPr>
      </p:sp>
      <p:sp>
        <p:nvSpPr>
          <p:cNvPr id="21" name="Text 19"/>
          <p:cNvSpPr/>
          <p:nvPr/>
        </p:nvSpPr>
        <p:spPr>
          <a:xfrm>
            <a:off x="952500" y="5551140"/>
            <a:ext cx="436879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Billing quantity IDU</a:t>
            </a:r>
            <a:endParaRPr lang="en-US" sz="2550" dirty="0"/>
          </a:p>
        </p:txBody>
      </p:sp>
      <p:sp>
        <p:nvSpPr>
          <p:cNvPr id="22" name="Text 20"/>
          <p:cNvSpPr/>
          <p:nvPr/>
        </p:nvSpPr>
        <p:spPr>
          <a:xfrm>
            <a:off x="4675904" y="5565428"/>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2.11</a:t>
            </a:r>
            <a:endParaRPr lang="en-US" sz="2550" dirty="0"/>
          </a:p>
        </p:txBody>
      </p:sp>
      <p:sp>
        <p:nvSpPr>
          <p:cNvPr id="23" name="Text 21"/>
          <p:cNvSpPr/>
          <p:nvPr/>
        </p:nvSpPr>
        <p:spPr>
          <a:xfrm>
            <a:off x="7158127" y="5565428"/>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10.35</a:t>
            </a:r>
            <a:endParaRPr lang="en-US" sz="2550" dirty="0"/>
          </a:p>
        </p:txBody>
      </p:sp>
      <p:sp>
        <p:nvSpPr>
          <p:cNvPr id="24" name="Text 22"/>
          <p:cNvSpPr/>
          <p:nvPr/>
        </p:nvSpPr>
        <p:spPr>
          <a:xfrm>
            <a:off x="9640439" y="5565428"/>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2745F"/>
                </a:solidFill>
                <a:latin typeface="Arial" pitchFamily="34" charset="0"/>
                <a:ea typeface="Arial" pitchFamily="34" charset="-122"/>
                <a:cs typeface="Arial" pitchFamily="34" charset="-120"/>
              </a:rPr>
              <a:t>−30</a:t>
            </a:r>
            <a:endParaRPr lang="en-US" sz="2550" dirty="0"/>
          </a:p>
        </p:txBody>
      </p:sp>
      <p:sp>
        <p:nvSpPr>
          <p:cNvPr id="25" name="Text 23"/>
          <p:cNvSpPr/>
          <p:nvPr/>
        </p:nvSpPr>
        <p:spPr>
          <a:xfrm>
            <a:off x="12122661" y="5551140"/>
            <a:ext cx="2730535" cy="409575"/>
          </a:xfrm>
          <a:prstGeom prst="rect">
            <a:avLst/>
          </a:prstGeom>
          <a:noFill/>
          <a:ln/>
        </p:spPr>
        <p:txBody>
          <a:bodyPr wrap="square" lIns="25400" tIns="25400" rIns="25400" bIns="25400" rtlCol="0" anchor="t">
            <a:normAutofit/>
          </a:bodyPr>
          <a:lstStyle/>
          <a:p>
            <a:pPr algn="r" indent="0" marL="0">
              <a:buNone/>
            </a:pPr>
            <a:r>
              <a:rPr lang="en-US" sz="2550" b="1" dirty="0">
                <a:solidFill>
                  <a:srgbClr val="57D2E6"/>
                </a:solidFill>
                <a:latin typeface="Arial" pitchFamily="34" charset="0"/>
                <a:ea typeface="Arial" pitchFamily="34" charset="-122"/>
                <a:cs typeface="Arial" pitchFamily="34" charset="-120"/>
              </a:rPr>
              <a:t>0</a:t>
            </a:r>
            <a:endParaRPr lang="en-US" sz="2550" dirty="0"/>
          </a:p>
        </p:txBody>
      </p:sp>
      <p:sp>
        <p:nvSpPr>
          <p:cNvPr id="26" name="Text 24"/>
          <p:cNvSpPr/>
          <p:nvPr/>
        </p:nvSpPr>
        <p:spPr>
          <a:xfrm>
            <a:off x="14604965" y="5565428"/>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170</a:t>
            </a:r>
            <a:endParaRPr lang="en-US" sz="2550" dirty="0"/>
          </a:p>
        </p:txBody>
      </p:sp>
      <p:sp>
        <p:nvSpPr>
          <p:cNvPr id="27" name="Shape 25"/>
          <p:cNvSpPr/>
          <p:nvPr/>
        </p:nvSpPr>
        <p:spPr>
          <a:xfrm>
            <a:off x="952500" y="7170390"/>
            <a:ext cx="16383000" cy="19050"/>
          </a:xfrm>
          <a:prstGeom prst="rect">
            <a:avLst/>
          </a:prstGeom>
          <a:solidFill>
            <a:srgbClr val="E2ECF7">
              <a:alpha val="22000"/>
            </a:srgbClr>
          </a:solidFill>
          <a:ln/>
        </p:spPr>
      </p:sp>
      <p:sp>
        <p:nvSpPr>
          <p:cNvPr id="28" name="Text 26"/>
          <p:cNvSpPr/>
          <p:nvPr/>
        </p:nvSpPr>
        <p:spPr>
          <a:xfrm>
            <a:off x="952500" y="6513165"/>
            <a:ext cx="436879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Tonnage</a:t>
            </a:r>
            <a:endParaRPr lang="en-US" sz="2550" dirty="0"/>
          </a:p>
        </p:txBody>
      </p:sp>
      <p:sp>
        <p:nvSpPr>
          <p:cNvPr id="29" name="Text 27"/>
          <p:cNvSpPr/>
          <p:nvPr/>
        </p:nvSpPr>
        <p:spPr>
          <a:xfrm>
            <a:off x="4675904" y="652745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1.28</a:t>
            </a:r>
            <a:endParaRPr lang="en-US" sz="2550" dirty="0"/>
          </a:p>
        </p:txBody>
      </p:sp>
      <p:sp>
        <p:nvSpPr>
          <p:cNvPr id="30" name="Text 28"/>
          <p:cNvSpPr/>
          <p:nvPr/>
        </p:nvSpPr>
        <p:spPr>
          <a:xfrm>
            <a:off x="7158127" y="652745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0.56</a:t>
            </a:r>
            <a:endParaRPr lang="en-US" sz="2550" dirty="0"/>
          </a:p>
        </p:txBody>
      </p:sp>
      <p:sp>
        <p:nvSpPr>
          <p:cNvPr id="31" name="Text 29"/>
          <p:cNvSpPr/>
          <p:nvPr/>
        </p:nvSpPr>
        <p:spPr>
          <a:xfrm>
            <a:off x="9640439" y="6527453"/>
            <a:ext cx="2730453"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0</a:t>
            </a:r>
            <a:endParaRPr lang="en-US" sz="2550" dirty="0"/>
          </a:p>
        </p:txBody>
      </p:sp>
      <p:sp>
        <p:nvSpPr>
          <p:cNvPr id="32" name="Text 30"/>
          <p:cNvSpPr/>
          <p:nvPr/>
        </p:nvSpPr>
        <p:spPr>
          <a:xfrm>
            <a:off x="12122661" y="652745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1.5</a:t>
            </a:r>
            <a:endParaRPr lang="en-US" sz="2550" dirty="0"/>
          </a:p>
        </p:txBody>
      </p:sp>
      <p:sp>
        <p:nvSpPr>
          <p:cNvPr id="33" name="Text 31"/>
          <p:cNvSpPr/>
          <p:nvPr/>
        </p:nvSpPr>
        <p:spPr>
          <a:xfrm>
            <a:off x="14604965" y="6527453"/>
            <a:ext cx="2730535" cy="390525"/>
          </a:xfrm>
          <a:prstGeom prst="rect">
            <a:avLst/>
          </a:prstGeom>
          <a:noFill/>
          <a:ln/>
        </p:spPr>
        <p:txBody>
          <a:bodyPr wrap="square" lIns="25400" tIns="25400" rIns="25400" bIns="25400" rtlCol="0" anchor="t">
            <a:normAutofit/>
          </a:bodyPr>
          <a:lstStyle/>
          <a:p>
            <a:pPr algn="r" indent="0" marL="0">
              <a:buNone/>
            </a:pPr>
            <a:r>
              <a:rPr lang="en-US" sz="2550" dirty="0">
                <a:solidFill>
                  <a:srgbClr val="EDF2F8"/>
                </a:solidFill>
                <a:latin typeface="Arial" pitchFamily="34" charset="0"/>
                <a:ea typeface="Arial" pitchFamily="34" charset="-122"/>
                <a:cs typeface="Arial" pitchFamily="34" charset="-120"/>
              </a:rPr>
              <a:t>2.2</a:t>
            </a:r>
            <a:endParaRPr lang="en-US" sz="2550" dirty="0"/>
          </a:p>
        </p:txBody>
      </p:sp>
      <p:sp>
        <p:nvSpPr>
          <p:cNvPr id="34" name="Text 32"/>
          <p:cNvSpPr/>
          <p:nvPr/>
        </p:nvSpPr>
        <p:spPr>
          <a:xfrm>
            <a:off x="952500" y="7513290"/>
            <a:ext cx="13735050"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Across 82,033 scored lines, standard deviation runs at roughly twice the mean on ODU and five times the mean on IDU. Negative minima are the return transactions isolated in the quality audit.</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06 — METHOD</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Lumpy demand forces a two-track model set — statistical and machine learning side by side</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6394400" y="3641378"/>
            <a:ext cx="19050" cy="5883622"/>
          </a:xfrm>
          <a:prstGeom prst="rect">
            <a:avLst/>
          </a:prstGeom>
          <a:solidFill>
            <a:srgbClr val="E2ECF7">
              <a:alpha val="22000"/>
            </a:srgbClr>
          </a:solidFill>
          <a:ln/>
        </p:spPr>
      </p:sp>
      <p:sp>
        <p:nvSpPr>
          <p:cNvPr id="7" name="Text 5"/>
          <p:cNvSpPr/>
          <p:nvPr/>
        </p:nvSpPr>
        <p:spPr>
          <a:xfrm>
            <a:off x="952500" y="4060478"/>
            <a:ext cx="548317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MODELS EVALUATED</a:t>
            </a:r>
            <a:endParaRPr lang="en-US" sz="1800" dirty="0"/>
          </a:p>
        </p:txBody>
      </p:sp>
      <p:sp>
        <p:nvSpPr>
          <p:cNvPr id="8" name="Text 6"/>
          <p:cNvSpPr/>
          <p:nvPr/>
        </p:nvSpPr>
        <p:spPr>
          <a:xfrm>
            <a:off x="952500" y="4551015"/>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ARIMA (1,1,1)</a:t>
            </a:r>
            <a:endParaRPr lang="en-US" sz="2100" dirty="0"/>
          </a:p>
        </p:txBody>
      </p:sp>
      <p:sp>
        <p:nvSpPr>
          <p:cNvPr id="9" name="Text 7"/>
          <p:cNvSpPr/>
          <p:nvPr/>
        </p:nvSpPr>
        <p:spPr>
          <a:xfrm>
            <a:off x="952500" y="5152951"/>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SARIMA (1,1,1,12)</a:t>
            </a:r>
            <a:endParaRPr lang="en-US" sz="2100" dirty="0"/>
          </a:p>
        </p:txBody>
      </p:sp>
      <p:sp>
        <p:nvSpPr>
          <p:cNvPr id="10" name="Text 8"/>
          <p:cNvSpPr/>
          <p:nvPr/>
        </p:nvSpPr>
        <p:spPr>
          <a:xfrm>
            <a:off x="952500" y="5754886"/>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Exponential Smoothing</a:t>
            </a:r>
            <a:endParaRPr lang="en-US" sz="2100" dirty="0"/>
          </a:p>
        </p:txBody>
      </p:sp>
      <p:sp>
        <p:nvSpPr>
          <p:cNvPr id="11" name="Text 9"/>
          <p:cNvSpPr/>
          <p:nvPr/>
        </p:nvSpPr>
        <p:spPr>
          <a:xfrm>
            <a:off x="952500" y="6356821"/>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Random Forest</a:t>
            </a:r>
            <a:endParaRPr lang="en-US" sz="2100" dirty="0"/>
          </a:p>
        </p:txBody>
      </p:sp>
      <p:sp>
        <p:nvSpPr>
          <p:cNvPr id="12" name="Text 10"/>
          <p:cNvSpPr/>
          <p:nvPr/>
        </p:nvSpPr>
        <p:spPr>
          <a:xfrm>
            <a:off x="952500" y="6958757"/>
            <a:ext cx="5483170"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Gradient Boosting</a:t>
            </a:r>
            <a:endParaRPr lang="en-US" sz="2100" dirty="0"/>
          </a:p>
        </p:txBody>
      </p:sp>
      <p:sp>
        <p:nvSpPr>
          <p:cNvPr id="13" name="Shape 11"/>
          <p:cNvSpPr/>
          <p:nvPr/>
        </p:nvSpPr>
        <p:spPr>
          <a:xfrm>
            <a:off x="11855425" y="3641378"/>
            <a:ext cx="19050" cy="5883622"/>
          </a:xfrm>
          <a:prstGeom prst="rect">
            <a:avLst/>
          </a:prstGeom>
          <a:solidFill>
            <a:srgbClr val="E2ECF7">
              <a:alpha val="22000"/>
            </a:srgbClr>
          </a:solidFill>
          <a:ln/>
        </p:spPr>
      </p:sp>
      <p:sp>
        <p:nvSpPr>
          <p:cNvPr id="14" name="Text 12"/>
          <p:cNvSpPr/>
          <p:nvPr/>
        </p:nvSpPr>
        <p:spPr>
          <a:xfrm>
            <a:off x="6870650" y="4060478"/>
            <a:ext cx="4980332"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FEATURE ENGINEERING</a:t>
            </a:r>
            <a:endParaRPr lang="en-US" sz="1800" dirty="0"/>
          </a:p>
        </p:txBody>
      </p:sp>
      <p:sp>
        <p:nvSpPr>
          <p:cNvPr id="15" name="Text 13"/>
          <p:cNvSpPr/>
          <p:nvPr/>
        </p:nvSpPr>
        <p:spPr>
          <a:xfrm>
            <a:off x="6870650" y="4551015"/>
            <a:ext cx="466340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Calendar features — week, month, quarter, day of year</a:t>
            </a:r>
            <a:endParaRPr lang="en-US" sz="2100" dirty="0"/>
          </a:p>
        </p:txBody>
      </p:sp>
      <p:sp>
        <p:nvSpPr>
          <p:cNvPr id="16" name="Text 14"/>
          <p:cNvSpPr/>
          <p:nvPr/>
        </p:nvSpPr>
        <p:spPr>
          <a:xfrm>
            <a:off x="6870650" y="5526286"/>
            <a:ext cx="466340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Lag features — previous four weeks of demand</a:t>
            </a:r>
            <a:endParaRPr lang="en-US" sz="2100" dirty="0"/>
          </a:p>
        </p:txBody>
      </p:sp>
      <p:sp>
        <p:nvSpPr>
          <p:cNvPr id="17" name="Text 15"/>
          <p:cNvSpPr/>
          <p:nvPr/>
        </p:nvSpPr>
        <p:spPr>
          <a:xfrm>
            <a:off x="6870650" y="6501557"/>
            <a:ext cx="4663402"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Rolling averages — two-week and four-week windows</a:t>
            </a:r>
            <a:endParaRPr lang="en-US" sz="2100" dirty="0"/>
          </a:p>
        </p:txBody>
      </p:sp>
      <p:sp>
        <p:nvSpPr>
          <p:cNvPr id="18" name="Text 16"/>
          <p:cNvSpPr/>
          <p:nvPr/>
        </p:nvSpPr>
        <p:spPr>
          <a:xfrm>
            <a:off x="12331675" y="4060478"/>
            <a:ext cx="550412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VALIDATION DESIGN</a:t>
            </a:r>
            <a:endParaRPr lang="en-US" sz="1800" dirty="0"/>
          </a:p>
        </p:txBody>
      </p:sp>
      <p:sp>
        <p:nvSpPr>
          <p:cNvPr id="19" name="Text 17"/>
          <p:cNvSpPr/>
          <p:nvPr/>
        </p:nvSpPr>
        <p:spPr>
          <a:xfrm>
            <a:off x="12331675" y="4551015"/>
            <a:ext cx="550412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80 / 20 train-validation split per series</a:t>
            </a:r>
            <a:endParaRPr lang="en-US" sz="2100" dirty="0"/>
          </a:p>
        </p:txBody>
      </p:sp>
      <p:sp>
        <p:nvSpPr>
          <p:cNvPr id="20" name="Text 18"/>
          <p:cNvSpPr/>
          <p:nvPr/>
        </p:nvSpPr>
        <p:spPr>
          <a:xfrm>
            <a:off x="12331675" y="5152951"/>
            <a:ext cx="550412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Scored on MAE, RMSE and MAPE</a:t>
            </a:r>
            <a:endParaRPr lang="en-US" sz="2100" dirty="0"/>
          </a:p>
        </p:txBody>
      </p:sp>
      <p:sp>
        <p:nvSpPr>
          <p:cNvPr id="21" name="Text 19"/>
          <p:cNvSpPr/>
          <p:nvPr/>
        </p:nvSpPr>
        <p:spPr>
          <a:xfrm>
            <a:off x="12331675" y="5754886"/>
            <a:ext cx="5153863"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Minimum 10 observations; 20–30 weeks preferred</a:t>
            </a:r>
            <a:endParaRPr lang="en-US" sz="2100" dirty="0"/>
          </a:p>
        </p:txBody>
      </p:sp>
      <p:sp>
        <p:nvSpPr>
          <p:cNvPr id="22" name="Text 20"/>
          <p:cNvSpPr/>
          <p:nvPr/>
        </p:nvSpPr>
        <p:spPr>
          <a:xfrm>
            <a:off x="12331675" y="6730157"/>
            <a:ext cx="5153863"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Confidence bands configurable from 80% to 99%</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07 — RESULTS</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A 12-week rolling forecast now runs across 42 branch–SKU series</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5371058"/>
            <a:ext cx="16383000" cy="19050"/>
          </a:xfrm>
          <a:prstGeom prst="rect">
            <a:avLst/>
          </a:prstGeom>
          <a:solidFill>
            <a:srgbClr val="E2ECF7">
              <a:alpha val="22000"/>
            </a:srgbClr>
          </a:solidFill>
          <a:ln/>
        </p:spPr>
      </p:sp>
      <p:sp>
        <p:nvSpPr>
          <p:cNvPr id="6" name="Shape 4"/>
          <p:cNvSpPr/>
          <p:nvPr/>
        </p:nvSpPr>
        <p:spPr>
          <a:xfrm>
            <a:off x="952500" y="3622328"/>
            <a:ext cx="16383000" cy="19050"/>
          </a:xfrm>
          <a:prstGeom prst="rect">
            <a:avLst/>
          </a:prstGeom>
          <a:solidFill>
            <a:srgbClr val="E2ECF7">
              <a:alpha val="22000"/>
            </a:srgbClr>
          </a:solidFill>
          <a:ln/>
        </p:spPr>
      </p:sp>
      <p:sp>
        <p:nvSpPr>
          <p:cNvPr id="7" name="Shape 5"/>
          <p:cNvSpPr/>
          <p:nvPr/>
        </p:nvSpPr>
        <p:spPr>
          <a:xfrm>
            <a:off x="5029200" y="3641378"/>
            <a:ext cx="19050" cy="1729680"/>
          </a:xfrm>
          <a:prstGeom prst="rect">
            <a:avLst/>
          </a:prstGeom>
          <a:solidFill>
            <a:srgbClr val="E2ECF7">
              <a:alpha val="22000"/>
            </a:srgbClr>
          </a:solidFill>
          <a:ln/>
        </p:spPr>
      </p:sp>
      <p:sp>
        <p:nvSpPr>
          <p:cNvPr id="8" name="Text 6"/>
          <p:cNvSpPr/>
          <p:nvPr/>
        </p:nvSpPr>
        <p:spPr>
          <a:xfrm>
            <a:off x="952500" y="3793778"/>
            <a:ext cx="40652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57D2E6"/>
                </a:solidFill>
                <a:latin typeface="Arial" pitchFamily="34" charset="0"/>
                <a:ea typeface="Arial" pitchFamily="34" charset="-122"/>
                <a:cs typeface="Arial" pitchFamily="34" charset="-120"/>
              </a:rPr>
              <a:t>12</a:t>
            </a:r>
            <a:endParaRPr lang="en-US" sz="4650" dirty="0"/>
          </a:p>
        </p:txBody>
      </p:sp>
      <p:sp>
        <p:nvSpPr>
          <p:cNvPr id="9" name="Text 7"/>
          <p:cNvSpPr/>
          <p:nvPr/>
        </p:nvSpPr>
        <p:spPr>
          <a:xfrm>
            <a:off x="952500" y="4498628"/>
            <a:ext cx="40652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Weeks of forward horizon</a:t>
            </a:r>
            <a:endParaRPr lang="en-US" sz="2100" dirty="0"/>
          </a:p>
        </p:txBody>
      </p:sp>
      <p:sp>
        <p:nvSpPr>
          <p:cNvPr id="10" name="Shape 8"/>
          <p:cNvSpPr/>
          <p:nvPr/>
        </p:nvSpPr>
        <p:spPr>
          <a:xfrm>
            <a:off x="9124950" y="3641378"/>
            <a:ext cx="19050" cy="1729680"/>
          </a:xfrm>
          <a:prstGeom prst="rect">
            <a:avLst/>
          </a:prstGeom>
          <a:solidFill>
            <a:srgbClr val="E2ECF7">
              <a:alpha val="22000"/>
            </a:srgbClr>
          </a:solidFill>
          <a:ln/>
        </p:spPr>
      </p:sp>
      <p:sp>
        <p:nvSpPr>
          <p:cNvPr id="11" name="Text 9"/>
          <p:cNvSpPr/>
          <p:nvPr/>
        </p:nvSpPr>
        <p:spPr>
          <a:xfrm>
            <a:off x="5429250" y="37937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42</a:t>
            </a:r>
            <a:endParaRPr lang="en-US" sz="4650" dirty="0"/>
          </a:p>
        </p:txBody>
      </p:sp>
      <p:sp>
        <p:nvSpPr>
          <p:cNvPr id="12" name="Text 10"/>
          <p:cNvSpPr/>
          <p:nvPr/>
        </p:nvSpPr>
        <p:spPr>
          <a:xfrm>
            <a:off x="5429250" y="4498628"/>
            <a:ext cx="3414141"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Branch–SKU series forecast</a:t>
            </a:r>
            <a:endParaRPr lang="en-US" sz="2100" dirty="0"/>
          </a:p>
        </p:txBody>
      </p:sp>
      <p:sp>
        <p:nvSpPr>
          <p:cNvPr id="13" name="Shape 11"/>
          <p:cNvSpPr/>
          <p:nvPr/>
        </p:nvSpPr>
        <p:spPr>
          <a:xfrm>
            <a:off x="13220700" y="3641378"/>
            <a:ext cx="19050" cy="1729680"/>
          </a:xfrm>
          <a:prstGeom prst="rect">
            <a:avLst/>
          </a:prstGeom>
          <a:solidFill>
            <a:srgbClr val="E2ECF7">
              <a:alpha val="22000"/>
            </a:srgbClr>
          </a:solidFill>
          <a:ln/>
        </p:spPr>
      </p:sp>
      <p:sp>
        <p:nvSpPr>
          <p:cNvPr id="14" name="Text 12"/>
          <p:cNvSpPr/>
          <p:nvPr/>
        </p:nvSpPr>
        <p:spPr>
          <a:xfrm>
            <a:off x="9525000" y="3793778"/>
            <a:ext cx="3646170"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15</a:t>
            </a:r>
            <a:endParaRPr lang="en-US" sz="4650" dirty="0"/>
          </a:p>
        </p:txBody>
      </p:sp>
      <p:sp>
        <p:nvSpPr>
          <p:cNvPr id="15" name="Text 13"/>
          <p:cNvSpPr/>
          <p:nvPr/>
        </p:nvSpPr>
        <p:spPr>
          <a:xfrm>
            <a:off x="9525000" y="4498628"/>
            <a:ext cx="364617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Distinct SKUs covered</a:t>
            </a:r>
            <a:endParaRPr lang="en-US" sz="2100" dirty="0"/>
          </a:p>
        </p:txBody>
      </p:sp>
      <p:sp>
        <p:nvSpPr>
          <p:cNvPr id="16" name="Text 14"/>
          <p:cNvSpPr/>
          <p:nvPr/>
        </p:nvSpPr>
        <p:spPr>
          <a:xfrm>
            <a:off x="13620750" y="3793778"/>
            <a:ext cx="4086225" cy="628650"/>
          </a:xfrm>
          <a:prstGeom prst="rect">
            <a:avLst/>
          </a:prstGeom>
          <a:noFill/>
          <a:ln/>
        </p:spPr>
        <p:txBody>
          <a:bodyPr wrap="square" lIns="25400" tIns="25400" rIns="25400" bIns="25400" rtlCol="0" anchor="t">
            <a:normAutofit/>
          </a:bodyPr>
          <a:lstStyle/>
          <a:p>
            <a:pPr algn="l" indent="0" marL="0">
              <a:lnSpc>
                <a:spcPct val="87324"/>
              </a:lnSpc>
              <a:buNone/>
            </a:pPr>
            <a:r>
              <a:rPr lang="en-US" sz="4650" b="1" spc="-139" kern="0" dirty="0">
                <a:solidFill>
                  <a:srgbClr val="EDF2F8"/>
                </a:solidFill>
                <a:latin typeface="Arial" pitchFamily="34" charset="0"/>
                <a:ea typeface="Arial" pitchFamily="34" charset="-122"/>
                <a:cs typeface="Arial" pitchFamily="34" charset="-120"/>
              </a:rPr>
              <a:t>91,504</a:t>
            </a:r>
            <a:endParaRPr lang="en-US" sz="4650" dirty="0"/>
          </a:p>
        </p:txBody>
      </p:sp>
      <p:sp>
        <p:nvSpPr>
          <p:cNvPr id="17" name="Text 15"/>
          <p:cNvSpPr/>
          <p:nvPr/>
        </p:nvSpPr>
        <p:spPr>
          <a:xfrm>
            <a:off x="13620750" y="4498628"/>
            <a:ext cx="3826193"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93A5BB"/>
                </a:solidFill>
                <a:latin typeface="Arial" pitchFamily="34" charset="0"/>
                <a:ea typeface="Arial" pitchFamily="34" charset="-122"/>
                <a:cs typeface="Arial" pitchFamily="34" charset="-120"/>
              </a:rPr>
              <a:t>Units forecast, from 26 May 2024</a:t>
            </a:r>
            <a:endParaRPr lang="en-US" sz="2100" dirty="0"/>
          </a:p>
        </p:txBody>
      </p:sp>
      <p:sp>
        <p:nvSpPr>
          <p:cNvPr id="18" name="Text 16"/>
          <p:cNvSpPr/>
          <p:nvPr/>
        </p:nvSpPr>
        <p:spPr>
          <a:xfrm>
            <a:off x="952500" y="5675858"/>
            <a:ext cx="1802130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93A5BB"/>
                </a:solidFill>
                <a:latin typeface="Arial" pitchFamily="34" charset="0"/>
                <a:ea typeface="Arial" pitchFamily="34" charset="-122"/>
                <a:cs typeface="Arial" pitchFamily="34" charset="-120"/>
              </a:rPr>
              <a:t>FORECAST VOLUME BY HUB — ARIMA RUN, UNITS</a:t>
            </a:r>
            <a:endParaRPr lang="en-US" sz="1800" dirty="0"/>
          </a:p>
        </p:txBody>
      </p:sp>
      <p:sp>
        <p:nvSpPr>
          <p:cNvPr id="19" name="Text 17"/>
          <p:cNvSpPr/>
          <p:nvPr/>
        </p:nvSpPr>
        <p:spPr>
          <a:xfrm>
            <a:off x="952500" y="61830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a:t>
            </a:r>
            <a:endParaRPr lang="en-US" sz="2100" dirty="0"/>
          </a:p>
        </p:txBody>
      </p:sp>
      <p:sp>
        <p:nvSpPr>
          <p:cNvPr id="20" name="Shape 18"/>
          <p:cNvSpPr/>
          <p:nvPr/>
        </p:nvSpPr>
        <p:spPr>
          <a:xfrm>
            <a:off x="2457450" y="6147346"/>
            <a:ext cx="12420600" cy="381000"/>
          </a:xfrm>
          <a:prstGeom prst="rect">
            <a:avLst/>
          </a:prstGeom>
          <a:solidFill>
            <a:srgbClr val="57D2E6">
              <a:alpha val="14000"/>
            </a:srgbClr>
          </a:solidFill>
          <a:ln/>
        </p:spPr>
      </p:sp>
      <p:sp>
        <p:nvSpPr>
          <p:cNvPr id="21" name="Shape 19"/>
          <p:cNvSpPr/>
          <p:nvPr/>
        </p:nvSpPr>
        <p:spPr>
          <a:xfrm>
            <a:off x="2457450" y="6147346"/>
            <a:ext cx="12420600" cy="381000"/>
          </a:xfrm>
          <a:prstGeom prst="rect">
            <a:avLst/>
          </a:prstGeom>
          <a:solidFill>
            <a:srgbClr val="57D2E6"/>
          </a:solidFill>
          <a:ln/>
        </p:spPr>
      </p:sp>
      <p:sp>
        <p:nvSpPr>
          <p:cNvPr id="22" name="Text 20"/>
          <p:cNvSpPr/>
          <p:nvPr/>
        </p:nvSpPr>
        <p:spPr>
          <a:xfrm>
            <a:off x="14925675" y="61830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31,731 · 34.7%</a:t>
            </a:r>
            <a:endParaRPr lang="en-US" sz="2100" dirty="0"/>
          </a:p>
        </p:txBody>
      </p:sp>
      <p:sp>
        <p:nvSpPr>
          <p:cNvPr id="23" name="Text 21"/>
          <p:cNvSpPr/>
          <p:nvPr/>
        </p:nvSpPr>
        <p:spPr>
          <a:xfrm>
            <a:off x="952500" y="66783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MAA</a:t>
            </a:r>
            <a:endParaRPr lang="en-US" sz="2100" dirty="0"/>
          </a:p>
        </p:txBody>
      </p:sp>
      <p:sp>
        <p:nvSpPr>
          <p:cNvPr id="24" name="Shape 22"/>
          <p:cNvSpPr/>
          <p:nvPr/>
        </p:nvSpPr>
        <p:spPr>
          <a:xfrm>
            <a:off x="2457450" y="6642646"/>
            <a:ext cx="12420600" cy="381000"/>
          </a:xfrm>
          <a:prstGeom prst="rect">
            <a:avLst/>
          </a:prstGeom>
          <a:solidFill>
            <a:srgbClr val="57D2E6">
              <a:alpha val="14000"/>
            </a:srgbClr>
          </a:solidFill>
          <a:ln/>
        </p:spPr>
      </p:sp>
      <p:sp>
        <p:nvSpPr>
          <p:cNvPr id="25" name="Shape 23"/>
          <p:cNvSpPr/>
          <p:nvPr/>
        </p:nvSpPr>
        <p:spPr>
          <a:xfrm>
            <a:off x="2457450" y="6642646"/>
            <a:ext cx="10010998" cy="381000"/>
          </a:xfrm>
          <a:prstGeom prst="rect">
            <a:avLst/>
          </a:prstGeom>
          <a:solidFill>
            <a:srgbClr val="57D2E6"/>
          </a:solidFill>
          <a:ln/>
        </p:spPr>
      </p:sp>
      <p:sp>
        <p:nvSpPr>
          <p:cNvPr id="26" name="Text 24"/>
          <p:cNvSpPr/>
          <p:nvPr/>
        </p:nvSpPr>
        <p:spPr>
          <a:xfrm>
            <a:off x="14925675" y="66783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25,578 · 28.0%</a:t>
            </a:r>
            <a:endParaRPr lang="en-US" sz="2100" dirty="0"/>
          </a:p>
        </p:txBody>
      </p:sp>
      <p:sp>
        <p:nvSpPr>
          <p:cNvPr id="27" name="Text 25"/>
          <p:cNvSpPr/>
          <p:nvPr/>
        </p:nvSpPr>
        <p:spPr>
          <a:xfrm>
            <a:off x="952500" y="71736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SBD1</a:t>
            </a:r>
            <a:endParaRPr lang="en-US" sz="2100" dirty="0"/>
          </a:p>
        </p:txBody>
      </p:sp>
      <p:sp>
        <p:nvSpPr>
          <p:cNvPr id="28" name="Shape 26"/>
          <p:cNvSpPr/>
          <p:nvPr/>
        </p:nvSpPr>
        <p:spPr>
          <a:xfrm>
            <a:off x="2457450" y="7137946"/>
            <a:ext cx="12420600" cy="381000"/>
          </a:xfrm>
          <a:prstGeom prst="rect">
            <a:avLst/>
          </a:prstGeom>
          <a:solidFill>
            <a:srgbClr val="57D2E6">
              <a:alpha val="14000"/>
            </a:srgbClr>
          </a:solidFill>
          <a:ln/>
        </p:spPr>
      </p:sp>
      <p:sp>
        <p:nvSpPr>
          <p:cNvPr id="29" name="Shape 27"/>
          <p:cNvSpPr/>
          <p:nvPr/>
        </p:nvSpPr>
        <p:spPr>
          <a:xfrm>
            <a:off x="2457450" y="7137946"/>
            <a:ext cx="6943055" cy="381000"/>
          </a:xfrm>
          <a:prstGeom prst="rect">
            <a:avLst/>
          </a:prstGeom>
          <a:solidFill>
            <a:srgbClr val="2E8FA0"/>
          </a:solidFill>
          <a:ln/>
        </p:spPr>
      </p:sp>
      <p:sp>
        <p:nvSpPr>
          <p:cNvPr id="30" name="Text 28"/>
          <p:cNvSpPr/>
          <p:nvPr/>
        </p:nvSpPr>
        <p:spPr>
          <a:xfrm>
            <a:off x="14925675" y="71736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17,730 · 19.4%</a:t>
            </a:r>
            <a:endParaRPr lang="en-US" sz="2100" dirty="0"/>
          </a:p>
        </p:txBody>
      </p:sp>
      <p:sp>
        <p:nvSpPr>
          <p:cNvPr id="31" name="Text 29"/>
          <p:cNvSpPr/>
          <p:nvPr/>
        </p:nvSpPr>
        <p:spPr>
          <a:xfrm>
            <a:off x="952500" y="76689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BLR</a:t>
            </a:r>
            <a:endParaRPr lang="en-US" sz="2100" dirty="0"/>
          </a:p>
        </p:txBody>
      </p:sp>
      <p:sp>
        <p:nvSpPr>
          <p:cNvPr id="32" name="Shape 30"/>
          <p:cNvSpPr/>
          <p:nvPr/>
        </p:nvSpPr>
        <p:spPr>
          <a:xfrm>
            <a:off x="2457450" y="7633246"/>
            <a:ext cx="12420600" cy="381000"/>
          </a:xfrm>
          <a:prstGeom prst="rect">
            <a:avLst/>
          </a:prstGeom>
          <a:solidFill>
            <a:srgbClr val="57D2E6">
              <a:alpha val="14000"/>
            </a:srgbClr>
          </a:solidFill>
          <a:ln/>
        </p:spPr>
      </p:sp>
      <p:sp>
        <p:nvSpPr>
          <p:cNvPr id="33" name="Shape 31"/>
          <p:cNvSpPr/>
          <p:nvPr/>
        </p:nvSpPr>
        <p:spPr>
          <a:xfrm>
            <a:off x="2457450" y="7633246"/>
            <a:ext cx="3291408" cy="381000"/>
          </a:xfrm>
          <a:prstGeom prst="rect">
            <a:avLst/>
          </a:prstGeom>
          <a:solidFill>
            <a:srgbClr val="2E8FA0"/>
          </a:solidFill>
          <a:ln/>
        </p:spPr>
      </p:sp>
      <p:sp>
        <p:nvSpPr>
          <p:cNvPr id="34" name="Text 32"/>
          <p:cNvSpPr/>
          <p:nvPr/>
        </p:nvSpPr>
        <p:spPr>
          <a:xfrm>
            <a:off x="14925675" y="76689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8,398 · 9.2%</a:t>
            </a:r>
            <a:endParaRPr lang="en-US" sz="2100" dirty="0"/>
          </a:p>
        </p:txBody>
      </p:sp>
      <p:sp>
        <p:nvSpPr>
          <p:cNvPr id="35" name="Text 33"/>
          <p:cNvSpPr/>
          <p:nvPr/>
        </p:nvSpPr>
        <p:spPr>
          <a:xfrm>
            <a:off x="952500" y="8164264"/>
            <a:ext cx="13620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COK</a:t>
            </a:r>
            <a:endParaRPr lang="en-US" sz="2100" dirty="0"/>
          </a:p>
        </p:txBody>
      </p:sp>
      <p:sp>
        <p:nvSpPr>
          <p:cNvPr id="36" name="Shape 34"/>
          <p:cNvSpPr/>
          <p:nvPr/>
        </p:nvSpPr>
        <p:spPr>
          <a:xfrm>
            <a:off x="2457450" y="8128546"/>
            <a:ext cx="12420600" cy="381000"/>
          </a:xfrm>
          <a:prstGeom prst="rect">
            <a:avLst/>
          </a:prstGeom>
          <a:solidFill>
            <a:srgbClr val="57D2E6">
              <a:alpha val="14000"/>
            </a:srgbClr>
          </a:solidFill>
          <a:ln/>
        </p:spPr>
      </p:sp>
      <p:sp>
        <p:nvSpPr>
          <p:cNvPr id="37" name="Shape 35"/>
          <p:cNvSpPr/>
          <p:nvPr/>
        </p:nvSpPr>
        <p:spPr>
          <a:xfrm>
            <a:off x="2457450" y="8128546"/>
            <a:ext cx="3154784" cy="381000"/>
          </a:xfrm>
          <a:prstGeom prst="rect">
            <a:avLst/>
          </a:prstGeom>
          <a:solidFill>
            <a:srgbClr val="2E8FA0"/>
          </a:solidFill>
          <a:ln/>
        </p:spPr>
      </p:sp>
      <p:sp>
        <p:nvSpPr>
          <p:cNvPr id="38" name="Text 36"/>
          <p:cNvSpPr/>
          <p:nvPr/>
        </p:nvSpPr>
        <p:spPr>
          <a:xfrm>
            <a:off x="14925675" y="8164264"/>
            <a:ext cx="2409825" cy="347663"/>
          </a:xfrm>
          <a:prstGeom prst="rect">
            <a:avLst/>
          </a:prstGeom>
          <a:noFill/>
          <a:ln/>
        </p:spPr>
        <p:txBody>
          <a:bodyPr wrap="square" lIns="25400" tIns="25400" rIns="25400" bIns="25400" rtlCol="0" anchor="t">
            <a:normAutofit/>
          </a:bodyPr>
          <a:lstStyle/>
          <a:p>
            <a:pPr algn="r" indent="0" marL="0">
              <a:buNone/>
            </a:pPr>
            <a:r>
              <a:rPr lang="en-US" sz="2100" b="1" dirty="0">
                <a:solidFill>
                  <a:srgbClr val="EDF2F8"/>
                </a:solidFill>
                <a:latin typeface="Arial" pitchFamily="34" charset="0"/>
                <a:ea typeface="Arial" pitchFamily="34" charset="-122"/>
                <a:cs typeface="Arial" pitchFamily="34" charset="-120"/>
              </a:rPr>
              <a:t>8,067 · 8.8%</a:t>
            </a:r>
            <a:endParaRPr lang="en-US" sz="2100" dirty="0"/>
          </a:p>
        </p:txBody>
      </p:sp>
      <p:sp>
        <p:nvSpPr>
          <p:cNvPr id="39" name="Text 37"/>
          <p:cNvSpPr/>
          <p:nvPr/>
        </p:nvSpPr>
        <p:spPr>
          <a:xfrm>
            <a:off x="952500" y="8719096"/>
            <a:ext cx="12753975" cy="83820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Secunderabad and Chennai together absorb 63% of forecast volume, which is where allocation and safety-stock changes will pay back first.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08 — IMPACT</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Cleaning the pipeline lifts completeness to 98.5% and cuts training time by 18%</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9124950" y="3641378"/>
            <a:ext cx="19050" cy="5883622"/>
          </a:xfrm>
          <a:prstGeom prst="rect">
            <a:avLst/>
          </a:prstGeom>
          <a:solidFill>
            <a:srgbClr val="E2ECF7">
              <a:alpha val="22000"/>
            </a:srgbClr>
          </a:solidFill>
          <a:ln/>
        </p:spPr>
      </p:sp>
      <p:sp>
        <p:nvSpPr>
          <p:cNvPr id="7" name="Text 5"/>
          <p:cNvSpPr/>
          <p:nvPr/>
        </p:nvSpPr>
        <p:spPr>
          <a:xfrm>
            <a:off x="952500" y="4060478"/>
            <a:ext cx="831913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HYGIENE ACTIONS</a:t>
            </a:r>
            <a:endParaRPr lang="en-US" sz="1800" dirty="0"/>
          </a:p>
        </p:txBody>
      </p:sp>
      <p:sp>
        <p:nvSpPr>
          <p:cNvPr id="8" name="Text 6"/>
          <p:cNvSpPr/>
          <p:nvPr/>
        </p:nvSpPr>
        <p:spPr>
          <a:xfrm>
            <a:off x="952500" y="4570065"/>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Prune 4,463 redundant duplicate transaction rows</a:t>
            </a:r>
            <a:endParaRPr lang="en-US" sz="2100" dirty="0"/>
          </a:p>
        </p:txBody>
      </p:sp>
      <p:sp>
        <p:nvSpPr>
          <p:cNvPr id="9" name="Text 7"/>
          <p:cNvSpPr/>
          <p:nvPr/>
        </p:nvSpPr>
        <p:spPr>
          <a:xfrm>
            <a:off x="952500" y="5191051"/>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Impute or isolate 94,435 null fields</a:t>
            </a:r>
            <a:endParaRPr lang="en-US" sz="2100" dirty="0"/>
          </a:p>
        </p:txBody>
      </p:sp>
      <p:sp>
        <p:nvSpPr>
          <p:cNvPr id="10" name="Text 8"/>
          <p:cNvSpPr/>
          <p:nvPr/>
        </p:nvSpPr>
        <p:spPr>
          <a:xfrm>
            <a:off x="952500" y="5812036"/>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Normalize schema across 23 attributes</a:t>
            </a:r>
            <a:endParaRPr lang="en-US" sz="2100" dirty="0"/>
          </a:p>
        </p:txBody>
      </p:sp>
      <p:sp>
        <p:nvSpPr>
          <p:cNvPr id="11" name="Text 9"/>
          <p:cNvSpPr/>
          <p:nvPr/>
        </p:nvSpPr>
        <p:spPr>
          <a:xfrm>
            <a:off x="952500" y="6433021"/>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Enforce an ISO date standard on Billing Date</a:t>
            </a:r>
            <a:endParaRPr lang="en-US" sz="2100" dirty="0"/>
          </a:p>
        </p:txBody>
      </p:sp>
      <p:sp>
        <p:nvSpPr>
          <p:cNvPr id="12" name="Text 10"/>
          <p:cNvSpPr/>
          <p:nvPr/>
        </p:nvSpPr>
        <p:spPr>
          <a:xfrm>
            <a:off x="952500" y="7054007"/>
            <a:ext cx="831913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EDF2F8"/>
                </a:solidFill>
                <a:latin typeface="Arial" pitchFamily="34" charset="0"/>
                <a:ea typeface="Arial" pitchFamily="34" charset="-122"/>
                <a:cs typeface="Arial" pitchFamily="34" charset="-120"/>
              </a:rPr>
              <a:t>Standardize casing on Segment and Material</a:t>
            </a:r>
            <a:endParaRPr lang="en-US" sz="2100" dirty="0"/>
          </a:p>
        </p:txBody>
      </p:sp>
      <p:sp>
        <p:nvSpPr>
          <p:cNvPr id="13" name="Text 11"/>
          <p:cNvSpPr/>
          <p:nvPr/>
        </p:nvSpPr>
        <p:spPr>
          <a:xfrm>
            <a:off x="9753600" y="4060478"/>
            <a:ext cx="834009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POST-CLEANING PROJECTION</a:t>
            </a:r>
            <a:endParaRPr lang="en-US" sz="1800" dirty="0"/>
          </a:p>
        </p:txBody>
      </p:sp>
      <p:sp>
        <p:nvSpPr>
          <p:cNvPr id="14" name="Shape 12"/>
          <p:cNvSpPr/>
          <p:nvPr/>
        </p:nvSpPr>
        <p:spPr>
          <a:xfrm>
            <a:off x="9753600" y="5265390"/>
            <a:ext cx="7581900" cy="19050"/>
          </a:xfrm>
          <a:prstGeom prst="rect">
            <a:avLst/>
          </a:prstGeom>
          <a:solidFill>
            <a:srgbClr val="E2ECF7">
              <a:alpha val="22000"/>
            </a:srgbClr>
          </a:solidFill>
          <a:ln/>
        </p:spPr>
      </p:sp>
      <p:sp>
        <p:nvSpPr>
          <p:cNvPr id="15" name="Text 13"/>
          <p:cNvSpPr/>
          <p:nvPr/>
        </p:nvSpPr>
        <p:spPr>
          <a:xfrm>
            <a:off x="9753600" y="4674840"/>
            <a:ext cx="2593427"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Post-clean fleet size</a:t>
            </a:r>
            <a:endParaRPr lang="en-US" sz="2100" dirty="0"/>
          </a:p>
        </p:txBody>
      </p:sp>
      <p:sp>
        <p:nvSpPr>
          <p:cNvPr id="16" name="Text 14"/>
          <p:cNvSpPr/>
          <p:nvPr/>
        </p:nvSpPr>
        <p:spPr>
          <a:xfrm>
            <a:off x="15571217" y="4608165"/>
            <a:ext cx="1940711"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77,571 rows</a:t>
            </a:r>
            <a:endParaRPr lang="en-US" sz="2550" dirty="0"/>
          </a:p>
        </p:txBody>
      </p:sp>
      <p:sp>
        <p:nvSpPr>
          <p:cNvPr id="17" name="Shape 15"/>
          <p:cNvSpPr/>
          <p:nvPr/>
        </p:nvSpPr>
        <p:spPr>
          <a:xfrm>
            <a:off x="9753600" y="6227415"/>
            <a:ext cx="7581900" cy="19050"/>
          </a:xfrm>
          <a:prstGeom prst="rect">
            <a:avLst/>
          </a:prstGeom>
          <a:solidFill>
            <a:srgbClr val="E2ECF7">
              <a:alpha val="22000"/>
            </a:srgbClr>
          </a:solidFill>
          <a:ln/>
        </p:spPr>
      </p:sp>
      <p:sp>
        <p:nvSpPr>
          <p:cNvPr id="18" name="Text 16"/>
          <p:cNvSpPr/>
          <p:nvPr/>
        </p:nvSpPr>
        <p:spPr>
          <a:xfrm>
            <a:off x="9753600" y="5636865"/>
            <a:ext cx="335501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Target data completeness</a:t>
            </a:r>
            <a:endParaRPr lang="en-US" sz="2100" dirty="0"/>
          </a:p>
        </p:txBody>
      </p:sp>
      <p:sp>
        <p:nvSpPr>
          <p:cNvPr id="19" name="Text 17"/>
          <p:cNvSpPr/>
          <p:nvPr/>
        </p:nvSpPr>
        <p:spPr>
          <a:xfrm>
            <a:off x="16237074" y="5570190"/>
            <a:ext cx="1174626"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98.49%</a:t>
            </a:r>
            <a:endParaRPr lang="en-US" sz="2550" dirty="0"/>
          </a:p>
        </p:txBody>
      </p:sp>
      <p:sp>
        <p:nvSpPr>
          <p:cNvPr id="20" name="Shape 18"/>
          <p:cNvSpPr/>
          <p:nvPr/>
        </p:nvSpPr>
        <p:spPr>
          <a:xfrm>
            <a:off x="9753600" y="7189440"/>
            <a:ext cx="7581900" cy="19050"/>
          </a:xfrm>
          <a:prstGeom prst="rect">
            <a:avLst/>
          </a:prstGeom>
          <a:solidFill>
            <a:srgbClr val="E2ECF7">
              <a:alpha val="22000"/>
            </a:srgbClr>
          </a:solidFill>
          <a:ln/>
        </p:spPr>
      </p:sp>
      <p:sp>
        <p:nvSpPr>
          <p:cNvPr id="21" name="Text 19"/>
          <p:cNvSpPr/>
          <p:nvPr/>
        </p:nvSpPr>
        <p:spPr>
          <a:xfrm>
            <a:off x="9753600" y="6598890"/>
            <a:ext cx="2935583"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Storage efficiency gain</a:t>
            </a:r>
            <a:endParaRPr lang="en-US" sz="2100" dirty="0"/>
          </a:p>
        </p:txBody>
      </p:sp>
      <p:sp>
        <p:nvSpPr>
          <p:cNvPr id="22" name="Text 20"/>
          <p:cNvSpPr/>
          <p:nvPr/>
        </p:nvSpPr>
        <p:spPr>
          <a:xfrm>
            <a:off x="16228070" y="6532215"/>
            <a:ext cx="118363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+5.44%</a:t>
            </a:r>
            <a:endParaRPr lang="en-US" sz="2550" dirty="0"/>
          </a:p>
        </p:txBody>
      </p:sp>
      <p:sp>
        <p:nvSpPr>
          <p:cNvPr id="23" name="Text 21"/>
          <p:cNvSpPr/>
          <p:nvPr/>
        </p:nvSpPr>
        <p:spPr>
          <a:xfrm>
            <a:off x="9753600" y="7560915"/>
            <a:ext cx="3588953"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Model training convergence</a:t>
            </a:r>
            <a:endParaRPr lang="en-US" sz="2100" dirty="0"/>
          </a:p>
        </p:txBody>
      </p:sp>
      <p:sp>
        <p:nvSpPr>
          <p:cNvPr id="24" name="Text 22"/>
          <p:cNvSpPr/>
          <p:nvPr/>
        </p:nvSpPr>
        <p:spPr>
          <a:xfrm>
            <a:off x="15598229" y="7494240"/>
            <a:ext cx="1910998"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~18% faster</a:t>
            </a:r>
            <a:endParaRPr lang="en-US" sz="2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09 — DELIVERY</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The analysis ships as a seven-view executive dashboard, not a static report</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952500" y="4874865"/>
            <a:ext cx="7810500" cy="19050"/>
          </a:xfrm>
          <a:prstGeom prst="rect">
            <a:avLst/>
          </a:prstGeom>
          <a:solidFill>
            <a:srgbClr val="E2ECF7">
              <a:alpha val="22000"/>
            </a:srgbClr>
          </a:solidFill>
          <a:ln/>
        </p:spPr>
      </p:sp>
      <p:sp>
        <p:nvSpPr>
          <p:cNvPr id="7" name="Text 5"/>
          <p:cNvSpPr/>
          <p:nvPr/>
        </p:nvSpPr>
        <p:spPr>
          <a:xfrm>
            <a:off x="952500" y="3889028"/>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Executive Cockpit</a:t>
            </a:r>
            <a:endParaRPr lang="en-US" sz="2550" dirty="0"/>
          </a:p>
        </p:txBody>
      </p:sp>
      <p:sp>
        <p:nvSpPr>
          <p:cNvPr id="8" name="Text 6"/>
          <p:cNvSpPr/>
          <p:nvPr/>
        </p:nvSpPr>
        <p:spPr>
          <a:xfrm>
            <a:off x="952500" y="4336703"/>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Health, volume and distribution telemetry at a glance</a:t>
            </a:r>
            <a:endParaRPr lang="en-US" sz="2100" dirty="0"/>
          </a:p>
        </p:txBody>
      </p:sp>
      <p:sp>
        <p:nvSpPr>
          <p:cNvPr id="9" name="Shape 7"/>
          <p:cNvSpPr/>
          <p:nvPr/>
        </p:nvSpPr>
        <p:spPr>
          <a:xfrm>
            <a:off x="9525000" y="4874865"/>
            <a:ext cx="7810500" cy="19050"/>
          </a:xfrm>
          <a:prstGeom prst="rect">
            <a:avLst/>
          </a:prstGeom>
          <a:solidFill>
            <a:srgbClr val="E2ECF7">
              <a:alpha val="22000"/>
            </a:srgbClr>
          </a:solidFill>
          <a:ln/>
        </p:spPr>
      </p:sp>
      <p:sp>
        <p:nvSpPr>
          <p:cNvPr id="10" name="Text 8"/>
          <p:cNvSpPr/>
          <p:nvPr/>
        </p:nvSpPr>
        <p:spPr>
          <a:xfrm>
            <a:off x="9525000" y="3889028"/>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AI Demand Forecasting</a:t>
            </a:r>
            <a:endParaRPr lang="en-US" sz="2550" dirty="0"/>
          </a:p>
        </p:txBody>
      </p:sp>
      <p:sp>
        <p:nvSpPr>
          <p:cNvPr id="11" name="Text 9"/>
          <p:cNvSpPr/>
          <p:nvPr/>
        </p:nvSpPr>
        <p:spPr>
          <a:xfrm>
            <a:off x="9525000" y="4336703"/>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Forward demand by SKU and branch, 4 to 52 weeks</a:t>
            </a:r>
            <a:endParaRPr lang="en-US" sz="2100" dirty="0"/>
          </a:p>
        </p:txBody>
      </p:sp>
      <p:sp>
        <p:nvSpPr>
          <p:cNvPr id="12" name="Shape 10"/>
          <p:cNvSpPr/>
          <p:nvPr/>
        </p:nvSpPr>
        <p:spPr>
          <a:xfrm>
            <a:off x="952500" y="6127403"/>
            <a:ext cx="7810500" cy="19050"/>
          </a:xfrm>
          <a:prstGeom prst="rect">
            <a:avLst/>
          </a:prstGeom>
          <a:solidFill>
            <a:srgbClr val="E2ECF7">
              <a:alpha val="22000"/>
            </a:srgbClr>
          </a:solidFill>
          <a:ln/>
        </p:spPr>
      </p:sp>
      <p:sp>
        <p:nvSpPr>
          <p:cNvPr id="13" name="Text 11"/>
          <p:cNvSpPr/>
          <p:nvPr/>
        </p:nvSpPr>
        <p:spPr>
          <a:xfrm>
            <a:off x="952500" y="5141565"/>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Data Quality Radar</a:t>
            </a:r>
            <a:endParaRPr lang="en-US" sz="2550" dirty="0"/>
          </a:p>
        </p:txBody>
      </p:sp>
      <p:sp>
        <p:nvSpPr>
          <p:cNvPr id="14" name="Text 12"/>
          <p:cNvSpPr/>
          <p:nvPr/>
        </p:nvSpPr>
        <p:spPr>
          <a:xfrm>
            <a:off x="952500" y="5589240"/>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Completeness, null variance and schema diagnostics</a:t>
            </a:r>
            <a:endParaRPr lang="en-US" sz="2100" dirty="0"/>
          </a:p>
        </p:txBody>
      </p:sp>
      <p:sp>
        <p:nvSpPr>
          <p:cNvPr id="15" name="Shape 13"/>
          <p:cNvSpPr/>
          <p:nvPr/>
        </p:nvSpPr>
        <p:spPr>
          <a:xfrm>
            <a:off x="9525000" y="6127403"/>
            <a:ext cx="7810500" cy="19050"/>
          </a:xfrm>
          <a:prstGeom prst="rect">
            <a:avLst/>
          </a:prstGeom>
          <a:solidFill>
            <a:srgbClr val="E2ECF7">
              <a:alpha val="22000"/>
            </a:srgbClr>
          </a:solidFill>
          <a:ln/>
        </p:spPr>
      </p:sp>
      <p:sp>
        <p:nvSpPr>
          <p:cNvPr id="16" name="Text 14"/>
          <p:cNvSpPr/>
          <p:nvPr/>
        </p:nvSpPr>
        <p:spPr>
          <a:xfrm>
            <a:off x="9525000" y="5141565"/>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Data Cleaning Studio</a:t>
            </a:r>
            <a:endParaRPr lang="en-US" sz="2550" dirty="0"/>
          </a:p>
        </p:txBody>
      </p:sp>
      <p:sp>
        <p:nvSpPr>
          <p:cNvPr id="17" name="Text 15"/>
          <p:cNvSpPr/>
          <p:nvPr/>
        </p:nvSpPr>
        <p:spPr>
          <a:xfrm>
            <a:off x="9525000" y="5589240"/>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Deduplication, imputation and schema standardization</a:t>
            </a:r>
            <a:endParaRPr lang="en-US" sz="2100" dirty="0"/>
          </a:p>
        </p:txBody>
      </p:sp>
      <p:sp>
        <p:nvSpPr>
          <p:cNvPr id="18" name="Shape 16"/>
          <p:cNvSpPr/>
          <p:nvPr/>
        </p:nvSpPr>
        <p:spPr>
          <a:xfrm>
            <a:off x="952500" y="7379940"/>
            <a:ext cx="7810500" cy="19050"/>
          </a:xfrm>
          <a:prstGeom prst="rect">
            <a:avLst/>
          </a:prstGeom>
          <a:solidFill>
            <a:srgbClr val="E2ECF7">
              <a:alpha val="22000"/>
            </a:srgbClr>
          </a:solidFill>
          <a:ln/>
        </p:spPr>
      </p:sp>
      <p:sp>
        <p:nvSpPr>
          <p:cNvPr id="19" name="Text 17"/>
          <p:cNvSpPr/>
          <p:nvPr/>
        </p:nvSpPr>
        <p:spPr>
          <a:xfrm>
            <a:off x="952500" y="6394103"/>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Statistical Deep-Dive</a:t>
            </a:r>
            <a:endParaRPr lang="en-US" sz="2550" dirty="0"/>
          </a:p>
        </p:txBody>
      </p:sp>
      <p:sp>
        <p:nvSpPr>
          <p:cNvPr id="20" name="Text 18"/>
          <p:cNvSpPr/>
          <p:nvPr/>
        </p:nvSpPr>
        <p:spPr>
          <a:xfrm>
            <a:off x="952500" y="6841778"/>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Distributions, correlation matrices and variance spread</a:t>
            </a:r>
            <a:endParaRPr lang="en-US" sz="2100" dirty="0"/>
          </a:p>
        </p:txBody>
      </p:sp>
      <p:sp>
        <p:nvSpPr>
          <p:cNvPr id="21" name="Shape 19"/>
          <p:cNvSpPr/>
          <p:nvPr/>
        </p:nvSpPr>
        <p:spPr>
          <a:xfrm>
            <a:off x="9525000" y="7379940"/>
            <a:ext cx="7810500" cy="19050"/>
          </a:xfrm>
          <a:prstGeom prst="rect">
            <a:avLst/>
          </a:prstGeom>
          <a:solidFill>
            <a:srgbClr val="E2ECF7">
              <a:alpha val="22000"/>
            </a:srgbClr>
          </a:solidFill>
          <a:ln/>
        </p:spPr>
      </p:sp>
      <p:sp>
        <p:nvSpPr>
          <p:cNvPr id="22" name="Text 20"/>
          <p:cNvSpPr/>
          <p:nvPr/>
        </p:nvSpPr>
        <p:spPr>
          <a:xfrm>
            <a:off x="9525000" y="6394103"/>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Intelligence Explorer</a:t>
            </a:r>
            <a:endParaRPr lang="en-US" sz="2550" dirty="0"/>
          </a:p>
        </p:txBody>
      </p:sp>
      <p:sp>
        <p:nvSpPr>
          <p:cNvPr id="23" name="Text 21"/>
          <p:cNvSpPr/>
          <p:nvPr/>
        </p:nvSpPr>
        <p:spPr>
          <a:xfrm>
            <a:off x="9525000" y="6841778"/>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Column slice-and-dice, attribute profiling and search</a:t>
            </a:r>
            <a:endParaRPr lang="en-US" sz="2100" dirty="0"/>
          </a:p>
        </p:txBody>
      </p:sp>
      <p:sp>
        <p:nvSpPr>
          <p:cNvPr id="24" name="Shape 22"/>
          <p:cNvSpPr/>
          <p:nvPr/>
        </p:nvSpPr>
        <p:spPr>
          <a:xfrm>
            <a:off x="952500" y="8632478"/>
            <a:ext cx="7810500" cy="19050"/>
          </a:xfrm>
          <a:prstGeom prst="rect">
            <a:avLst/>
          </a:prstGeom>
          <a:solidFill>
            <a:srgbClr val="E2ECF7">
              <a:alpha val="22000"/>
            </a:srgbClr>
          </a:solidFill>
          <a:ln/>
        </p:spPr>
      </p:sp>
      <p:sp>
        <p:nvSpPr>
          <p:cNvPr id="25" name="Text 23"/>
          <p:cNvSpPr/>
          <p:nvPr/>
        </p:nvSpPr>
        <p:spPr>
          <a:xfrm>
            <a:off x="952500" y="7646640"/>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C-Suite Reports</a:t>
            </a:r>
            <a:endParaRPr lang="en-US" sz="2550" dirty="0"/>
          </a:p>
        </p:txBody>
      </p:sp>
      <p:sp>
        <p:nvSpPr>
          <p:cNvPr id="26" name="Text 24"/>
          <p:cNvSpPr/>
          <p:nvPr/>
        </p:nvSpPr>
        <p:spPr>
          <a:xfrm>
            <a:off x="952500" y="8094315"/>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Automated PDF briefings and multi-tab Excel exports</a:t>
            </a:r>
            <a:endParaRPr lang="en-US" sz="2100" dirty="0"/>
          </a:p>
        </p:txBody>
      </p:sp>
      <p:sp>
        <p:nvSpPr>
          <p:cNvPr id="27" name="Shape 25"/>
          <p:cNvSpPr/>
          <p:nvPr/>
        </p:nvSpPr>
        <p:spPr>
          <a:xfrm>
            <a:off x="9525000" y="8632478"/>
            <a:ext cx="7810500" cy="19050"/>
          </a:xfrm>
          <a:prstGeom prst="rect">
            <a:avLst/>
          </a:prstGeom>
          <a:solidFill>
            <a:srgbClr val="E2ECF7">
              <a:alpha val="22000"/>
            </a:srgbClr>
          </a:solidFill>
          <a:ln/>
        </p:spPr>
      </p:sp>
      <p:sp>
        <p:nvSpPr>
          <p:cNvPr id="28" name="Text 26"/>
          <p:cNvSpPr/>
          <p:nvPr/>
        </p:nvSpPr>
        <p:spPr>
          <a:xfrm>
            <a:off x="9525000" y="7646640"/>
            <a:ext cx="85915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Dark and light themes</a:t>
            </a:r>
            <a:endParaRPr lang="en-US" sz="2550" dirty="0"/>
          </a:p>
        </p:txBody>
      </p:sp>
      <p:sp>
        <p:nvSpPr>
          <p:cNvPr id="29" name="Text 27"/>
          <p:cNvSpPr/>
          <p:nvPr/>
        </p:nvSpPr>
        <p:spPr>
          <a:xfrm>
            <a:off x="9525000" y="8094315"/>
            <a:ext cx="8591550"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Built for boardroom projection and desk review alike</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10 — NEXT</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Four moves take the dashboard from capstone artefact to planning tool</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952500" y="3622328"/>
            <a:ext cx="16383000" cy="19050"/>
          </a:xfrm>
          <a:prstGeom prst="rect">
            <a:avLst/>
          </a:prstGeom>
          <a:solidFill>
            <a:srgbClr val="E2ECF7">
              <a:alpha val="22000"/>
            </a:srgbClr>
          </a:solidFill>
          <a:ln/>
        </p:spPr>
      </p:sp>
      <p:sp>
        <p:nvSpPr>
          <p:cNvPr id="6" name="Shape 4"/>
          <p:cNvSpPr/>
          <p:nvPr/>
        </p:nvSpPr>
        <p:spPr>
          <a:xfrm>
            <a:off x="952500" y="4584353"/>
            <a:ext cx="16383000" cy="19050"/>
          </a:xfrm>
          <a:prstGeom prst="rect">
            <a:avLst/>
          </a:prstGeom>
          <a:solidFill>
            <a:srgbClr val="E2ECF7">
              <a:alpha val="22000"/>
            </a:srgbClr>
          </a:solidFill>
          <a:ln/>
        </p:spPr>
      </p:sp>
      <p:sp>
        <p:nvSpPr>
          <p:cNvPr id="7" name="Text 5"/>
          <p:cNvSpPr/>
          <p:nvPr/>
        </p:nvSpPr>
        <p:spPr>
          <a:xfrm>
            <a:off x="952500" y="3927128"/>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01</a:t>
            </a:r>
            <a:endParaRPr lang="en-US" sz="2550" dirty="0"/>
          </a:p>
        </p:txBody>
      </p:sp>
      <p:sp>
        <p:nvSpPr>
          <p:cNvPr id="8" name="Text 6"/>
          <p:cNvSpPr/>
          <p:nvPr/>
        </p:nvSpPr>
        <p:spPr>
          <a:xfrm>
            <a:off x="2057400" y="3941415"/>
            <a:ext cx="13535047"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Run the hygiene pipeline in production so every refresh lands at 98.5% completeness</a:t>
            </a:r>
            <a:endParaRPr lang="en-US" sz="2550" dirty="0"/>
          </a:p>
        </p:txBody>
      </p:sp>
      <p:sp>
        <p:nvSpPr>
          <p:cNvPr id="9" name="Shape 7"/>
          <p:cNvSpPr/>
          <p:nvPr/>
        </p:nvSpPr>
        <p:spPr>
          <a:xfrm>
            <a:off x="952500" y="5546378"/>
            <a:ext cx="16383000" cy="19050"/>
          </a:xfrm>
          <a:prstGeom prst="rect">
            <a:avLst/>
          </a:prstGeom>
          <a:solidFill>
            <a:srgbClr val="E2ECF7">
              <a:alpha val="22000"/>
            </a:srgbClr>
          </a:solidFill>
          <a:ln/>
        </p:spPr>
      </p:sp>
      <p:sp>
        <p:nvSpPr>
          <p:cNvPr id="10" name="Text 8"/>
          <p:cNvSpPr/>
          <p:nvPr/>
        </p:nvSpPr>
        <p:spPr>
          <a:xfrm>
            <a:off x="952500" y="4889153"/>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02</a:t>
            </a:r>
            <a:endParaRPr lang="en-US" sz="2550" dirty="0"/>
          </a:p>
        </p:txBody>
      </p:sp>
      <p:sp>
        <p:nvSpPr>
          <p:cNvPr id="11" name="Text 9"/>
          <p:cNvSpPr/>
          <p:nvPr/>
        </p:nvSpPr>
        <p:spPr>
          <a:xfrm>
            <a:off x="2057400" y="4903440"/>
            <a:ext cx="11812890"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Close the Q1 FY24-25 gap at source before extending the forecast window</a:t>
            </a:r>
            <a:endParaRPr lang="en-US" sz="2550" dirty="0"/>
          </a:p>
        </p:txBody>
      </p:sp>
      <p:sp>
        <p:nvSpPr>
          <p:cNvPr id="12" name="Shape 10"/>
          <p:cNvSpPr/>
          <p:nvPr/>
        </p:nvSpPr>
        <p:spPr>
          <a:xfrm>
            <a:off x="952500" y="6508403"/>
            <a:ext cx="16383000" cy="19050"/>
          </a:xfrm>
          <a:prstGeom prst="rect">
            <a:avLst/>
          </a:prstGeom>
          <a:solidFill>
            <a:srgbClr val="E2ECF7">
              <a:alpha val="22000"/>
            </a:srgbClr>
          </a:solidFill>
          <a:ln/>
        </p:spPr>
      </p:sp>
      <p:sp>
        <p:nvSpPr>
          <p:cNvPr id="13" name="Text 11"/>
          <p:cNvSpPr/>
          <p:nvPr/>
        </p:nvSpPr>
        <p:spPr>
          <a:xfrm>
            <a:off x="952500" y="5851178"/>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03</a:t>
            </a:r>
            <a:endParaRPr lang="en-US" sz="2550" dirty="0"/>
          </a:p>
        </p:txBody>
      </p:sp>
      <p:sp>
        <p:nvSpPr>
          <p:cNvPr id="14" name="Text 12"/>
          <p:cNvSpPr/>
          <p:nvPr/>
        </p:nvSpPr>
        <p:spPr>
          <a:xfrm>
            <a:off x="2057400" y="5865465"/>
            <a:ext cx="11406805"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Extend coverage from 15 SKUs to the full 154-SKU portfolio, hub by hub</a:t>
            </a:r>
            <a:endParaRPr lang="en-US" sz="2550" dirty="0"/>
          </a:p>
        </p:txBody>
      </p:sp>
      <p:sp>
        <p:nvSpPr>
          <p:cNvPr id="15" name="Shape 13"/>
          <p:cNvSpPr/>
          <p:nvPr/>
        </p:nvSpPr>
        <p:spPr>
          <a:xfrm>
            <a:off x="952500" y="7470428"/>
            <a:ext cx="16383000" cy="19050"/>
          </a:xfrm>
          <a:prstGeom prst="rect">
            <a:avLst/>
          </a:prstGeom>
          <a:solidFill>
            <a:srgbClr val="E2ECF7">
              <a:alpha val="22000"/>
            </a:srgbClr>
          </a:solidFill>
          <a:ln/>
        </p:spPr>
      </p:sp>
      <p:sp>
        <p:nvSpPr>
          <p:cNvPr id="16" name="Text 14"/>
          <p:cNvSpPr/>
          <p:nvPr/>
        </p:nvSpPr>
        <p:spPr>
          <a:xfrm>
            <a:off x="952500" y="6813203"/>
            <a:ext cx="64770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04</a:t>
            </a:r>
            <a:endParaRPr lang="en-US" sz="2550" dirty="0"/>
          </a:p>
        </p:txBody>
      </p:sp>
      <p:sp>
        <p:nvSpPr>
          <p:cNvPr id="17" name="Text 15"/>
          <p:cNvSpPr/>
          <p:nvPr/>
        </p:nvSpPr>
        <p:spPr>
          <a:xfrm>
            <a:off x="2057400" y="6827490"/>
            <a:ext cx="14450846" cy="390525"/>
          </a:xfrm>
          <a:prstGeom prst="rect">
            <a:avLst/>
          </a:prstGeom>
          <a:noFill/>
          <a:ln/>
        </p:spPr>
        <p:txBody>
          <a:bodyPr wrap="square" lIns="25400" tIns="25400" rIns="25400" bIns="25400" rtlCol="0" anchor="t">
            <a:normAutofit/>
          </a:bodyPr>
          <a:lstStyle/>
          <a:p>
            <a:pPr algn="l" indent="0" marL="0">
              <a:buNone/>
            </a:pPr>
            <a:r>
              <a:rPr lang="en-US" sz="2550" dirty="0">
                <a:solidFill>
                  <a:srgbClr val="EDF2F8"/>
                </a:solidFill>
                <a:latin typeface="Arial" pitchFamily="34" charset="0"/>
                <a:ea typeface="Arial" pitchFamily="34" charset="-122"/>
                <a:cs typeface="Arial" pitchFamily="34" charset="-120"/>
              </a:rPr>
              <a:t>Convert the 12-week forecast into safety-stock and allocation targets for SBD and MAA first</a:t>
            </a:r>
            <a:endParaRPr lang="en-US" sz="2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622"/>
        </a:solidFill>
      </p:bgPr>
    </p:bg>
    <p:spTree>
      <p:nvGrpSpPr>
        <p:cNvPr id="1" name=""/>
        <p:cNvGrpSpPr/>
        <p:nvPr/>
      </p:nvGrpSpPr>
      <p:grpSpPr>
        <a:xfrm>
          <a:off x="0" y="0"/>
          <a:ext cx="0" cy="0"/>
          <a:chOff x="0" y="0"/>
          <a:chExt cx="0" cy="0"/>
        </a:xfrm>
      </p:grpSpPr>
      <p:sp>
        <p:nvSpPr>
          <p:cNvPr id="2" name="Text 0"/>
          <p:cNvSpPr/>
          <p:nvPr/>
        </p:nvSpPr>
        <p:spPr>
          <a:xfrm>
            <a:off x="952500" y="952500"/>
            <a:ext cx="18021300" cy="300038"/>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57D2E6"/>
                </a:solidFill>
                <a:latin typeface="Arial" pitchFamily="34" charset="0"/>
                <a:ea typeface="Arial" pitchFamily="34" charset="-122"/>
                <a:cs typeface="Arial" pitchFamily="34" charset="-120"/>
              </a:rPr>
              <a:t>11 — MODEL PROGRESS</a:t>
            </a:r>
            <a:endParaRPr lang="en-US" sz="1800" dirty="0"/>
          </a:p>
        </p:txBody>
      </p:sp>
      <p:sp>
        <p:nvSpPr>
          <p:cNvPr id="3" name="Text 1"/>
          <p:cNvSpPr/>
          <p:nvPr/>
        </p:nvSpPr>
        <p:spPr>
          <a:xfrm>
            <a:off x="952500" y="1423988"/>
            <a:ext cx="1530477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spc="-96" kern="0" dirty="0">
                <a:solidFill>
                  <a:srgbClr val="EDF2F8"/>
                </a:solidFill>
                <a:latin typeface="Arial" pitchFamily="34" charset="0"/>
                <a:ea typeface="Arial" pitchFamily="34" charset="-122"/>
                <a:cs typeface="Arial" pitchFamily="34" charset="-120"/>
              </a:rPr>
              <a:t>ARIMA is scored and shipping; the machine-learning track is still in validation</a:t>
            </a:r>
            <a:endParaRPr lang="en-US" sz="4800" dirty="0"/>
          </a:p>
        </p:txBody>
      </p:sp>
      <p:sp>
        <p:nvSpPr>
          <p:cNvPr id="4" name="Shape 2"/>
          <p:cNvSpPr/>
          <p:nvPr/>
        </p:nvSpPr>
        <p:spPr>
          <a:xfrm>
            <a:off x="952500" y="3107978"/>
            <a:ext cx="16383000" cy="19050"/>
          </a:xfrm>
          <a:prstGeom prst="rect">
            <a:avLst/>
          </a:prstGeom>
          <a:solidFill>
            <a:srgbClr val="E2ECF7">
              <a:alpha val="22000"/>
            </a:srgbClr>
          </a:solidFill>
          <a:ln/>
        </p:spPr>
      </p:sp>
      <p:sp>
        <p:nvSpPr>
          <p:cNvPr id="5" name="Shape 3"/>
          <p:cNvSpPr/>
          <p:nvPr/>
        </p:nvSpPr>
        <p:spPr>
          <a:xfrm>
            <a:off x="10763250" y="3127028"/>
            <a:ext cx="19050" cy="6397972"/>
          </a:xfrm>
          <a:prstGeom prst="rect">
            <a:avLst/>
          </a:prstGeom>
          <a:solidFill>
            <a:srgbClr val="E2ECF7">
              <a:alpha val="22000"/>
            </a:srgbClr>
          </a:solidFill>
          <a:ln/>
        </p:spPr>
      </p:sp>
      <p:sp>
        <p:nvSpPr>
          <p:cNvPr id="6" name="Shape 4"/>
          <p:cNvSpPr/>
          <p:nvPr/>
        </p:nvSpPr>
        <p:spPr>
          <a:xfrm>
            <a:off x="952500" y="4246215"/>
            <a:ext cx="9144000" cy="19050"/>
          </a:xfrm>
          <a:prstGeom prst="rect">
            <a:avLst/>
          </a:prstGeom>
          <a:solidFill>
            <a:srgbClr val="E2ECF7">
              <a:alpha val="22000"/>
            </a:srgbClr>
          </a:solidFill>
          <a:ln/>
        </p:spPr>
      </p:sp>
      <p:sp>
        <p:nvSpPr>
          <p:cNvPr id="7" name="Shape 5"/>
          <p:cNvSpPr/>
          <p:nvPr/>
        </p:nvSpPr>
        <p:spPr>
          <a:xfrm>
            <a:off x="952500" y="3622328"/>
            <a:ext cx="9144000" cy="19050"/>
          </a:xfrm>
          <a:prstGeom prst="rect">
            <a:avLst/>
          </a:prstGeom>
          <a:solidFill>
            <a:srgbClr val="E2ECF7">
              <a:alpha val="22000"/>
            </a:srgbClr>
          </a:solidFill>
          <a:ln/>
        </p:spPr>
      </p:sp>
      <p:sp>
        <p:nvSpPr>
          <p:cNvPr id="8" name="Text 6"/>
          <p:cNvSpPr/>
          <p:nvPr/>
        </p:nvSpPr>
        <p:spPr>
          <a:xfrm>
            <a:off x="952500" y="3812828"/>
            <a:ext cx="431067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93A5BB"/>
                </a:solidFill>
                <a:latin typeface="Arial" pitchFamily="34" charset="0"/>
                <a:ea typeface="Arial" pitchFamily="34" charset="-122"/>
                <a:cs typeface="Arial" pitchFamily="34" charset="-120"/>
              </a:rPr>
              <a:t>MODEL</a:t>
            </a:r>
            <a:endParaRPr lang="en-US" sz="1800" dirty="0"/>
          </a:p>
        </p:txBody>
      </p:sp>
      <p:sp>
        <p:nvSpPr>
          <p:cNvPr id="9" name="Text 7"/>
          <p:cNvSpPr/>
          <p:nvPr/>
        </p:nvSpPr>
        <p:spPr>
          <a:xfrm>
            <a:off x="4871293" y="3812828"/>
            <a:ext cx="2873864"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93A5BB"/>
                </a:solidFill>
                <a:latin typeface="Arial" pitchFamily="34" charset="0"/>
                <a:ea typeface="Arial" pitchFamily="34" charset="-122"/>
                <a:cs typeface="Arial" pitchFamily="34" charset="-120"/>
              </a:rPr>
              <a:t>STATUS</a:t>
            </a:r>
            <a:endParaRPr lang="en-US" sz="1800" dirty="0"/>
          </a:p>
        </p:txBody>
      </p:sp>
      <p:sp>
        <p:nvSpPr>
          <p:cNvPr id="10" name="Text 8"/>
          <p:cNvSpPr/>
          <p:nvPr/>
        </p:nvSpPr>
        <p:spPr>
          <a:xfrm>
            <a:off x="7222644" y="3812828"/>
            <a:ext cx="2873782" cy="30003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93A5BB"/>
                </a:solidFill>
                <a:latin typeface="Arial" pitchFamily="34" charset="0"/>
                <a:ea typeface="Arial" pitchFamily="34" charset="-122"/>
                <a:cs typeface="Arial" pitchFamily="34" charset="-120"/>
              </a:rPr>
              <a:t>SERIES SCORED</a:t>
            </a:r>
            <a:endParaRPr lang="en-US" sz="1800" dirty="0"/>
          </a:p>
        </p:txBody>
      </p:sp>
      <p:sp>
        <p:nvSpPr>
          <p:cNvPr id="11" name="Shape 9"/>
          <p:cNvSpPr/>
          <p:nvPr/>
        </p:nvSpPr>
        <p:spPr>
          <a:xfrm>
            <a:off x="952500" y="5032028"/>
            <a:ext cx="9144000" cy="19050"/>
          </a:xfrm>
          <a:prstGeom prst="rect">
            <a:avLst/>
          </a:prstGeom>
          <a:solidFill>
            <a:srgbClr val="E2ECF7">
              <a:alpha val="22000"/>
            </a:srgbClr>
          </a:solidFill>
          <a:ln/>
        </p:spPr>
      </p:sp>
      <p:sp>
        <p:nvSpPr>
          <p:cNvPr id="12" name="Text 10"/>
          <p:cNvSpPr/>
          <p:nvPr/>
        </p:nvSpPr>
        <p:spPr>
          <a:xfrm>
            <a:off x="952500" y="4493865"/>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ARIMA (1,1,1)</a:t>
            </a:r>
            <a:endParaRPr lang="en-US" sz="2100" dirty="0"/>
          </a:p>
        </p:txBody>
      </p:sp>
      <p:sp>
        <p:nvSpPr>
          <p:cNvPr id="13" name="Text 11"/>
          <p:cNvSpPr/>
          <p:nvPr/>
        </p:nvSpPr>
        <p:spPr>
          <a:xfrm>
            <a:off x="4871293" y="4493865"/>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57D2E6"/>
                </a:solidFill>
                <a:latin typeface="Arial" pitchFamily="34" charset="0"/>
                <a:ea typeface="Arial" pitchFamily="34" charset="-122"/>
                <a:cs typeface="Arial" pitchFamily="34" charset="-120"/>
              </a:rPr>
              <a:t>Scored, exporting</a:t>
            </a:r>
            <a:endParaRPr lang="en-US" sz="2100" dirty="0"/>
          </a:p>
        </p:txBody>
      </p:sp>
      <p:sp>
        <p:nvSpPr>
          <p:cNvPr id="14" name="Text 12"/>
          <p:cNvSpPr/>
          <p:nvPr/>
        </p:nvSpPr>
        <p:spPr>
          <a:xfrm>
            <a:off x="7222644" y="4508153"/>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EDF2F8"/>
                </a:solidFill>
                <a:latin typeface="Arial" pitchFamily="34" charset="0"/>
                <a:ea typeface="Arial" pitchFamily="34" charset="-122"/>
                <a:cs typeface="Arial" pitchFamily="34" charset="-120"/>
              </a:rPr>
              <a:t>42</a:t>
            </a:r>
            <a:endParaRPr lang="en-US" sz="2100" dirty="0"/>
          </a:p>
        </p:txBody>
      </p:sp>
      <p:sp>
        <p:nvSpPr>
          <p:cNvPr id="15" name="Shape 13"/>
          <p:cNvSpPr/>
          <p:nvPr/>
        </p:nvSpPr>
        <p:spPr>
          <a:xfrm>
            <a:off x="952500" y="5817840"/>
            <a:ext cx="9144000" cy="19050"/>
          </a:xfrm>
          <a:prstGeom prst="rect">
            <a:avLst/>
          </a:prstGeom>
          <a:solidFill>
            <a:srgbClr val="E2ECF7">
              <a:alpha val="22000"/>
            </a:srgbClr>
          </a:solidFill>
          <a:ln/>
        </p:spPr>
      </p:sp>
      <p:sp>
        <p:nvSpPr>
          <p:cNvPr id="16" name="Text 14"/>
          <p:cNvSpPr/>
          <p:nvPr/>
        </p:nvSpPr>
        <p:spPr>
          <a:xfrm>
            <a:off x="952500" y="5279678"/>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SARIMA (1,1,1,12)</a:t>
            </a:r>
            <a:endParaRPr lang="en-US" sz="2100" dirty="0"/>
          </a:p>
        </p:txBody>
      </p:sp>
      <p:sp>
        <p:nvSpPr>
          <p:cNvPr id="17" name="Text 15"/>
          <p:cNvSpPr/>
          <p:nvPr/>
        </p:nvSpPr>
        <p:spPr>
          <a:xfrm>
            <a:off x="4871293" y="5279678"/>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In validation</a:t>
            </a:r>
            <a:endParaRPr lang="en-US" sz="2100" dirty="0"/>
          </a:p>
        </p:txBody>
      </p:sp>
      <p:sp>
        <p:nvSpPr>
          <p:cNvPr id="18" name="Text 16"/>
          <p:cNvSpPr/>
          <p:nvPr/>
        </p:nvSpPr>
        <p:spPr>
          <a:xfrm>
            <a:off x="7222644" y="5293965"/>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19" name="Shape 17"/>
          <p:cNvSpPr/>
          <p:nvPr/>
        </p:nvSpPr>
        <p:spPr>
          <a:xfrm>
            <a:off x="952500" y="6603653"/>
            <a:ext cx="9144000" cy="19050"/>
          </a:xfrm>
          <a:prstGeom prst="rect">
            <a:avLst/>
          </a:prstGeom>
          <a:solidFill>
            <a:srgbClr val="E2ECF7">
              <a:alpha val="22000"/>
            </a:srgbClr>
          </a:solidFill>
          <a:ln/>
        </p:spPr>
      </p:sp>
      <p:sp>
        <p:nvSpPr>
          <p:cNvPr id="20" name="Text 18"/>
          <p:cNvSpPr/>
          <p:nvPr/>
        </p:nvSpPr>
        <p:spPr>
          <a:xfrm>
            <a:off x="952500" y="6065490"/>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Exponential Smoothing</a:t>
            </a:r>
            <a:endParaRPr lang="en-US" sz="2100" dirty="0"/>
          </a:p>
        </p:txBody>
      </p:sp>
      <p:sp>
        <p:nvSpPr>
          <p:cNvPr id="21" name="Text 19"/>
          <p:cNvSpPr/>
          <p:nvPr/>
        </p:nvSpPr>
        <p:spPr>
          <a:xfrm>
            <a:off x="4871293" y="6065490"/>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In validation</a:t>
            </a:r>
            <a:endParaRPr lang="en-US" sz="2100" dirty="0"/>
          </a:p>
        </p:txBody>
      </p:sp>
      <p:sp>
        <p:nvSpPr>
          <p:cNvPr id="22" name="Text 20"/>
          <p:cNvSpPr/>
          <p:nvPr/>
        </p:nvSpPr>
        <p:spPr>
          <a:xfrm>
            <a:off x="7222644" y="6079778"/>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23" name="Shape 21"/>
          <p:cNvSpPr/>
          <p:nvPr/>
        </p:nvSpPr>
        <p:spPr>
          <a:xfrm>
            <a:off x="952500" y="7389465"/>
            <a:ext cx="9144000" cy="19050"/>
          </a:xfrm>
          <a:prstGeom prst="rect">
            <a:avLst/>
          </a:prstGeom>
          <a:solidFill>
            <a:srgbClr val="E2ECF7">
              <a:alpha val="22000"/>
            </a:srgbClr>
          </a:solidFill>
          <a:ln/>
        </p:spPr>
      </p:sp>
      <p:sp>
        <p:nvSpPr>
          <p:cNvPr id="24" name="Text 22"/>
          <p:cNvSpPr/>
          <p:nvPr/>
        </p:nvSpPr>
        <p:spPr>
          <a:xfrm>
            <a:off x="952500" y="6851303"/>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Random Forest</a:t>
            </a:r>
            <a:endParaRPr lang="en-US" sz="2100" dirty="0"/>
          </a:p>
        </p:txBody>
      </p:sp>
      <p:sp>
        <p:nvSpPr>
          <p:cNvPr id="25" name="Text 23"/>
          <p:cNvSpPr/>
          <p:nvPr/>
        </p:nvSpPr>
        <p:spPr>
          <a:xfrm>
            <a:off x="4871293" y="6851303"/>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Built, unscored</a:t>
            </a:r>
            <a:endParaRPr lang="en-US" sz="2100" dirty="0"/>
          </a:p>
        </p:txBody>
      </p:sp>
      <p:sp>
        <p:nvSpPr>
          <p:cNvPr id="26" name="Text 24"/>
          <p:cNvSpPr/>
          <p:nvPr/>
        </p:nvSpPr>
        <p:spPr>
          <a:xfrm>
            <a:off x="7222644" y="6865590"/>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27" name="Shape 25"/>
          <p:cNvSpPr/>
          <p:nvPr/>
        </p:nvSpPr>
        <p:spPr>
          <a:xfrm>
            <a:off x="952500" y="8175278"/>
            <a:ext cx="9144000" cy="19050"/>
          </a:xfrm>
          <a:prstGeom prst="rect">
            <a:avLst/>
          </a:prstGeom>
          <a:solidFill>
            <a:srgbClr val="E2ECF7">
              <a:alpha val="22000"/>
            </a:srgbClr>
          </a:solidFill>
          <a:ln/>
        </p:spPr>
      </p:sp>
      <p:sp>
        <p:nvSpPr>
          <p:cNvPr id="28" name="Text 26"/>
          <p:cNvSpPr/>
          <p:nvPr/>
        </p:nvSpPr>
        <p:spPr>
          <a:xfrm>
            <a:off x="952500" y="7637115"/>
            <a:ext cx="4310673"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EDF2F8"/>
                </a:solidFill>
                <a:latin typeface="Arial" pitchFamily="34" charset="0"/>
                <a:ea typeface="Arial" pitchFamily="34" charset="-122"/>
                <a:cs typeface="Arial" pitchFamily="34" charset="-120"/>
              </a:rPr>
              <a:t>Gradient Boosting</a:t>
            </a:r>
            <a:endParaRPr lang="en-US" sz="2100" dirty="0"/>
          </a:p>
        </p:txBody>
      </p:sp>
      <p:sp>
        <p:nvSpPr>
          <p:cNvPr id="29" name="Text 27"/>
          <p:cNvSpPr/>
          <p:nvPr/>
        </p:nvSpPr>
        <p:spPr>
          <a:xfrm>
            <a:off x="4871293" y="7637115"/>
            <a:ext cx="287386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93A5BB"/>
                </a:solidFill>
                <a:latin typeface="Arial" pitchFamily="34" charset="0"/>
                <a:ea typeface="Arial" pitchFamily="34" charset="-122"/>
                <a:cs typeface="Arial" pitchFamily="34" charset="-120"/>
              </a:rPr>
              <a:t>Built, unscored</a:t>
            </a:r>
            <a:endParaRPr lang="en-US" sz="2100" dirty="0"/>
          </a:p>
        </p:txBody>
      </p:sp>
      <p:sp>
        <p:nvSpPr>
          <p:cNvPr id="30" name="Text 28"/>
          <p:cNvSpPr/>
          <p:nvPr/>
        </p:nvSpPr>
        <p:spPr>
          <a:xfrm>
            <a:off x="7222644" y="7651403"/>
            <a:ext cx="2873782" cy="328613"/>
          </a:xfrm>
          <a:prstGeom prst="rect">
            <a:avLst/>
          </a:prstGeom>
          <a:noFill/>
          <a:ln/>
        </p:spPr>
        <p:txBody>
          <a:bodyPr wrap="square" lIns="25400" tIns="25400" rIns="25400" bIns="25400" rtlCol="0" anchor="t">
            <a:normAutofit/>
          </a:bodyPr>
          <a:lstStyle/>
          <a:p>
            <a:pPr algn="r" indent="0" marL="0">
              <a:buNone/>
            </a:pPr>
            <a:r>
              <a:rPr lang="en-US" sz="2100" dirty="0">
                <a:solidFill>
                  <a:srgbClr val="93A5BB"/>
                </a:solidFill>
                <a:latin typeface="Arial" pitchFamily="34" charset="0"/>
                <a:ea typeface="Arial" pitchFamily="34" charset="-122"/>
                <a:cs typeface="Arial" pitchFamily="34" charset="-120"/>
              </a:rPr>
              <a:t>—</a:t>
            </a:r>
            <a:endParaRPr lang="en-US" sz="2100" dirty="0"/>
          </a:p>
        </p:txBody>
      </p:sp>
      <p:sp>
        <p:nvSpPr>
          <p:cNvPr id="31" name="Text 29"/>
          <p:cNvSpPr/>
          <p:nvPr/>
        </p:nvSpPr>
        <p:spPr>
          <a:xfrm>
            <a:off x="11449050" y="3622328"/>
            <a:ext cx="647509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57D2E6"/>
                </a:solidFill>
                <a:latin typeface="Arial" pitchFamily="34" charset="0"/>
                <a:ea typeface="Arial" pitchFamily="34" charset="-122"/>
                <a:cs typeface="Arial" pitchFamily="34" charset="-120"/>
              </a:rPr>
              <a:t>ACCEPTANCE GATES</a:t>
            </a:r>
            <a:endParaRPr lang="en-US" sz="1800" dirty="0"/>
          </a:p>
        </p:txBody>
      </p:sp>
      <p:sp>
        <p:nvSpPr>
          <p:cNvPr id="32" name="Shape 30"/>
          <p:cNvSpPr/>
          <p:nvPr/>
        </p:nvSpPr>
        <p:spPr>
          <a:xfrm>
            <a:off x="11449050" y="4751040"/>
            <a:ext cx="5886450" cy="19050"/>
          </a:xfrm>
          <a:prstGeom prst="rect">
            <a:avLst/>
          </a:prstGeom>
          <a:solidFill>
            <a:srgbClr val="E2ECF7">
              <a:alpha val="22000"/>
            </a:srgbClr>
          </a:solidFill>
          <a:ln/>
        </p:spPr>
      </p:sp>
      <p:sp>
        <p:nvSpPr>
          <p:cNvPr id="33" name="Text 31"/>
          <p:cNvSpPr/>
          <p:nvPr/>
        </p:nvSpPr>
        <p:spPr>
          <a:xfrm>
            <a:off x="11449050" y="4198590"/>
            <a:ext cx="841846"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MAPE</a:t>
            </a:r>
            <a:endParaRPr lang="en-US" sz="2100" dirty="0"/>
          </a:p>
        </p:txBody>
      </p:sp>
      <p:sp>
        <p:nvSpPr>
          <p:cNvPr id="34" name="Text 32"/>
          <p:cNvSpPr/>
          <p:nvPr/>
        </p:nvSpPr>
        <p:spPr>
          <a:xfrm>
            <a:off x="15751150" y="4131915"/>
            <a:ext cx="1742785"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below 20%</a:t>
            </a:r>
            <a:endParaRPr lang="en-US" sz="2550" dirty="0"/>
          </a:p>
        </p:txBody>
      </p:sp>
      <p:sp>
        <p:nvSpPr>
          <p:cNvPr id="35" name="Shape 33"/>
          <p:cNvSpPr/>
          <p:nvPr/>
        </p:nvSpPr>
        <p:spPr>
          <a:xfrm>
            <a:off x="11449050" y="5636865"/>
            <a:ext cx="5886450" cy="19050"/>
          </a:xfrm>
          <a:prstGeom prst="rect">
            <a:avLst/>
          </a:prstGeom>
          <a:solidFill>
            <a:srgbClr val="E2ECF7">
              <a:alpha val="22000"/>
            </a:srgbClr>
          </a:solidFill>
          <a:ln/>
        </p:spPr>
      </p:sp>
      <p:sp>
        <p:nvSpPr>
          <p:cNvPr id="36" name="Text 34"/>
          <p:cNvSpPr/>
          <p:nvPr/>
        </p:nvSpPr>
        <p:spPr>
          <a:xfrm>
            <a:off x="11449050" y="5084415"/>
            <a:ext cx="3130399"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Accuracy (100 − MAPE)</a:t>
            </a:r>
            <a:endParaRPr lang="en-US" sz="2100" dirty="0"/>
          </a:p>
        </p:txBody>
      </p:sp>
      <p:sp>
        <p:nvSpPr>
          <p:cNvPr id="37" name="Text 35"/>
          <p:cNvSpPr/>
          <p:nvPr/>
        </p:nvSpPr>
        <p:spPr>
          <a:xfrm>
            <a:off x="15714985" y="5017740"/>
            <a:ext cx="1782567"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57D2E6"/>
                </a:solidFill>
                <a:latin typeface="Arial" pitchFamily="34" charset="0"/>
                <a:ea typeface="Arial" pitchFamily="34" charset="-122"/>
                <a:cs typeface="Arial" pitchFamily="34" charset="-120"/>
              </a:rPr>
              <a:t>above 80%</a:t>
            </a:r>
            <a:endParaRPr lang="en-US" sz="2550" dirty="0"/>
          </a:p>
        </p:txBody>
      </p:sp>
      <p:sp>
        <p:nvSpPr>
          <p:cNvPr id="38" name="Shape 36"/>
          <p:cNvSpPr/>
          <p:nvPr/>
        </p:nvSpPr>
        <p:spPr>
          <a:xfrm>
            <a:off x="11449050" y="6522690"/>
            <a:ext cx="5886450" cy="19050"/>
          </a:xfrm>
          <a:prstGeom prst="rect">
            <a:avLst/>
          </a:prstGeom>
          <a:solidFill>
            <a:srgbClr val="E2ECF7">
              <a:alpha val="22000"/>
            </a:srgbClr>
          </a:solidFill>
          <a:ln/>
        </p:spPr>
      </p:sp>
      <p:sp>
        <p:nvSpPr>
          <p:cNvPr id="39" name="Text 37"/>
          <p:cNvSpPr/>
          <p:nvPr/>
        </p:nvSpPr>
        <p:spPr>
          <a:xfrm>
            <a:off x="11449050" y="5970240"/>
            <a:ext cx="2118665" cy="328613"/>
          </a:xfrm>
          <a:prstGeom prst="rect">
            <a:avLst/>
          </a:prstGeom>
          <a:noFill/>
          <a:ln/>
        </p:spPr>
        <p:txBody>
          <a:bodyPr wrap="square" lIns="25400" tIns="25400" rIns="25400" bIns="25400" rtlCol="0" anchor="t">
            <a:normAutofit/>
          </a:bodyPr>
          <a:lstStyle/>
          <a:p>
            <a:pPr algn="l" indent="0" marL="0">
              <a:buNone/>
            </a:pPr>
            <a:r>
              <a:rPr lang="en-US" sz="2100" dirty="0">
                <a:solidFill>
                  <a:srgbClr val="93A5BB"/>
                </a:solidFill>
                <a:latin typeface="Arial" pitchFamily="34" charset="0"/>
                <a:ea typeface="Arial" pitchFamily="34" charset="-122"/>
                <a:cs typeface="Arial" pitchFamily="34" charset="-120"/>
              </a:rPr>
              <a:t>MAE and RMSE</a:t>
            </a:r>
            <a:endParaRPr lang="en-US" sz="2100" dirty="0"/>
          </a:p>
        </p:txBody>
      </p:sp>
      <p:sp>
        <p:nvSpPr>
          <p:cNvPr id="40" name="Text 38"/>
          <p:cNvSpPr/>
          <p:nvPr/>
        </p:nvSpPr>
        <p:spPr>
          <a:xfrm>
            <a:off x="15211499" y="5903565"/>
            <a:ext cx="2336401"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EDF2F8"/>
                </a:solidFill>
                <a:latin typeface="Arial" pitchFamily="34" charset="0"/>
                <a:ea typeface="Arial" pitchFamily="34" charset="-122"/>
                <a:cs typeface="Arial" pitchFamily="34" charset="-120"/>
              </a:rPr>
              <a:t>Lower is better</a:t>
            </a:r>
            <a:endParaRPr lang="en-US" sz="2550" dirty="0"/>
          </a:p>
        </p:txBody>
      </p:sp>
      <p:sp>
        <p:nvSpPr>
          <p:cNvPr id="41" name="Text 39"/>
          <p:cNvSpPr/>
          <p:nvPr/>
        </p:nvSpPr>
        <p:spPr>
          <a:xfrm>
            <a:off x="11449050" y="6827490"/>
            <a:ext cx="6063044" cy="1238250"/>
          </a:xfrm>
          <a:prstGeom prst="rect">
            <a:avLst/>
          </a:prstGeom>
          <a:noFill/>
          <a:ln/>
        </p:spPr>
        <p:txBody>
          <a:bodyPr wrap="square" lIns="25400" tIns="25400" rIns="25400" bIns="25400" rtlCol="0" anchor="t">
            <a:normAutofit/>
          </a:bodyPr>
          <a:lstStyle/>
          <a:p>
            <a:pPr algn="l" indent="0" marL="0">
              <a:lnSpc>
                <a:spcPct val="129231"/>
              </a:lnSpc>
              <a:buNone/>
            </a:pPr>
            <a:r>
              <a:rPr lang="en-US" sz="2100" dirty="0">
                <a:solidFill>
                  <a:srgbClr val="93A5BB"/>
                </a:solidFill>
                <a:latin typeface="Arial" pitchFamily="34" charset="0"/>
                <a:ea typeface="Arial" pitchFamily="34" charset="-122"/>
                <a:cs typeface="Arial" pitchFamily="34" charset="-120"/>
              </a:rPr>
              <a:t>Every series is scored on all four metrics against a held-out 20% window before it is promoted into the planning view.</a:t>
            </a:r>
            <a:endParaRPr lang="en-US" sz="21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950976"/>
            <a:ext cx="18022824" cy="301752"/>
          </a:xfrm>
          <a:prstGeom prst="rect">
            <a:avLst/>
          </a:prstGeom>
          <a:noFill/>
        </p:spPr>
        <p:txBody>
          <a:bodyPr wrap="none">
            <a:spAutoFit/>
          </a:bodyPr>
          <a:lstStyle/>
          <a:p>
            <a:pPr>
              <a:defRPr sz="1800" b="1">
                <a:solidFill>
                  <a:srgbClr val="57D2E6"/>
                </a:solidFill>
              </a:defRPr>
            </a:pPr>
            <a:r>
              <a:t>02 — PROJECT TIMELINE &amp; PROGRESS</a:t>
            </a:r>
          </a:p>
        </p:txBody>
      </p:sp>
      <p:sp>
        <p:nvSpPr>
          <p:cNvPr id="3" name="TextBox 2"/>
          <p:cNvSpPr txBox="1"/>
          <p:nvPr/>
        </p:nvSpPr>
        <p:spPr>
          <a:xfrm>
            <a:off x="950976" y="1426464"/>
            <a:ext cx="14712696" cy="1380744"/>
          </a:xfrm>
          <a:prstGeom prst="rect">
            <a:avLst/>
          </a:prstGeom>
          <a:noFill/>
        </p:spPr>
        <p:txBody>
          <a:bodyPr wrap="square">
            <a:spAutoFit/>
          </a:bodyPr>
          <a:lstStyle/>
          <a:p>
            <a:pPr>
              <a:defRPr sz="4800" b="1">
                <a:solidFill>
                  <a:srgbClr val="EDF2F8"/>
                </a:solidFill>
              </a:defRPr>
            </a:pPr>
            <a:r>
              <a:t>Mid-review checkpoint: 75% complete with dashboard and ARIMA models live</a:t>
            </a:r>
          </a:p>
        </p:txBody>
      </p:sp>
      <p:sp>
        <p:nvSpPr>
          <p:cNvPr id="4" name="Rectangle 3"/>
          <p:cNvSpPr/>
          <p:nvPr/>
        </p:nvSpPr>
        <p:spPr>
          <a:xfrm>
            <a:off x="950976" y="3108960"/>
            <a:ext cx="16386048"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362102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03904"/>
            <a:ext cx="4114800" cy="1088136"/>
          </a:xfrm>
          <a:prstGeom prst="rect">
            <a:avLst/>
          </a:prstGeom>
          <a:noFill/>
        </p:spPr>
        <p:txBody>
          <a:bodyPr wrap="none">
            <a:spAutoFit/>
          </a:bodyPr>
          <a:lstStyle/>
          <a:p>
            <a:pPr algn="l">
              <a:defRPr sz="8200" b="1">
                <a:solidFill>
                  <a:srgbClr val="10B981"/>
                </a:solidFill>
              </a:defRPr>
            </a:pPr>
            <a:r>
              <a:t>100%</a:t>
            </a:r>
          </a:p>
        </p:txBody>
      </p:sp>
      <p:sp>
        <p:nvSpPr>
          <p:cNvPr id="7" name="TextBox 6"/>
          <p:cNvSpPr txBox="1"/>
          <p:nvPr/>
        </p:nvSpPr>
        <p:spPr>
          <a:xfrm>
            <a:off x="731520" y="4946904"/>
            <a:ext cx="4114800" cy="329184"/>
          </a:xfrm>
          <a:prstGeom prst="rect">
            <a:avLst/>
          </a:prstGeom>
          <a:noFill/>
        </p:spPr>
        <p:txBody>
          <a:bodyPr wrap="square">
            <a:spAutoFit/>
          </a:bodyPr>
          <a:lstStyle/>
          <a:p>
            <a:pPr algn="l">
              <a:defRPr sz="2100">
                <a:solidFill>
                  <a:srgbClr val="93A5BB"/>
                </a:solidFill>
              </a:defRPr>
            </a:pPr>
            <a:r>
              <a:t>Data Collection</a:t>
            </a:r>
          </a:p>
          <a:p>
            <a:r>
              <a:t>&amp; Analysis</a:t>
            </a:r>
          </a:p>
        </p:txBody>
      </p:sp>
      <p:sp>
        <p:nvSpPr>
          <p:cNvPr id="8" name="Rectangle 7"/>
          <p:cNvSpPr/>
          <p:nvPr/>
        </p:nvSpPr>
        <p:spPr>
          <a:xfrm>
            <a:off x="731520" y="535838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0" y="362102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3803904"/>
            <a:ext cx="4114800" cy="1088136"/>
          </a:xfrm>
          <a:prstGeom prst="rect">
            <a:avLst/>
          </a:prstGeom>
          <a:noFill/>
        </p:spPr>
        <p:txBody>
          <a:bodyPr wrap="none">
            <a:spAutoFit/>
          </a:bodyPr>
          <a:lstStyle/>
          <a:p>
            <a:pPr algn="l">
              <a:defRPr sz="8200" b="1">
                <a:solidFill>
                  <a:srgbClr val="10B981"/>
                </a:solidFill>
              </a:defRPr>
            </a:pPr>
            <a:r>
              <a:t>100%</a:t>
            </a:r>
          </a:p>
        </p:txBody>
      </p:sp>
      <p:sp>
        <p:nvSpPr>
          <p:cNvPr id="11" name="TextBox 10"/>
          <p:cNvSpPr txBox="1"/>
          <p:nvPr/>
        </p:nvSpPr>
        <p:spPr>
          <a:xfrm>
            <a:off x="5029200" y="4946904"/>
            <a:ext cx="4114800" cy="329184"/>
          </a:xfrm>
          <a:prstGeom prst="rect">
            <a:avLst/>
          </a:prstGeom>
          <a:noFill/>
        </p:spPr>
        <p:txBody>
          <a:bodyPr wrap="square">
            <a:spAutoFit/>
          </a:bodyPr>
          <a:lstStyle/>
          <a:p>
            <a:pPr algn="l">
              <a:defRPr sz="2100">
                <a:solidFill>
                  <a:srgbClr val="93A5BB"/>
                </a:solidFill>
              </a:defRPr>
            </a:pPr>
            <a:r>
              <a:t>Dashboard</a:t>
            </a:r>
          </a:p>
          <a:p>
            <a:r>
              <a:t>Development</a:t>
            </a:r>
          </a:p>
        </p:txBody>
      </p:sp>
      <p:sp>
        <p:nvSpPr>
          <p:cNvPr id="12" name="Rectangle 11"/>
          <p:cNvSpPr/>
          <p:nvPr/>
        </p:nvSpPr>
        <p:spPr>
          <a:xfrm>
            <a:off x="5029200" y="535838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326880" y="362102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3803904"/>
            <a:ext cx="4114800" cy="1088136"/>
          </a:xfrm>
          <a:prstGeom prst="rect">
            <a:avLst/>
          </a:prstGeom>
          <a:noFill/>
        </p:spPr>
        <p:txBody>
          <a:bodyPr wrap="none">
            <a:spAutoFit/>
          </a:bodyPr>
          <a:lstStyle/>
          <a:p>
            <a:pPr algn="l">
              <a:defRPr sz="8200" b="1">
                <a:solidFill>
                  <a:srgbClr val="F59E0B"/>
                </a:solidFill>
              </a:defRPr>
            </a:pPr>
            <a:r>
              <a:t>75%</a:t>
            </a:r>
          </a:p>
        </p:txBody>
      </p:sp>
      <p:sp>
        <p:nvSpPr>
          <p:cNvPr id="15" name="TextBox 14"/>
          <p:cNvSpPr txBox="1"/>
          <p:nvPr/>
        </p:nvSpPr>
        <p:spPr>
          <a:xfrm>
            <a:off x="9326880" y="4946904"/>
            <a:ext cx="4114800" cy="329184"/>
          </a:xfrm>
          <a:prstGeom prst="rect">
            <a:avLst/>
          </a:prstGeom>
          <a:noFill/>
        </p:spPr>
        <p:txBody>
          <a:bodyPr wrap="square">
            <a:spAutoFit/>
          </a:bodyPr>
          <a:lstStyle/>
          <a:p>
            <a:pPr algn="l">
              <a:defRPr sz="2100">
                <a:solidFill>
                  <a:srgbClr val="93A5BB"/>
                </a:solidFill>
              </a:defRPr>
            </a:pPr>
            <a:r>
              <a:t>Model</a:t>
            </a:r>
          </a:p>
          <a:p>
            <a:r>
              <a:t>Validation</a:t>
            </a:r>
          </a:p>
        </p:txBody>
      </p:sp>
      <p:sp>
        <p:nvSpPr>
          <p:cNvPr id="16" name="Rectangle 15"/>
          <p:cNvSpPr/>
          <p:nvPr/>
        </p:nvSpPr>
        <p:spPr>
          <a:xfrm>
            <a:off x="9326880" y="535838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624560" y="362102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624560" y="3803904"/>
            <a:ext cx="4114800" cy="1088136"/>
          </a:xfrm>
          <a:prstGeom prst="rect">
            <a:avLst/>
          </a:prstGeom>
          <a:noFill/>
        </p:spPr>
        <p:txBody>
          <a:bodyPr wrap="none">
            <a:spAutoFit/>
          </a:bodyPr>
          <a:lstStyle/>
          <a:p>
            <a:pPr algn="l">
              <a:defRPr sz="8200" b="1">
                <a:solidFill>
                  <a:srgbClr val="6366F1"/>
                </a:solidFill>
              </a:defRPr>
            </a:pPr>
            <a:r>
              <a:t>40%</a:t>
            </a:r>
          </a:p>
        </p:txBody>
      </p:sp>
      <p:sp>
        <p:nvSpPr>
          <p:cNvPr id="19" name="TextBox 18"/>
          <p:cNvSpPr txBox="1"/>
          <p:nvPr/>
        </p:nvSpPr>
        <p:spPr>
          <a:xfrm>
            <a:off x="13624560" y="4946904"/>
            <a:ext cx="4114800" cy="329184"/>
          </a:xfrm>
          <a:prstGeom prst="rect">
            <a:avLst/>
          </a:prstGeom>
          <a:noFill/>
        </p:spPr>
        <p:txBody>
          <a:bodyPr wrap="square">
            <a:spAutoFit/>
          </a:bodyPr>
          <a:lstStyle/>
          <a:p>
            <a:pPr algn="l">
              <a:defRPr sz="2100">
                <a:solidFill>
                  <a:srgbClr val="93A5BB"/>
                </a:solidFill>
              </a:defRPr>
            </a:pPr>
            <a:r>
              <a:t>Integration &amp;</a:t>
            </a:r>
          </a:p>
          <a:p>
            <a:r>
              <a:t>Testing</a:t>
            </a:r>
          </a:p>
        </p:txBody>
      </p:sp>
      <p:sp>
        <p:nvSpPr>
          <p:cNvPr id="20" name="Rectangle 19"/>
          <p:cNvSpPr/>
          <p:nvPr/>
        </p:nvSpPr>
        <p:spPr>
          <a:xfrm>
            <a:off x="13624560" y="5358384"/>
            <a:ext cx="41148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266944"/>
            <a:ext cx="8229600" cy="301752"/>
          </a:xfrm>
          <a:prstGeom prst="rect">
            <a:avLst/>
          </a:prstGeom>
          <a:noFill/>
        </p:spPr>
        <p:txBody>
          <a:bodyPr wrap="none">
            <a:spAutoFit/>
          </a:bodyPr>
          <a:lstStyle/>
          <a:p>
            <a:pPr>
              <a:defRPr sz="1800" b="1">
                <a:solidFill>
                  <a:srgbClr val="10B981"/>
                </a:solidFill>
              </a:defRPr>
            </a:pPr>
            <a:r>
              <a:t>✓ KEY ACHIEVEMENTS TO DATE</a:t>
            </a:r>
          </a:p>
        </p:txBody>
      </p:sp>
      <p:sp>
        <p:nvSpPr>
          <p:cNvPr id="22" name="Rectangle 21"/>
          <p:cNvSpPr/>
          <p:nvPr/>
        </p:nvSpPr>
        <p:spPr>
          <a:xfrm>
            <a:off x="731520" y="561441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769864"/>
            <a:ext cx="8229600" cy="4526280"/>
          </a:xfrm>
          <a:prstGeom prst="rect">
            <a:avLst/>
          </a:prstGeom>
          <a:noFill/>
        </p:spPr>
        <p:txBody>
          <a:bodyPr wrap="square">
            <a:spAutoFit/>
          </a:bodyPr>
          <a:lstStyle/>
          <a:p>
            <a:pPr>
              <a:lnSpc>
                <a:spcPct val="140000"/>
              </a:lnSpc>
              <a:spcBef>
                <a:spcPts val="0"/>
              </a:spcBef>
              <a:defRPr sz="2100">
                <a:solidFill>
                  <a:srgbClr val="EDF2F8"/>
                </a:solidFill>
              </a:defRPr>
            </a:pPr>
            <a:r>
              <a:t>• Fully functional 7-page interactive dashboard deployed</a:t>
            </a:r>
          </a:p>
          <a:p>
            <a:pPr>
              <a:lnSpc>
                <a:spcPct val="140000"/>
              </a:lnSpc>
              <a:spcBef>
                <a:spcPts val="1200"/>
              </a:spcBef>
              <a:defRPr sz="2100">
                <a:solidFill>
                  <a:srgbClr val="EDF2F8"/>
                </a:solidFill>
              </a:defRPr>
            </a:pPr>
            <a:r>
              <a:t>• ARIMA model scoring 42 branch-SKU series live</a:t>
            </a:r>
          </a:p>
          <a:p>
            <a:pPr>
              <a:lnSpc>
                <a:spcPct val="140000"/>
              </a:lnSpc>
              <a:spcBef>
                <a:spcPts val="1200"/>
              </a:spcBef>
              <a:defRPr sz="2100">
                <a:solidFill>
                  <a:srgbClr val="EDF2F8"/>
                </a:solidFill>
              </a:defRPr>
            </a:pPr>
            <a:r>
              <a:t>• Data quality improved from 95% to 98.5% post-cleaning</a:t>
            </a:r>
          </a:p>
          <a:p>
            <a:pPr>
              <a:lnSpc>
                <a:spcPct val="140000"/>
              </a:lnSpc>
              <a:spcBef>
                <a:spcPts val="1200"/>
              </a:spcBef>
              <a:defRPr sz="2100">
                <a:solidFill>
                  <a:srgbClr val="EDF2F8"/>
                </a:solidFill>
              </a:defRPr>
            </a:pPr>
            <a:r>
              <a:t>• Executive-ready PDF/Excel report generation</a:t>
            </a:r>
          </a:p>
          <a:p>
            <a:pPr>
              <a:lnSpc>
                <a:spcPct val="140000"/>
              </a:lnSpc>
              <a:spcBef>
                <a:spcPts val="1200"/>
              </a:spcBef>
              <a:defRPr sz="2100">
                <a:solidFill>
                  <a:srgbClr val="EDF2F8"/>
                </a:solidFill>
              </a:defRPr>
            </a:pPr>
            <a:r>
              <a:t>• 82,034 records analyzed across 154 SKUs and 5 hubs</a:t>
            </a:r>
          </a:p>
        </p:txBody>
      </p:sp>
      <p:sp>
        <p:nvSpPr>
          <p:cNvPr id="24" name="TextBox 23"/>
          <p:cNvSpPr txBox="1"/>
          <p:nvPr/>
        </p:nvSpPr>
        <p:spPr>
          <a:xfrm>
            <a:off x="9326880" y="5266944"/>
            <a:ext cx="8229600" cy="301752"/>
          </a:xfrm>
          <a:prstGeom prst="rect">
            <a:avLst/>
          </a:prstGeom>
          <a:noFill/>
        </p:spPr>
        <p:txBody>
          <a:bodyPr wrap="none">
            <a:spAutoFit/>
          </a:bodyPr>
          <a:lstStyle/>
          <a:p>
            <a:pPr>
              <a:defRPr sz="1800" b="1">
                <a:solidFill>
                  <a:srgbClr val="F59E0B"/>
                </a:solidFill>
              </a:defRPr>
            </a:pPr>
            <a:r>
              <a:t>→ CURRENT SPRINT FOCUS</a:t>
            </a:r>
          </a:p>
        </p:txBody>
      </p:sp>
      <p:sp>
        <p:nvSpPr>
          <p:cNvPr id="25" name="Rectangle 24"/>
          <p:cNvSpPr/>
          <p:nvPr/>
        </p:nvSpPr>
        <p:spPr>
          <a:xfrm>
            <a:off x="9326880" y="561441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5769864"/>
            <a:ext cx="8229600" cy="4526280"/>
          </a:xfrm>
          <a:prstGeom prst="rect">
            <a:avLst/>
          </a:prstGeom>
          <a:noFill/>
        </p:spPr>
        <p:txBody>
          <a:bodyPr wrap="square">
            <a:spAutoFit/>
          </a:bodyPr>
          <a:lstStyle/>
          <a:p>
            <a:pPr>
              <a:lnSpc>
                <a:spcPct val="140000"/>
              </a:lnSpc>
              <a:spcBef>
                <a:spcPts val="0"/>
              </a:spcBef>
              <a:defRPr sz="2100">
                <a:solidFill>
                  <a:srgbClr val="EDF2F8"/>
                </a:solidFill>
              </a:defRPr>
            </a:pPr>
            <a:r>
              <a:t>• Complete ML model validation (Random Forest, Gradient Boosting)</a:t>
            </a:r>
          </a:p>
          <a:p>
            <a:pPr>
              <a:lnSpc>
                <a:spcPct val="140000"/>
              </a:lnSpc>
              <a:spcBef>
                <a:spcPts val="1200"/>
              </a:spcBef>
              <a:defRPr sz="2100">
                <a:solidFill>
                  <a:srgbClr val="EDF2F8"/>
                </a:solidFill>
              </a:defRPr>
            </a:pPr>
            <a:r>
              <a:t>• Extend ARIMA coverage from 15 to 50+ SKUs</a:t>
            </a:r>
          </a:p>
          <a:p>
            <a:pPr>
              <a:lnSpc>
                <a:spcPct val="140000"/>
              </a:lnSpc>
              <a:spcBef>
                <a:spcPts val="1200"/>
              </a:spcBef>
              <a:defRPr sz="2100">
                <a:solidFill>
                  <a:srgbClr val="EDF2F8"/>
                </a:solidFill>
              </a:defRPr>
            </a:pPr>
            <a:r>
              <a:t>• Benchmark SARIMA seasonal performance against ARIMA</a:t>
            </a:r>
          </a:p>
          <a:p>
            <a:pPr>
              <a:lnSpc>
                <a:spcPct val="140000"/>
              </a:lnSpc>
              <a:spcBef>
                <a:spcPts val="1200"/>
              </a:spcBef>
              <a:defRPr sz="2100">
                <a:solidFill>
                  <a:srgbClr val="EDF2F8"/>
                </a:solidFill>
              </a:defRPr>
            </a:pPr>
            <a:r>
              <a:t>• Build automated data refresh pipeline</a:t>
            </a:r>
          </a:p>
          <a:p>
            <a:pPr>
              <a:lnSpc>
                <a:spcPct val="140000"/>
              </a:lnSpc>
              <a:spcBef>
                <a:spcPts val="1200"/>
              </a:spcBef>
              <a:defRPr sz="2100">
                <a:solidFill>
                  <a:srgbClr val="EDF2F8"/>
                </a:solidFill>
              </a:defRPr>
            </a:pPr>
            <a:r>
              <a:t>• Document model selection framework for production 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950976"/>
            <a:ext cx="18022824" cy="301752"/>
          </a:xfrm>
          <a:prstGeom prst="rect">
            <a:avLst/>
          </a:prstGeom>
          <a:noFill/>
        </p:spPr>
        <p:txBody>
          <a:bodyPr wrap="none">
            <a:spAutoFit/>
          </a:bodyPr>
          <a:lstStyle/>
          <a:p>
            <a:pPr>
              <a:defRPr sz="1800" b="1">
                <a:solidFill>
                  <a:srgbClr val="57D2E6"/>
                </a:solidFill>
              </a:defRPr>
            </a:pPr>
            <a:r>
              <a:t>12 — CHALLENGES &amp; LEARNINGS</a:t>
            </a:r>
          </a:p>
        </p:txBody>
      </p:sp>
      <p:sp>
        <p:nvSpPr>
          <p:cNvPr id="3" name="TextBox 2"/>
          <p:cNvSpPr txBox="1"/>
          <p:nvPr/>
        </p:nvSpPr>
        <p:spPr>
          <a:xfrm>
            <a:off x="950976" y="1426464"/>
            <a:ext cx="14712696" cy="1380744"/>
          </a:xfrm>
          <a:prstGeom prst="rect">
            <a:avLst/>
          </a:prstGeom>
          <a:noFill/>
        </p:spPr>
        <p:txBody>
          <a:bodyPr wrap="square">
            <a:spAutoFit/>
          </a:bodyPr>
          <a:lstStyle/>
          <a:p>
            <a:pPr>
              <a:defRPr sz="4800" b="1">
                <a:solidFill>
                  <a:srgbClr val="EDF2F8"/>
                </a:solidFill>
              </a:defRPr>
            </a:pPr>
            <a:r>
              <a:t>Real obstacles encountered and technical pivots that shaped the solution</a:t>
            </a:r>
          </a:p>
        </p:txBody>
      </p:sp>
      <p:sp>
        <p:nvSpPr>
          <p:cNvPr id="4" name="Rectangle 3"/>
          <p:cNvSpPr/>
          <p:nvPr/>
        </p:nvSpPr>
        <p:spPr>
          <a:xfrm>
            <a:off x="950976" y="3108960"/>
            <a:ext cx="16386048"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21024"/>
            <a:ext cx="8229600" cy="301752"/>
          </a:xfrm>
          <a:prstGeom prst="rect">
            <a:avLst/>
          </a:prstGeom>
          <a:noFill/>
        </p:spPr>
        <p:txBody>
          <a:bodyPr wrap="none">
            <a:spAutoFit/>
          </a:bodyPr>
          <a:lstStyle/>
          <a:p>
            <a:pPr>
              <a:defRPr sz="1800" b="1">
                <a:solidFill>
                  <a:srgbClr val="F43F5E"/>
                </a:solidFill>
              </a:defRPr>
            </a:pPr>
            <a:r>
              <a:t>⚠ KEY CHALLENGES FACED</a:t>
            </a:r>
          </a:p>
        </p:txBody>
      </p:sp>
      <p:sp>
        <p:nvSpPr>
          <p:cNvPr id="6" name="Rectangle 5"/>
          <p:cNvSpPr/>
          <p:nvPr/>
        </p:nvSpPr>
        <p:spPr>
          <a:xfrm>
            <a:off x="731520" y="396849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23944"/>
            <a:ext cx="8229600" cy="5440680"/>
          </a:xfrm>
          <a:prstGeom prst="rect">
            <a:avLst/>
          </a:prstGeom>
          <a:noFill/>
        </p:spPr>
        <p:txBody>
          <a:bodyPr wrap="square">
            <a:spAutoFit/>
          </a:bodyPr>
          <a:lstStyle/>
          <a:p>
            <a:pPr>
              <a:lnSpc>
                <a:spcPct val="140000"/>
              </a:lnSpc>
              <a:spcBef>
                <a:spcPts val="0"/>
              </a:spcBef>
              <a:defRPr sz="2100">
                <a:solidFill>
                  <a:srgbClr val="EDF2F8"/>
                </a:solidFill>
              </a:defRPr>
            </a:pPr>
            <a:r>
              <a:t>28.77% structural gap in Q1 FY24-25 limited training window</a:t>
            </a:r>
          </a:p>
          <a:p>
            <a:pPr>
              <a:lnSpc>
                <a:spcPct val="140000"/>
              </a:lnSpc>
              <a:spcBef>
                <a:spcPts val="1200"/>
              </a:spcBef>
              <a:defRPr sz="2100">
                <a:solidFill>
                  <a:srgbClr val="EDF2F8"/>
                </a:solidFill>
              </a:defRPr>
            </a:pPr>
            <a:r>
              <a:t>70% of SKUs classified as lumpy demand — ruled out standard exponential smoothing</a:t>
            </a:r>
          </a:p>
          <a:p>
            <a:pPr>
              <a:lnSpc>
                <a:spcPct val="140000"/>
              </a:lnSpc>
              <a:spcBef>
                <a:spcPts val="1200"/>
              </a:spcBef>
              <a:defRPr sz="2100">
                <a:solidFill>
                  <a:srgbClr val="EDF2F8"/>
                </a:solidFill>
              </a:defRPr>
            </a:pPr>
            <a:r>
              <a:t>No one-size-fits-all forecasting approach required implementing 5 distinct models</a:t>
            </a:r>
          </a:p>
          <a:p>
            <a:pPr>
              <a:lnSpc>
                <a:spcPct val="140000"/>
              </a:lnSpc>
              <a:spcBef>
                <a:spcPts val="1200"/>
              </a:spcBef>
              <a:defRPr sz="2100">
                <a:solidFill>
                  <a:srgbClr val="EDF2F8"/>
                </a:solidFill>
              </a:defRPr>
            </a:pPr>
            <a:r>
              <a:t>Large dataset (82K records) with real-time UI requirements needed optimization</a:t>
            </a:r>
          </a:p>
          <a:p>
            <a:pPr>
              <a:lnSpc>
                <a:spcPct val="140000"/>
              </a:lnSpc>
              <a:spcBef>
                <a:spcPts val="1200"/>
              </a:spcBef>
              <a:defRPr sz="2100">
                <a:solidFill>
                  <a:srgbClr val="EDF2F8"/>
                </a:solidFill>
              </a:defRPr>
            </a:pPr>
            <a:r>
              <a:t>Intermittent demand patterns made standard accuracy metrics challenging to interpret</a:t>
            </a:r>
          </a:p>
        </p:txBody>
      </p:sp>
      <p:sp>
        <p:nvSpPr>
          <p:cNvPr id="8" name="TextBox 7"/>
          <p:cNvSpPr txBox="1"/>
          <p:nvPr/>
        </p:nvSpPr>
        <p:spPr>
          <a:xfrm>
            <a:off x="9326880" y="3621024"/>
            <a:ext cx="8229600" cy="301752"/>
          </a:xfrm>
          <a:prstGeom prst="rect">
            <a:avLst/>
          </a:prstGeom>
          <a:noFill/>
        </p:spPr>
        <p:txBody>
          <a:bodyPr wrap="none">
            <a:spAutoFit/>
          </a:bodyPr>
          <a:lstStyle/>
          <a:p>
            <a:pPr>
              <a:defRPr sz="1800" b="1">
                <a:solidFill>
                  <a:srgbClr val="10B981"/>
                </a:solidFill>
              </a:defRPr>
            </a:pPr>
            <a:r>
              <a:t>✓ SOLUTIONS &amp; LEARNINGS</a:t>
            </a:r>
          </a:p>
        </p:txBody>
      </p:sp>
      <p:sp>
        <p:nvSpPr>
          <p:cNvPr id="9" name="Rectangle 8"/>
          <p:cNvSpPr/>
          <p:nvPr/>
        </p:nvSpPr>
        <p:spPr>
          <a:xfrm>
            <a:off x="9326880" y="396849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0" y="4123944"/>
            <a:ext cx="8229600" cy="5440680"/>
          </a:xfrm>
          <a:prstGeom prst="rect">
            <a:avLst/>
          </a:prstGeom>
          <a:noFill/>
        </p:spPr>
        <p:txBody>
          <a:bodyPr wrap="square">
            <a:spAutoFit/>
          </a:bodyPr>
          <a:lstStyle/>
          <a:p>
            <a:pPr>
              <a:lnSpc>
                <a:spcPct val="140000"/>
              </a:lnSpc>
              <a:spcBef>
                <a:spcPts val="0"/>
              </a:spcBef>
              <a:defRPr sz="2100">
                <a:solidFill>
                  <a:srgbClr val="EDF2F8"/>
                </a:solidFill>
              </a:defRPr>
            </a:pPr>
            <a:r>
              <a:t>Built statistical and ML tracks in parallel — let data decide which performs best per SKU</a:t>
            </a:r>
          </a:p>
          <a:p>
            <a:pPr>
              <a:lnSpc>
                <a:spcPct val="140000"/>
              </a:lnSpc>
              <a:spcBef>
                <a:spcPts val="1200"/>
              </a:spcBef>
              <a:defRPr sz="2100">
                <a:solidFill>
                  <a:srgbClr val="EDF2F8"/>
                </a:solidFill>
              </a:defRPr>
            </a:pPr>
            <a:r>
              <a:t>Applied Syntetos-Boylan classification before model selection to match methods to demand type</a:t>
            </a:r>
          </a:p>
          <a:p>
            <a:pPr>
              <a:lnSpc>
                <a:spcPct val="140000"/>
              </a:lnSpc>
              <a:spcBef>
                <a:spcPts val="1200"/>
              </a:spcBef>
              <a:defRPr sz="2100">
                <a:solidFill>
                  <a:srgbClr val="EDF2F8"/>
                </a:solidFill>
              </a:defRPr>
            </a:pPr>
            <a:r>
              <a:t>Separated EDA, cleaning, and forecasting modules so dashboard runs independently</a:t>
            </a:r>
          </a:p>
          <a:p>
            <a:pPr>
              <a:lnSpc>
                <a:spcPct val="140000"/>
              </a:lnSpc>
              <a:spcBef>
                <a:spcPts val="1200"/>
              </a:spcBef>
              <a:defRPr sz="2100">
                <a:solidFill>
                  <a:srgbClr val="EDF2F8"/>
                </a:solidFill>
              </a:defRPr>
            </a:pPr>
            <a:r>
              <a:t>Built live performance metrics into dashboard for interactive model comparison</a:t>
            </a:r>
          </a:p>
          <a:p>
            <a:pPr>
              <a:lnSpc>
                <a:spcPct val="140000"/>
              </a:lnSpc>
              <a:spcBef>
                <a:spcPts val="1200"/>
              </a:spcBef>
              <a:defRPr sz="2100">
                <a:solidFill>
                  <a:srgbClr val="EDF2F8"/>
                </a:solidFill>
              </a:defRPr>
            </a:pPr>
            <a:r>
              <a:t>Created 6 comprehensive guides alongside code for seamless stakeholder handoff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950976"/>
            <a:ext cx="18022824" cy="301752"/>
          </a:xfrm>
          <a:prstGeom prst="rect">
            <a:avLst/>
          </a:prstGeom>
          <a:noFill/>
        </p:spPr>
        <p:txBody>
          <a:bodyPr wrap="none">
            <a:spAutoFit/>
          </a:bodyPr>
          <a:lstStyle/>
          <a:p>
            <a:pPr>
              <a:defRPr sz="1800" b="1">
                <a:solidFill>
                  <a:srgbClr val="57D2E6"/>
                </a:solidFill>
              </a:defRPr>
            </a:pPr>
            <a:r>
              <a:t>13 — DASHBOARD CAPABILITIES</a:t>
            </a:r>
          </a:p>
        </p:txBody>
      </p:sp>
      <p:sp>
        <p:nvSpPr>
          <p:cNvPr id="3" name="TextBox 2"/>
          <p:cNvSpPr txBox="1"/>
          <p:nvPr/>
        </p:nvSpPr>
        <p:spPr>
          <a:xfrm>
            <a:off x="950976" y="1426464"/>
            <a:ext cx="14712696" cy="1380744"/>
          </a:xfrm>
          <a:prstGeom prst="rect">
            <a:avLst/>
          </a:prstGeom>
          <a:noFill/>
        </p:spPr>
        <p:txBody>
          <a:bodyPr wrap="square">
            <a:spAutoFit/>
          </a:bodyPr>
          <a:lstStyle/>
          <a:p>
            <a:pPr>
              <a:defRPr sz="4800" b="1">
                <a:solidFill>
                  <a:srgbClr val="EDF2F8"/>
                </a:solidFill>
              </a:defRPr>
            </a:pPr>
            <a:r>
              <a:t>Seven integrated views from executive summary to detailed forecasting</a:t>
            </a:r>
          </a:p>
        </p:txBody>
      </p:sp>
      <p:sp>
        <p:nvSpPr>
          <p:cNvPr id="4" name="Rectangle 3"/>
          <p:cNvSpPr/>
          <p:nvPr/>
        </p:nvSpPr>
        <p:spPr>
          <a:xfrm>
            <a:off x="950976" y="3108960"/>
            <a:ext cx="16386048"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21024"/>
            <a:ext cx="8229600" cy="301752"/>
          </a:xfrm>
          <a:prstGeom prst="rect">
            <a:avLst/>
          </a:prstGeom>
          <a:noFill/>
        </p:spPr>
        <p:txBody>
          <a:bodyPr wrap="none">
            <a:spAutoFit/>
          </a:bodyPr>
          <a:lstStyle/>
          <a:p>
            <a:pPr>
              <a:defRPr sz="1800" b="1">
                <a:solidFill>
                  <a:srgbClr val="57D2E6"/>
                </a:solidFill>
              </a:defRPr>
            </a:pPr>
            <a:r>
              <a:t>1. Executive Cockpit</a:t>
            </a:r>
          </a:p>
        </p:txBody>
      </p:sp>
      <p:sp>
        <p:nvSpPr>
          <p:cNvPr id="6" name="Rectangle 5"/>
          <p:cNvSpPr/>
          <p:nvPr/>
        </p:nvSpPr>
        <p:spPr>
          <a:xfrm>
            <a:off x="731520" y="396849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2394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Health metrics, volume distribution, time series trends</a:t>
            </a:r>
          </a:p>
        </p:txBody>
      </p:sp>
      <p:sp>
        <p:nvSpPr>
          <p:cNvPr id="8" name="TextBox 7"/>
          <p:cNvSpPr txBox="1"/>
          <p:nvPr/>
        </p:nvSpPr>
        <p:spPr>
          <a:xfrm>
            <a:off x="731520" y="5175504"/>
            <a:ext cx="8229600" cy="301752"/>
          </a:xfrm>
          <a:prstGeom prst="rect">
            <a:avLst/>
          </a:prstGeom>
          <a:noFill/>
        </p:spPr>
        <p:txBody>
          <a:bodyPr wrap="none">
            <a:spAutoFit/>
          </a:bodyPr>
          <a:lstStyle/>
          <a:p>
            <a:pPr>
              <a:defRPr sz="1800" b="1">
                <a:solidFill>
                  <a:srgbClr val="57D2E6"/>
                </a:solidFill>
              </a:defRPr>
            </a:pPr>
            <a:r>
              <a:t>2. AI Demand Forecasting</a:t>
            </a:r>
          </a:p>
        </p:txBody>
      </p:sp>
      <p:sp>
        <p:nvSpPr>
          <p:cNvPr id="9" name="Rectangle 8"/>
          <p:cNvSpPr/>
          <p:nvPr/>
        </p:nvSpPr>
        <p:spPr>
          <a:xfrm>
            <a:off x="731520" y="552297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7842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4–52 week forward forecasts by SKU and branch with confidence intervals</a:t>
            </a:r>
          </a:p>
        </p:txBody>
      </p:sp>
      <p:sp>
        <p:nvSpPr>
          <p:cNvPr id="11" name="TextBox 10"/>
          <p:cNvSpPr txBox="1"/>
          <p:nvPr/>
        </p:nvSpPr>
        <p:spPr>
          <a:xfrm>
            <a:off x="731520" y="6729984"/>
            <a:ext cx="8229600" cy="301752"/>
          </a:xfrm>
          <a:prstGeom prst="rect">
            <a:avLst/>
          </a:prstGeom>
          <a:noFill/>
        </p:spPr>
        <p:txBody>
          <a:bodyPr wrap="none">
            <a:spAutoFit/>
          </a:bodyPr>
          <a:lstStyle/>
          <a:p>
            <a:pPr>
              <a:defRPr sz="1800" b="1">
                <a:solidFill>
                  <a:srgbClr val="57D2E6"/>
                </a:solidFill>
              </a:defRPr>
            </a:pPr>
            <a:r>
              <a:t>3. Data Quality Radar</a:t>
            </a:r>
          </a:p>
        </p:txBody>
      </p:sp>
      <p:sp>
        <p:nvSpPr>
          <p:cNvPr id="12" name="Rectangle 11"/>
          <p:cNvSpPr/>
          <p:nvPr/>
        </p:nvSpPr>
        <p:spPr>
          <a:xfrm>
            <a:off x="731520" y="707745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723290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Completeness scoring, null variance analysis, schema diagnostics</a:t>
            </a:r>
          </a:p>
        </p:txBody>
      </p:sp>
      <p:sp>
        <p:nvSpPr>
          <p:cNvPr id="14" name="TextBox 13"/>
          <p:cNvSpPr txBox="1"/>
          <p:nvPr/>
        </p:nvSpPr>
        <p:spPr>
          <a:xfrm>
            <a:off x="731520" y="8284464"/>
            <a:ext cx="8229600" cy="301752"/>
          </a:xfrm>
          <a:prstGeom prst="rect">
            <a:avLst/>
          </a:prstGeom>
          <a:noFill/>
        </p:spPr>
        <p:txBody>
          <a:bodyPr wrap="none">
            <a:spAutoFit/>
          </a:bodyPr>
          <a:lstStyle/>
          <a:p>
            <a:pPr>
              <a:defRPr sz="1800" b="1">
                <a:solidFill>
                  <a:srgbClr val="57D2E6"/>
                </a:solidFill>
              </a:defRPr>
            </a:pPr>
            <a:r>
              <a:t>4. Data Cleaning Studio</a:t>
            </a:r>
          </a:p>
        </p:txBody>
      </p:sp>
      <p:sp>
        <p:nvSpPr>
          <p:cNvPr id="15" name="Rectangle 14"/>
          <p:cNvSpPr/>
          <p:nvPr/>
        </p:nvSpPr>
        <p:spPr>
          <a:xfrm>
            <a:off x="731520" y="863193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878738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Duplicate removal, null imputation, standardization recommendations</a:t>
            </a:r>
          </a:p>
        </p:txBody>
      </p:sp>
      <p:sp>
        <p:nvSpPr>
          <p:cNvPr id="17" name="TextBox 16"/>
          <p:cNvSpPr txBox="1"/>
          <p:nvPr/>
        </p:nvSpPr>
        <p:spPr>
          <a:xfrm>
            <a:off x="9326880" y="3621024"/>
            <a:ext cx="8229600" cy="301752"/>
          </a:xfrm>
          <a:prstGeom prst="rect">
            <a:avLst/>
          </a:prstGeom>
          <a:noFill/>
        </p:spPr>
        <p:txBody>
          <a:bodyPr wrap="none">
            <a:spAutoFit/>
          </a:bodyPr>
          <a:lstStyle/>
          <a:p>
            <a:pPr>
              <a:defRPr sz="1800" b="1">
                <a:solidFill>
                  <a:srgbClr val="57D2E6"/>
                </a:solidFill>
              </a:defRPr>
            </a:pPr>
            <a:r>
              <a:t>5. Statistical Deep-Dive</a:t>
            </a:r>
          </a:p>
        </p:txBody>
      </p:sp>
      <p:sp>
        <p:nvSpPr>
          <p:cNvPr id="18" name="Rectangle 17"/>
          <p:cNvSpPr/>
          <p:nvPr/>
        </p:nvSpPr>
        <p:spPr>
          <a:xfrm>
            <a:off x="9326880" y="396849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412394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Distributions, correlation matrices, outlier detection, descriptive stats</a:t>
            </a:r>
          </a:p>
        </p:txBody>
      </p:sp>
      <p:sp>
        <p:nvSpPr>
          <p:cNvPr id="20" name="TextBox 19"/>
          <p:cNvSpPr txBox="1"/>
          <p:nvPr/>
        </p:nvSpPr>
        <p:spPr>
          <a:xfrm>
            <a:off x="9326880" y="5175504"/>
            <a:ext cx="8229600" cy="301752"/>
          </a:xfrm>
          <a:prstGeom prst="rect">
            <a:avLst/>
          </a:prstGeom>
          <a:noFill/>
        </p:spPr>
        <p:txBody>
          <a:bodyPr wrap="none">
            <a:spAutoFit/>
          </a:bodyPr>
          <a:lstStyle/>
          <a:p>
            <a:pPr>
              <a:defRPr sz="1800" b="1">
                <a:solidFill>
                  <a:srgbClr val="57D2E6"/>
                </a:solidFill>
              </a:defRPr>
            </a:pPr>
            <a:r>
              <a:t>6. Intelligence Explorer</a:t>
            </a:r>
          </a:p>
        </p:txBody>
      </p:sp>
      <p:sp>
        <p:nvSpPr>
          <p:cNvPr id="21" name="Rectangle 20"/>
          <p:cNvSpPr/>
          <p:nvPr/>
        </p:nvSpPr>
        <p:spPr>
          <a:xfrm>
            <a:off x="9326880" y="552297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567842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Column profiling, attribute search, value distribution analysis</a:t>
            </a:r>
          </a:p>
        </p:txBody>
      </p:sp>
      <p:sp>
        <p:nvSpPr>
          <p:cNvPr id="23" name="TextBox 22"/>
          <p:cNvSpPr txBox="1"/>
          <p:nvPr/>
        </p:nvSpPr>
        <p:spPr>
          <a:xfrm>
            <a:off x="9326880" y="6729984"/>
            <a:ext cx="8229600" cy="301752"/>
          </a:xfrm>
          <a:prstGeom prst="rect">
            <a:avLst/>
          </a:prstGeom>
          <a:noFill/>
        </p:spPr>
        <p:txBody>
          <a:bodyPr wrap="none">
            <a:spAutoFit/>
          </a:bodyPr>
          <a:lstStyle/>
          <a:p>
            <a:pPr>
              <a:defRPr sz="1800" b="1">
                <a:solidFill>
                  <a:srgbClr val="57D2E6"/>
                </a:solidFill>
              </a:defRPr>
            </a:pPr>
            <a:r>
              <a:t>7. C-Suite Reports</a:t>
            </a:r>
          </a:p>
        </p:txBody>
      </p:sp>
      <p:sp>
        <p:nvSpPr>
          <p:cNvPr id="24" name="Rectangle 23"/>
          <p:cNvSpPr/>
          <p:nvPr/>
        </p:nvSpPr>
        <p:spPr>
          <a:xfrm>
            <a:off x="9326880" y="7077456"/>
            <a:ext cx="822960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7232904"/>
            <a:ext cx="8229600" cy="868680"/>
          </a:xfrm>
          <a:prstGeom prst="rect">
            <a:avLst/>
          </a:prstGeom>
          <a:noFill/>
        </p:spPr>
        <p:txBody>
          <a:bodyPr wrap="square">
            <a:spAutoFit/>
          </a:bodyPr>
          <a:lstStyle/>
          <a:p>
            <a:pPr>
              <a:lnSpc>
                <a:spcPct val="140000"/>
              </a:lnSpc>
              <a:spcBef>
                <a:spcPts val="0"/>
              </a:spcBef>
              <a:defRPr sz="2100">
                <a:solidFill>
                  <a:srgbClr val="EDF2F8"/>
                </a:solidFill>
              </a:defRPr>
            </a:pPr>
            <a:r>
              <a:t>Automated PDF briefings, multi-tab Excel exports, CSV downloads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950976"/>
            <a:ext cx="18022824" cy="301752"/>
          </a:xfrm>
          <a:prstGeom prst="rect">
            <a:avLst/>
          </a:prstGeom>
          <a:noFill/>
        </p:spPr>
        <p:txBody>
          <a:bodyPr wrap="none">
            <a:spAutoFit/>
          </a:bodyPr>
          <a:lstStyle/>
          <a:p>
            <a:pPr>
              <a:defRPr sz="1800" b="1">
                <a:solidFill>
                  <a:srgbClr val="57D2E6"/>
                </a:solidFill>
              </a:defRPr>
            </a:pPr>
            <a:r>
              <a:t>14 — TECHNICAL STACK</a:t>
            </a:r>
          </a:p>
        </p:txBody>
      </p:sp>
      <p:sp>
        <p:nvSpPr>
          <p:cNvPr id="3" name="TextBox 2"/>
          <p:cNvSpPr txBox="1"/>
          <p:nvPr/>
        </p:nvSpPr>
        <p:spPr>
          <a:xfrm>
            <a:off x="950976" y="1426464"/>
            <a:ext cx="14712696" cy="1380744"/>
          </a:xfrm>
          <a:prstGeom prst="rect">
            <a:avLst/>
          </a:prstGeom>
          <a:noFill/>
        </p:spPr>
        <p:txBody>
          <a:bodyPr wrap="square">
            <a:spAutoFit/>
          </a:bodyPr>
          <a:lstStyle/>
          <a:p>
            <a:pPr>
              <a:defRPr sz="4800" b="1">
                <a:solidFill>
                  <a:srgbClr val="EDF2F8"/>
                </a:solidFill>
              </a:defRPr>
            </a:pPr>
            <a:r>
              <a:t>Production-grade architecture built for real-time analytics and forecasting</a:t>
            </a:r>
          </a:p>
        </p:txBody>
      </p:sp>
      <p:sp>
        <p:nvSpPr>
          <p:cNvPr id="4" name="Rectangle 3"/>
          <p:cNvSpPr/>
          <p:nvPr/>
        </p:nvSpPr>
        <p:spPr>
          <a:xfrm>
            <a:off x="950976" y="3108960"/>
            <a:ext cx="16386048"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21024"/>
            <a:ext cx="16824960" cy="301752"/>
          </a:xfrm>
          <a:prstGeom prst="rect">
            <a:avLst/>
          </a:prstGeom>
          <a:noFill/>
        </p:spPr>
        <p:txBody>
          <a:bodyPr wrap="none">
            <a:spAutoFit/>
          </a:bodyPr>
          <a:lstStyle/>
          <a:p>
            <a:pPr>
              <a:defRPr sz="1800" b="1">
                <a:solidFill>
                  <a:srgbClr val="6366F1"/>
                </a:solidFill>
              </a:defRPr>
            </a:pPr>
            <a:r>
              <a:t>PRESENTATION LAYER</a:t>
            </a:r>
          </a:p>
        </p:txBody>
      </p:sp>
      <p:sp>
        <p:nvSpPr>
          <p:cNvPr id="6" name="Rectangle 5"/>
          <p:cNvSpPr/>
          <p:nvPr/>
        </p:nvSpPr>
        <p:spPr>
          <a:xfrm>
            <a:off x="731520" y="3968496"/>
            <a:ext cx="1682496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23944"/>
            <a:ext cx="16824960" cy="777240"/>
          </a:xfrm>
          <a:prstGeom prst="rect">
            <a:avLst/>
          </a:prstGeom>
          <a:noFill/>
        </p:spPr>
        <p:txBody>
          <a:bodyPr wrap="square">
            <a:spAutoFit/>
          </a:bodyPr>
          <a:lstStyle/>
          <a:p>
            <a:pPr>
              <a:lnSpc>
                <a:spcPct val="140000"/>
              </a:lnSpc>
              <a:spcBef>
                <a:spcPts val="0"/>
              </a:spcBef>
              <a:defRPr sz="2100">
                <a:solidFill>
                  <a:srgbClr val="EDF2F8"/>
                </a:solidFill>
              </a:defRPr>
            </a:pPr>
            <a:r>
              <a:t>Streamlit 1.30+ — Interactive web framework for rapid deployment</a:t>
            </a:r>
          </a:p>
          <a:p>
            <a:pPr>
              <a:lnSpc>
                <a:spcPct val="140000"/>
              </a:lnSpc>
              <a:spcBef>
                <a:spcPts val="1200"/>
              </a:spcBef>
              <a:defRPr sz="2100">
                <a:solidFill>
                  <a:srgbClr val="EDF2F8"/>
                </a:solidFill>
              </a:defRPr>
            </a:pPr>
            <a:r>
              <a:t>Plotly 5.18+ — Dynamic, interactive visualizations with zoom and hover</a:t>
            </a:r>
          </a:p>
          <a:p>
            <a:pPr>
              <a:lnSpc>
                <a:spcPct val="140000"/>
              </a:lnSpc>
              <a:spcBef>
                <a:spcPts val="1200"/>
              </a:spcBef>
              <a:defRPr sz="2100">
                <a:solidFill>
                  <a:srgbClr val="EDF2F8"/>
                </a:solidFill>
              </a:defRPr>
            </a:pPr>
            <a:r>
              <a:t>Dark and light themes — Optimized for both boardroom projection and desk review</a:t>
            </a:r>
          </a:p>
        </p:txBody>
      </p:sp>
      <p:sp>
        <p:nvSpPr>
          <p:cNvPr id="8" name="TextBox 7"/>
          <p:cNvSpPr txBox="1"/>
          <p:nvPr/>
        </p:nvSpPr>
        <p:spPr>
          <a:xfrm>
            <a:off x="731520" y="5084064"/>
            <a:ext cx="16824960" cy="301752"/>
          </a:xfrm>
          <a:prstGeom prst="rect">
            <a:avLst/>
          </a:prstGeom>
          <a:noFill/>
        </p:spPr>
        <p:txBody>
          <a:bodyPr wrap="none">
            <a:spAutoFit/>
          </a:bodyPr>
          <a:lstStyle/>
          <a:p>
            <a:pPr>
              <a:defRPr sz="1800" b="1">
                <a:solidFill>
                  <a:srgbClr val="10B981"/>
                </a:solidFill>
              </a:defRPr>
            </a:pPr>
            <a:r>
              <a:t>ANALYTICS LAYER</a:t>
            </a:r>
          </a:p>
        </p:txBody>
      </p:sp>
      <p:sp>
        <p:nvSpPr>
          <p:cNvPr id="9" name="Rectangle 8"/>
          <p:cNvSpPr/>
          <p:nvPr/>
        </p:nvSpPr>
        <p:spPr>
          <a:xfrm>
            <a:off x="731520" y="5431536"/>
            <a:ext cx="1682496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86984"/>
            <a:ext cx="16824960" cy="777240"/>
          </a:xfrm>
          <a:prstGeom prst="rect">
            <a:avLst/>
          </a:prstGeom>
          <a:noFill/>
        </p:spPr>
        <p:txBody>
          <a:bodyPr wrap="square">
            <a:spAutoFit/>
          </a:bodyPr>
          <a:lstStyle/>
          <a:p>
            <a:pPr>
              <a:lnSpc>
                <a:spcPct val="140000"/>
              </a:lnSpc>
              <a:spcBef>
                <a:spcPts val="0"/>
              </a:spcBef>
              <a:defRPr sz="2100">
                <a:solidFill>
                  <a:srgbClr val="EDF2F8"/>
                </a:solidFill>
              </a:defRPr>
            </a:pPr>
            <a:r>
              <a:t>Pandas 2.1+ — Data manipulation and aggregation</a:t>
            </a:r>
          </a:p>
          <a:p>
            <a:pPr>
              <a:lnSpc>
                <a:spcPct val="140000"/>
              </a:lnSpc>
              <a:spcBef>
                <a:spcPts val="1200"/>
              </a:spcBef>
              <a:defRPr sz="2100">
                <a:solidFill>
                  <a:srgbClr val="EDF2F8"/>
                </a:solidFill>
              </a:defRPr>
            </a:pPr>
            <a:r>
              <a:t>NumPy 1.26+ — Numerical computing and array operations</a:t>
            </a:r>
          </a:p>
          <a:p>
            <a:pPr>
              <a:lnSpc>
                <a:spcPct val="140000"/>
              </a:lnSpc>
              <a:spcBef>
                <a:spcPts val="1200"/>
              </a:spcBef>
              <a:defRPr sz="2100">
                <a:solidFill>
                  <a:srgbClr val="EDF2F8"/>
                </a:solidFill>
              </a:defRPr>
            </a:pPr>
            <a:r>
              <a:t>SciPy 1.11+ — Statistical functions and distributions</a:t>
            </a:r>
          </a:p>
        </p:txBody>
      </p:sp>
      <p:sp>
        <p:nvSpPr>
          <p:cNvPr id="11" name="TextBox 10"/>
          <p:cNvSpPr txBox="1"/>
          <p:nvPr/>
        </p:nvSpPr>
        <p:spPr>
          <a:xfrm>
            <a:off x="731520" y="6547104"/>
            <a:ext cx="16824960" cy="301752"/>
          </a:xfrm>
          <a:prstGeom prst="rect">
            <a:avLst/>
          </a:prstGeom>
          <a:noFill/>
        </p:spPr>
        <p:txBody>
          <a:bodyPr wrap="none">
            <a:spAutoFit/>
          </a:bodyPr>
          <a:lstStyle/>
          <a:p>
            <a:pPr>
              <a:defRPr sz="1800" b="1">
                <a:solidFill>
                  <a:srgbClr val="F59E0B"/>
                </a:solidFill>
              </a:defRPr>
            </a:pPr>
            <a:r>
              <a:t>FORECASTING LAYER</a:t>
            </a:r>
          </a:p>
        </p:txBody>
      </p:sp>
      <p:sp>
        <p:nvSpPr>
          <p:cNvPr id="12" name="Rectangle 11"/>
          <p:cNvSpPr/>
          <p:nvPr/>
        </p:nvSpPr>
        <p:spPr>
          <a:xfrm>
            <a:off x="731520" y="6894576"/>
            <a:ext cx="1682496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7050024"/>
            <a:ext cx="16824960" cy="777240"/>
          </a:xfrm>
          <a:prstGeom prst="rect">
            <a:avLst/>
          </a:prstGeom>
          <a:noFill/>
        </p:spPr>
        <p:txBody>
          <a:bodyPr wrap="square">
            <a:spAutoFit/>
          </a:bodyPr>
          <a:lstStyle/>
          <a:p>
            <a:pPr>
              <a:lnSpc>
                <a:spcPct val="140000"/>
              </a:lnSpc>
              <a:spcBef>
                <a:spcPts val="0"/>
              </a:spcBef>
              <a:defRPr sz="2100">
                <a:solidFill>
                  <a:srgbClr val="EDF2F8"/>
                </a:solidFill>
              </a:defRPr>
            </a:pPr>
            <a:r>
              <a:t>Statsmodels 0.14+ — ARIMA, SARIMA, Exponential Smoothing time series models</a:t>
            </a:r>
          </a:p>
          <a:p>
            <a:pPr>
              <a:lnSpc>
                <a:spcPct val="140000"/>
              </a:lnSpc>
              <a:spcBef>
                <a:spcPts val="1200"/>
              </a:spcBef>
              <a:defRPr sz="2100">
                <a:solidFill>
                  <a:srgbClr val="EDF2F8"/>
                </a:solidFill>
              </a:defRPr>
            </a:pPr>
            <a:r>
              <a:t>Scikit-learn 1.3+ — Random Forest and Gradient Boosting regressors</a:t>
            </a:r>
          </a:p>
          <a:p>
            <a:pPr>
              <a:lnSpc>
                <a:spcPct val="140000"/>
              </a:lnSpc>
              <a:spcBef>
                <a:spcPts val="1200"/>
              </a:spcBef>
              <a:defRPr sz="2100">
                <a:solidFill>
                  <a:srgbClr val="EDF2F8"/>
                </a:solidFill>
              </a:defRPr>
            </a:pPr>
            <a:r>
              <a:t>Custom feature engineering — Lag features, rolling averages, calendar encoding</a:t>
            </a:r>
          </a:p>
        </p:txBody>
      </p:sp>
      <p:sp>
        <p:nvSpPr>
          <p:cNvPr id="14" name="TextBox 13"/>
          <p:cNvSpPr txBox="1"/>
          <p:nvPr/>
        </p:nvSpPr>
        <p:spPr>
          <a:xfrm>
            <a:off x="731520" y="8010144"/>
            <a:ext cx="16824960" cy="301752"/>
          </a:xfrm>
          <a:prstGeom prst="rect">
            <a:avLst/>
          </a:prstGeom>
          <a:noFill/>
        </p:spPr>
        <p:txBody>
          <a:bodyPr wrap="none">
            <a:spAutoFit/>
          </a:bodyPr>
          <a:lstStyle/>
          <a:p>
            <a:pPr>
              <a:defRPr sz="1800" b="1">
                <a:solidFill>
                  <a:srgbClr val="57D2E6"/>
                </a:solidFill>
              </a:defRPr>
            </a:pPr>
            <a:r>
              <a:t>EXPORT LAYER</a:t>
            </a:r>
          </a:p>
        </p:txBody>
      </p:sp>
      <p:sp>
        <p:nvSpPr>
          <p:cNvPr id="15" name="Rectangle 14"/>
          <p:cNvSpPr/>
          <p:nvPr/>
        </p:nvSpPr>
        <p:spPr>
          <a:xfrm>
            <a:off x="731520" y="8357616"/>
            <a:ext cx="16824960" cy="18288"/>
          </a:xfrm>
          <a:prstGeom prst="rect">
            <a:avLst/>
          </a:prstGeom>
          <a:solidFill>
            <a:srgbClr val="E2E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8513064"/>
            <a:ext cx="16824960" cy="777240"/>
          </a:xfrm>
          <a:prstGeom prst="rect">
            <a:avLst/>
          </a:prstGeom>
          <a:noFill/>
        </p:spPr>
        <p:txBody>
          <a:bodyPr wrap="square">
            <a:spAutoFit/>
          </a:bodyPr>
          <a:lstStyle/>
          <a:p>
            <a:pPr>
              <a:lnSpc>
                <a:spcPct val="140000"/>
              </a:lnSpc>
              <a:spcBef>
                <a:spcPts val="0"/>
              </a:spcBef>
              <a:defRPr sz="2100">
                <a:solidFill>
                  <a:srgbClr val="EDF2F8"/>
                </a:solidFill>
              </a:defRPr>
            </a:pPr>
            <a:r>
              <a:t>FPDF 1.7+ — Professional PDF report generation with formatting</a:t>
            </a:r>
          </a:p>
          <a:p>
            <a:pPr>
              <a:lnSpc>
                <a:spcPct val="140000"/>
              </a:lnSpc>
              <a:spcBef>
                <a:spcPts val="1200"/>
              </a:spcBef>
              <a:defRPr sz="2100">
                <a:solidFill>
                  <a:srgbClr val="EDF2F8"/>
                </a:solidFill>
              </a:defRPr>
            </a:pPr>
            <a:r>
              <a:t>OpenPyXL 3.1+ — Multi-sheet Excel export with styling</a:t>
            </a:r>
          </a:p>
          <a:p>
            <a:pPr>
              <a:lnSpc>
                <a:spcPct val="140000"/>
              </a:lnSpc>
              <a:spcBef>
                <a:spcPts val="1200"/>
              </a:spcBef>
              <a:defRPr sz="2100">
                <a:solidFill>
                  <a:srgbClr val="EDF2F8"/>
                </a:solidFill>
              </a:defRPr>
            </a:pPr>
            <a:r>
              <a:t>Native CSV — Universal compatibility for downstream tools</a:t>
            </a:r>
          </a:p>
        </p:txBody>
      </p:sp>
      <p:sp>
        <p:nvSpPr>
          <p:cNvPr id="17" name="TextBox 16"/>
          <p:cNvSpPr txBox="1"/>
          <p:nvPr/>
        </p:nvSpPr>
        <p:spPr>
          <a:xfrm>
            <a:off x="950976" y="9473184"/>
            <a:ext cx="16459200" cy="731520"/>
          </a:xfrm>
          <a:prstGeom prst="rect">
            <a:avLst/>
          </a:prstGeom>
          <a:noFill/>
        </p:spPr>
        <p:txBody>
          <a:bodyPr wrap="square">
            <a:spAutoFit/>
          </a:bodyPr>
          <a:lstStyle/>
          <a:p>
            <a:pPr>
              <a:defRPr sz="1600">
                <a:solidFill>
                  <a:srgbClr val="93A5BB"/>
                </a:solidFill>
              </a:defRPr>
            </a:pPr>
            <a:r>
              <a:t>OPTIMIZED FOR PERFORMANCE — Cached data loading reduces page load by 85% | Lazy chart evaluation | Efficient pandas operations handle 82K+ rows without lag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2026-09-11T15:58:26Z</dcterms:created>
  <dcterms:modified xsi:type="dcterms:W3CDTF">2026-09-11T15:58:26Z</dcterms:modified>
</cp:coreProperties>
</file>