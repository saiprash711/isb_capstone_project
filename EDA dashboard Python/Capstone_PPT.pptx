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1622"/>
        </a:solidFill>
        <a:effectLst/>
      </p:bgPr>
    </p:bg>
    <p:spTree>
      <p:nvGrpSpPr>
        <p:cNvPr id="1" name=""/>
        <p:cNvGrpSpPr/>
        <p:nvPr/>
      </p:nvGrpSpPr>
      <p:grpSpPr>
        <a:xfrm>
          <a:off x="0" y="0"/>
          <a:ext cx="0" cy="0"/>
          <a:chOff x="0" y="0"/>
          <a:chExt cx="0" cy="0"/>
        </a:xfrm>
      </p:grpSpPr>
      <p:sp>
        <p:nvSpPr>
          <p:cNvPr id="2" name="Shape 0"/>
          <p:cNvSpPr/>
          <p:nvPr/>
        </p:nvSpPr>
        <p:spPr>
          <a:xfrm>
            <a:off x="952500" y="1007269"/>
            <a:ext cx="152400" cy="152400"/>
          </a:xfrm>
          <a:prstGeom prst="rect">
            <a:avLst/>
          </a:prstGeom>
          <a:solidFill>
            <a:srgbClr val="57D2E6"/>
          </a:solidFill>
        </p:spPr>
      </p:sp>
      <p:sp>
        <p:nvSpPr>
          <p:cNvPr id="3" name="Text 1"/>
          <p:cNvSpPr/>
          <p:nvPr/>
        </p:nvSpPr>
        <p:spPr>
          <a:xfrm>
            <a:off x="1295400" y="952500"/>
            <a:ext cx="4103169" cy="300038"/>
          </a:xfrm>
          <a:prstGeom prst="rect">
            <a:avLst/>
          </a:prstGeom>
          <a:noFill/>
        </p:spPr>
        <p:txBody>
          <a:bodyPr wrap="square" lIns="25400" tIns="25400" rIns="25400" bIns="25400" rtlCol="0" anchor="t">
            <a:normAutofit/>
          </a:bodyPr>
          <a:lstStyle/>
          <a:p>
            <a:pPr marL="0" indent="0" algn="l">
              <a:buNone/>
            </a:pPr>
            <a:r>
              <a:rPr lang="en-US" sz="1800" b="1" kern="0" spc="360" dirty="0">
                <a:solidFill>
                  <a:srgbClr val="57D2E6"/>
                </a:solidFill>
                <a:latin typeface="Arial" panose="020B0604020202020204" pitchFamily="34" charset="0"/>
                <a:ea typeface="Arial" panose="020B0604020202020204" pitchFamily="34" charset="-122"/>
                <a:cs typeface="Arial" panose="020B0604020202020204" pitchFamily="34" charset="-120"/>
              </a:rPr>
              <a:t>ISB CAPSTONE PROJECT</a:t>
            </a:r>
            <a:endParaRPr lang="en-US" sz="1800" dirty="0"/>
          </a:p>
        </p:txBody>
      </p:sp>
      <p:sp>
        <p:nvSpPr>
          <p:cNvPr id="4" name="Text 2"/>
          <p:cNvSpPr/>
          <p:nvPr/>
        </p:nvSpPr>
        <p:spPr>
          <a:xfrm>
            <a:off x="952500" y="3567113"/>
            <a:ext cx="16344900" cy="1104900"/>
          </a:xfrm>
          <a:prstGeom prst="rect">
            <a:avLst/>
          </a:prstGeom>
          <a:noFill/>
        </p:spPr>
        <p:txBody>
          <a:bodyPr wrap="square" lIns="25400" tIns="25400" rIns="25400" bIns="25400" rtlCol="0" anchor="t">
            <a:normAutofit/>
          </a:bodyPr>
          <a:lstStyle/>
          <a:p>
            <a:pPr marL="0" indent="0" algn="l">
              <a:lnSpc>
                <a:spcPct val="87000"/>
              </a:lnSpc>
              <a:buNone/>
            </a:pPr>
            <a:r>
              <a:rPr lang="en-US" sz="8400" b="1" kern="0" spc="-252" dirty="0">
                <a:solidFill>
                  <a:srgbClr val="EDF2F8"/>
                </a:solidFill>
                <a:latin typeface="Arial" panose="020B0604020202020204" pitchFamily="34" charset="0"/>
                <a:ea typeface="Arial" panose="020B0604020202020204" pitchFamily="34" charset="-122"/>
                <a:cs typeface="Arial" panose="020B0604020202020204" pitchFamily="34" charset="-120"/>
              </a:rPr>
              <a:t>Supply Chain Intelligence</a:t>
            </a:r>
            <a:endParaRPr lang="en-US" sz="8400" dirty="0"/>
          </a:p>
        </p:txBody>
      </p:sp>
      <p:sp>
        <p:nvSpPr>
          <p:cNvPr id="5" name="Shape 3"/>
          <p:cNvSpPr/>
          <p:nvPr/>
        </p:nvSpPr>
        <p:spPr>
          <a:xfrm>
            <a:off x="952500" y="4976813"/>
            <a:ext cx="14859000" cy="19050"/>
          </a:xfrm>
          <a:prstGeom prst="rect">
            <a:avLst/>
          </a:prstGeom>
          <a:solidFill>
            <a:srgbClr val="57D2E6"/>
          </a:solidFill>
        </p:spPr>
      </p:sp>
      <p:sp>
        <p:nvSpPr>
          <p:cNvPr id="6" name="Text 4"/>
          <p:cNvSpPr/>
          <p:nvPr/>
        </p:nvSpPr>
        <p:spPr>
          <a:xfrm>
            <a:off x="952500" y="5338763"/>
            <a:ext cx="16344900" cy="561975"/>
          </a:xfrm>
          <a:prstGeom prst="rect">
            <a:avLst/>
          </a:prstGeom>
          <a:noFill/>
        </p:spPr>
        <p:txBody>
          <a:bodyPr wrap="square" lIns="25400" tIns="25400" rIns="25400" bIns="25400" rtlCol="0" anchor="t">
            <a:normAutofit/>
          </a:bodyPr>
          <a:lstStyle/>
          <a:p>
            <a:pPr marL="0" indent="0" algn="l">
              <a:lnSpc>
                <a:spcPct val="108000"/>
              </a:lnSpc>
              <a:buNone/>
            </a:pPr>
            <a:r>
              <a:rPr lang="en-US" sz="3300" dirty="0">
                <a:solidFill>
                  <a:srgbClr val="93A5BB"/>
                </a:solidFill>
                <a:latin typeface="Arial" panose="020B0604020202020204" pitchFamily="34" charset="0"/>
                <a:ea typeface="Arial" panose="020B0604020202020204" pitchFamily="34" charset="-122"/>
                <a:cs typeface="Arial" panose="020B0604020202020204" pitchFamily="34" charset="-120"/>
              </a:rPr>
              <a:t>AI Demand Forecasting &amp; Quality Analytics</a:t>
            </a:r>
            <a:endParaRPr lang="en-US" sz="3300" dirty="0"/>
          </a:p>
        </p:txBody>
      </p:sp>
      <p:sp>
        <p:nvSpPr>
          <p:cNvPr id="7" name="Shape 5"/>
          <p:cNvSpPr/>
          <p:nvPr/>
        </p:nvSpPr>
        <p:spPr>
          <a:xfrm>
            <a:off x="952500" y="8215313"/>
            <a:ext cx="16383000" cy="19050"/>
          </a:xfrm>
          <a:prstGeom prst="rect">
            <a:avLst/>
          </a:prstGeom>
          <a:solidFill>
            <a:srgbClr val="E2ECF7">
              <a:alpha val="22000"/>
            </a:srgbClr>
          </a:solidFill>
        </p:spPr>
      </p:sp>
      <p:sp>
        <p:nvSpPr>
          <p:cNvPr id="8" name="Shape 6"/>
          <p:cNvSpPr/>
          <p:nvPr/>
        </p:nvSpPr>
        <p:spPr>
          <a:xfrm>
            <a:off x="5057775" y="8234363"/>
            <a:ext cx="19050" cy="1290638"/>
          </a:xfrm>
          <a:prstGeom prst="rect">
            <a:avLst/>
          </a:prstGeom>
          <a:solidFill>
            <a:srgbClr val="E2ECF7">
              <a:alpha val="22000"/>
            </a:srgbClr>
          </a:solidFill>
        </p:spPr>
      </p:sp>
      <p:sp>
        <p:nvSpPr>
          <p:cNvPr id="9" name="Text 7"/>
          <p:cNvSpPr/>
          <p:nvPr/>
        </p:nvSpPr>
        <p:spPr>
          <a:xfrm>
            <a:off x="952500" y="8615363"/>
            <a:ext cx="4012883" cy="300038"/>
          </a:xfrm>
          <a:prstGeom prst="rect">
            <a:avLst/>
          </a:prstGeom>
          <a:noFill/>
        </p:spPr>
        <p:txBody>
          <a:bodyPr wrap="square" lIns="25400" tIns="25400" rIns="25400" bIns="25400" rtlCol="0" anchor="t">
            <a:normAutofit/>
          </a:bodyPr>
          <a:lstStyle/>
          <a:p>
            <a:pPr marL="0" indent="0" algn="l">
              <a:buNone/>
            </a:pPr>
            <a:r>
              <a:rPr lang="en-US" sz="1800" b="1" kern="0" spc="288" dirty="0">
                <a:solidFill>
                  <a:srgbClr val="93A5BB"/>
                </a:solidFill>
                <a:latin typeface="Arial" panose="020B0604020202020204" pitchFamily="34" charset="0"/>
                <a:ea typeface="Arial" panose="020B0604020202020204" pitchFamily="34" charset="-122"/>
                <a:cs typeface="Arial" panose="020B0604020202020204" pitchFamily="34" charset="-120"/>
              </a:rPr>
              <a:t>SPONSOR</a:t>
            </a:r>
            <a:endParaRPr lang="en-US" sz="1800" dirty="0"/>
          </a:p>
        </p:txBody>
      </p:sp>
      <p:sp>
        <p:nvSpPr>
          <p:cNvPr id="10" name="Text 8"/>
          <p:cNvSpPr/>
          <p:nvPr/>
        </p:nvSpPr>
        <p:spPr>
          <a:xfrm>
            <a:off x="952500" y="9010650"/>
            <a:ext cx="4012883" cy="390525"/>
          </a:xfrm>
          <a:prstGeom prst="rect">
            <a:avLst/>
          </a:prstGeom>
          <a:noFill/>
        </p:spPr>
        <p:txBody>
          <a:bodyPr wrap="square" lIns="25400" tIns="25400" rIns="25400" bIns="25400" rtlCol="0" anchor="t">
            <a:normAutofit/>
          </a:bodyPr>
          <a:lstStyle/>
          <a:p>
            <a:pPr marL="0" indent="0" algn="l">
              <a:buNone/>
            </a:pPr>
            <a:r>
              <a:rPr lang="en-US" sz="2550" dirty="0">
                <a:solidFill>
                  <a:srgbClr val="EDF2F8"/>
                </a:solidFill>
                <a:latin typeface="Arial" panose="020B0604020202020204" pitchFamily="34" charset="0"/>
                <a:ea typeface="Arial" panose="020B0604020202020204" pitchFamily="34" charset="-122"/>
                <a:cs typeface="Arial" panose="020B0604020202020204" pitchFamily="34" charset="-120"/>
              </a:rPr>
              <a:t>Deloitte</a:t>
            </a:r>
            <a:endParaRPr lang="en-US" sz="2550" dirty="0"/>
          </a:p>
        </p:txBody>
      </p:sp>
      <p:sp>
        <p:nvSpPr>
          <p:cNvPr id="11" name="Text 9"/>
          <p:cNvSpPr/>
          <p:nvPr/>
        </p:nvSpPr>
        <p:spPr>
          <a:xfrm>
            <a:off x="5534025" y="8615363"/>
            <a:ext cx="8444865" cy="300038"/>
          </a:xfrm>
          <a:prstGeom prst="rect">
            <a:avLst/>
          </a:prstGeom>
          <a:noFill/>
        </p:spPr>
        <p:txBody>
          <a:bodyPr wrap="square" lIns="25400" tIns="25400" rIns="25400" bIns="25400" rtlCol="0" anchor="t">
            <a:normAutofit/>
          </a:bodyPr>
          <a:lstStyle/>
          <a:p>
            <a:pPr marL="0" indent="0" algn="l">
              <a:buNone/>
            </a:pPr>
            <a:r>
              <a:rPr lang="en-US" sz="1800" b="1" kern="0" spc="288" dirty="0">
                <a:solidFill>
                  <a:srgbClr val="93A5BB"/>
                </a:solidFill>
                <a:latin typeface="Arial" panose="020B0604020202020204" pitchFamily="34" charset="0"/>
                <a:ea typeface="Arial" panose="020B0604020202020204" pitchFamily="34" charset="-122"/>
                <a:cs typeface="Arial" panose="020B0604020202020204" pitchFamily="34" charset="-120"/>
              </a:rPr>
              <a:t>TEAM</a:t>
            </a:r>
            <a:endParaRPr lang="en-US" sz="1800" dirty="0"/>
          </a:p>
        </p:txBody>
      </p:sp>
      <p:sp>
        <p:nvSpPr>
          <p:cNvPr id="12" name="Text 10"/>
          <p:cNvSpPr/>
          <p:nvPr/>
        </p:nvSpPr>
        <p:spPr>
          <a:xfrm>
            <a:off x="5534025" y="9010650"/>
            <a:ext cx="8444865" cy="552450"/>
          </a:xfrm>
          <a:prstGeom prst="rect">
            <a:avLst/>
          </a:prstGeom>
          <a:noFill/>
        </p:spPr>
        <p:txBody>
          <a:bodyPr wrap="square" lIns="25400" tIns="25400" rIns="25400" bIns="25400" rtlCol="0" anchor="t">
            <a:normAutofit/>
          </a:bodyPr>
          <a:lstStyle/>
          <a:p>
            <a:pPr marL="0" indent="0" algn="l">
              <a:buNone/>
            </a:pPr>
            <a:r>
              <a:rPr lang="en-US" sz="2550" dirty="0">
                <a:solidFill>
                  <a:srgbClr val="EDF2F8"/>
                </a:solidFill>
                <a:latin typeface="Arial" panose="020B0604020202020204" pitchFamily="34" charset="0"/>
                <a:ea typeface="Arial" panose="020B0604020202020204" pitchFamily="34" charset="-122"/>
                <a:cs typeface="Arial" panose="020B0604020202020204" pitchFamily="34" charset="-120"/>
              </a:rPr>
              <a:t>Sai Prashanth, Arvind, Hariharan, Vani, Vedika</a:t>
            </a:r>
            <a:endParaRPr lang="en-US" sz="2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E1622"/>
        </a:solidFill>
        <a:effectLst/>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p:spPr>
        <p:txBody>
          <a:bodyPr wrap="square" lIns="25400" tIns="25400" rIns="25400" bIns="25400" rtlCol="0" anchor="t">
            <a:normAutofit/>
          </a:bodyPr>
          <a:lstStyle/>
          <a:p>
            <a:pPr marL="0" indent="0" algn="l">
              <a:buNone/>
            </a:pPr>
            <a:r>
              <a:rPr lang="en-US" sz="1800" b="1" kern="0" spc="360" dirty="0">
                <a:solidFill>
                  <a:srgbClr val="57D2E6"/>
                </a:solidFill>
                <a:latin typeface="Arial" panose="020B0604020202020204" pitchFamily="34" charset="0"/>
                <a:ea typeface="Arial" panose="020B0604020202020204" pitchFamily="34" charset="-122"/>
                <a:cs typeface="Arial" panose="020B0604020202020204" pitchFamily="34" charset="-120"/>
              </a:rPr>
              <a:t>02 — CONTEXT</a:t>
            </a:r>
            <a:endParaRPr lang="en-US" sz="1800" dirty="0"/>
          </a:p>
        </p:txBody>
      </p:sp>
      <p:sp>
        <p:nvSpPr>
          <p:cNvPr id="3" name="Text 1"/>
          <p:cNvSpPr/>
          <p:nvPr/>
        </p:nvSpPr>
        <p:spPr>
          <a:xfrm>
            <a:off x="952500" y="1423988"/>
            <a:ext cx="14716125" cy="1379190"/>
          </a:xfrm>
          <a:prstGeom prst="rect">
            <a:avLst/>
          </a:prstGeom>
          <a:noFill/>
        </p:spPr>
        <p:txBody>
          <a:bodyPr wrap="square" lIns="25400" tIns="25400" rIns="25400" bIns="25400" rtlCol="0" anchor="t">
            <a:normAutofit/>
          </a:bodyPr>
          <a:lstStyle/>
          <a:p>
            <a:pPr marL="0" indent="0" algn="l">
              <a:lnSpc>
                <a:spcPct val="96000"/>
              </a:lnSpc>
              <a:buNone/>
            </a:pPr>
            <a:r>
              <a:rPr lang="en-US" sz="4800" b="1" kern="0" spc="-96" dirty="0">
                <a:solidFill>
                  <a:srgbClr val="EDF2F8"/>
                </a:solidFill>
                <a:latin typeface="Arial" panose="020B0604020202020204" pitchFamily="34" charset="0"/>
                <a:ea typeface="Arial" panose="020B0604020202020204" pitchFamily="34" charset="-122"/>
                <a:cs typeface="Arial" panose="020B0604020202020204" pitchFamily="34" charset="-120"/>
              </a:rPr>
              <a:t>Five hubs and 154 SKUs carry the South India room AC business</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p:spPr>
      </p:sp>
      <p:sp>
        <p:nvSpPr>
          <p:cNvPr id="5" name="Shape 3"/>
          <p:cNvSpPr/>
          <p:nvPr/>
        </p:nvSpPr>
        <p:spPr>
          <a:xfrm>
            <a:off x="9124950" y="3127028"/>
            <a:ext cx="19050" cy="6397972"/>
          </a:xfrm>
          <a:prstGeom prst="rect">
            <a:avLst/>
          </a:prstGeom>
          <a:solidFill>
            <a:srgbClr val="E2ECF7">
              <a:alpha val="22000"/>
            </a:srgbClr>
          </a:solidFill>
        </p:spPr>
      </p:sp>
      <p:sp>
        <p:nvSpPr>
          <p:cNvPr id="6" name="Text 4"/>
          <p:cNvSpPr/>
          <p:nvPr/>
        </p:nvSpPr>
        <p:spPr>
          <a:xfrm>
            <a:off x="952500" y="3622328"/>
            <a:ext cx="7632763" cy="1446758"/>
          </a:xfrm>
          <a:prstGeom prst="rect">
            <a:avLst/>
          </a:prstGeom>
          <a:noFill/>
        </p:spPr>
        <p:txBody>
          <a:bodyPr wrap="square" lIns="25400" tIns="25400" rIns="25400" bIns="25400" rtlCol="0" anchor="t">
            <a:normAutofit/>
          </a:bodyPr>
          <a:lstStyle/>
          <a:p>
            <a:pPr marL="0" indent="0" algn="l">
              <a:lnSpc>
                <a:spcPct val="126000"/>
              </a:lnSpc>
              <a:buNone/>
            </a:pPr>
            <a:r>
              <a:rPr lang="en-US" sz="2550" dirty="0">
                <a:solidFill>
                  <a:srgbClr val="EDF2F8"/>
                </a:solidFill>
                <a:latin typeface="Arial" panose="020B0604020202020204" pitchFamily="34" charset="0"/>
                <a:ea typeface="Arial" panose="020B0604020202020204" pitchFamily="34" charset="-122"/>
                <a:cs typeface="Arial" panose="020B0604020202020204" pitchFamily="34" charset="-120"/>
              </a:rPr>
              <a:t>Forecasting demand and optimizing supply chain distribution for Room Air Conditioners across South India.</a:t>
            </a:r>
            <a:endParaRPr lang="en-US" sz="2550" dirty="0"/>
          </a:p>
        </p:txBody>
      </p:sp>
      <p:sp>
        <p:nvSpPr>
          <p:cNvPr id="7" name="Text 5"/>
          <p:cNvSpPr/>
          <p:nvPr/>
        </p:nvSpPr>
        <p:spPr>
          <a:xfrm>
            <a:off x="952500" y="5297686"/>
            <a:ext cx="7632763" cy="1278210"/>
          </a:xfrm>
          <a:prstGeom prst="rect">
            <a:avLst/>
          </a:prstGeom>
          <a:noFill/>
        </p:spPr>
        <p:txBody>
          <a:bodyPr wrap="square" lIns="25400" tIns="25400" rIns="25400" bIns="25400" rtlCol="0" anchor="t">
            <a:normAutofit/>
          </a:bodyPr>
          <a:lstStyle/>
          <a:p>
            <a:pPr marL="0" indent="0" algn="l">
              <a:lnSpc>
                <a:spcPct val="134000"/>
              </a:lnSpc>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Better forecasts at hub level translate directly into lower safety stock, fewer inter-hub transfers and fewer stockouts in peak season.</a:t>
            </a:r>
            <a:endParaRPr lang="en-US" sz="2100" dirty="0"/>
          </a:p>
        </p:txBody>
      </p:sp>
      <p:sp>
        <p:nvSpPr>
          <p:cNvPr id="8" name="Text 6"/>
          <p:cNvSpPr/>
          <p:nvPr/>
        </p:nvSpPr>
        <p:spPr>
          <a:xfrm>
            <a:off x="952500" y="8382000"/>
            <a:ext cx="8151495" cy="300038"/>
          </a:xfrm>
          <a:prstGeom prst="rect">
            <a:avLst/>
          </a:prstGeom>
          <a:noFill/>
        </p:spPr>
        <p:txBody>
          <a:bodyPr wrap="square" lIns="25400" tIns="25400" rIns="25400" bIns="25400" rtlCol="0" anchor="t">
            <a:normAutofit/>
          </a:bodyPr>
          <a:lstStyle/>
          <a:p>
            <a:pPr marL="0" indent="0" algn="l">
              <a:buNone/>
            </a:pPr>
            <a:r>
              <a:rPr lang="en-US" sz="1800" b="1" kern="0" spc="288" dirty="0">
                <a:solidFill>
                  <a:srgbClr val="93A5BB"/>
                </a:solidFill>
                <a:latin typeface="Arial" panose="020B0604020202020204" pitchFamily="34" charset="0"/>
                <a:ea typeface="Arial" panose="020B0604020202020204" pitchFamily="34" charset="-122"/>
                <a:cs typeface="Arial" panose="020B0604020202020204" pitchFamily="34" charset="-120"/>
              </a:rPr>
              <a:t>REGIONAL HUBS</a:t>
            </a:r>
            <a:endParaRPr lang="en-US" sz="1800" dirty="0"/>
          </a:p>
        </p:txBody>
      </p:sp>
      <p:sp>
        <p:nvSpPr>
          <p:cNvPr id="9" name="Shape 7"/>
          <p:cNvSpPr/>
          <p:nvPr/>
        </p:nvSpPr>
        <p:spPr>
          <a:xfrm>
            <a:off x="952500" y="9505950"/>
            <a:ext cx="7410450" cy="19050"/>
          </a:xfrm>
          <a:prstGeom prst="rect">
            <a:avLst/>
          </a:prstGeom>
          <a:solidFill>
            <a:srgbClr val="E2ECF7">
              <a:alpha val="22000"/>
            </a:srgbClr>
          </a:solidFill>
        </p:spPr>
      </p:sp>
      <p:sp>
        <p:nvSpPr>
          <p:cNvPr id="10" name="Shape 8"/>
          <p:cNvSpPr/>
          <p:nvPr/>
        </p:nvSpPr>
        <p:spPr>
          <a:xfrm>
            <a:off x="952500" y="8758238"/>
            <a:ext cx="7410450" cy="19050"/>
          </a:xfrm>
          <a:prstGeom prst="rect">
            <a:avLst/>
          </a:prstGeom>
          <a:solidFill>
            <a:srgbClr val="E2ECF7">
              <a:alpha val="22000"/>
            </a:srgbClr>
          </a:solidFill>
        </p:spPr>
      </p:sp>
      <p:sp>
        <p:nvSpPr>
          <p:cNvPr id="11" name="Shape 9"/>
          <p:cNvSpPr/>
          <p:nvPr/>
        </p:nvSpPr>
        <p:spPr>
          <a:xfrm>
            <a:off x="2266950" y="8777288"/>
            <a:ext cx="19050" cy="728663"/>
          </a:xfrm>
          <a:prstGeom prst="rect">
            <a:avLst/>
          </a:prstGeom>
          <a:solidFill>
            <a:srgbClr val="E2ECF7">
              <a:alpha val="22000"/>
            </a:srgbClr>
          </a:solidFill>
        </p:spPr>
      </p:sp>
      <p:sp>
        <p:nvSpPr>
          <p:cNvPr id="12" name="Text 10"/>
          <p:cNvSpPr/>
          <p:nvPr/>
        </p:nvSpPr>
        <p:spPr>
          <a:xfrm>
            <a:off x="952500" y="8986838"/>
            <a:ext cx="1390650" cy="347663"/>
          </a:xfrm>
          <a:prstGeom prst="rect">
            <a:avLst/>
          </a:prstGeom>
          <a:noFill/>
        </p:spPr>
        <p:txBody>
          <a:bodyPr wrap="square" lIns="25400" tIns="25400" rIns="25400" bIns="25400" rtlCol="0" anchor="t">
            <a:normAutofit/>
          </a:bodyPr>
          <a:lstStyle/>
          <a:p>
            <a:pPr marL="0" indent="0" algn="l">
              <a:buNone/>
            </a:pPr>
            <a:r>
              <a:rPr lang="en-US" sz="2100" b="1" dirty="0">
                <a:solidFill>
                  <a:srgbClr val="EDF2F8"/>
                </a:solidFill>
                <a:latin typeface="Arial" panose="020B0604020202020204" pitchFamily="34" charset="0"/>
                <a:ea typeface="Arial" panose="020B0604020202020204" pitchFamily="34" charset="-122"/>
                <a:cs typeface="Arial" panose="020B0604020202020204" pitchFamily="34" charset="-120"/>
              </a:rPr>
              <a:t>MAA</a:t>
            </a:r>
            <a:endParaRPr lang="en-US" sz="2100" dirty="0"/>
          </a:p>
        </p:txBody>
      </p:sp>
      <p:sp>
        <p:nvSpPr>
          <p:cNvPr id="13" name="Shape 11"/>
          <p:cNvSpPr/>
          <p:nvPr/>
        </p:nvSpPr>
        <p:spPr>
          <a:xfrm>
            <a:off x="3790950" y="8777288"/>
            <a:ext cx="19050" cy="728663"/>
          </a:xfrm>
          <a:prstGeom prst="rect">
            <a:avLst/>
          </a:prstGeom>
          <a:solidFill>
            <a:srgbClr val="E2ECF7">
              <a:alpha val="22000"/>
            </a:srgbClr>
          </a:solidFill>
        </p:spPr>
      </p:sp>
      <p:sp>
        <p:nvSpPr>
          <p:cNvPr id="14" name="Text 12"/>
          <p:cNvSpPr/>
          <p:nvPr/>
        </p:nvSpPr>
        <p:spPr>
          <a:xfrm>
            <a:off x="2476500" y="8986838"/>
            <a:ext cx="1390650" cy="347663"/>
          </a:xfrm>
          <a:prstGeom prst="rect">
            <a:avLst/>
          </a:prstGeom>
          <a:noFill/>
        </p:spPr>
        <p:txBody>
          <a:bodyPr wrap="square" lIns="25400" tIns="25400" rIns="25400" bIns="25400" rtlCol="0" anchor="t">
            <a:normAutofit/>
          </a:bodyPr>
          <a:lstStyle/>
          <a:p>
            <a:pPr marL="0" indent="0" algn="l">
              <a:buNone/>
            </a:pPr>
            <a:r>
              <a:rPr lang="en-US" sz="2100" b="1" dirty="0">
                <a:solidFill>
                  <a:srgbClr val="EDF2F8"/>
                </a:solidFill>
                <a:latin typeface="Arial" panose="020B0604020202020204" pitchFamily="34" charset="0"/>
                <a:ea typeface="Arial" panose="020B0604020202020204" pitchFamily="34" charset="-122"/>
                <a:cs typeface="Arial" panose="020B0604020202020204" pitchFamily="34" charset="-120"/>
              </a:rPr>
              <a:t>SBD</a:t>
            </a:r>
            <a:endParaRPr lang="en-US" sz="2100" dirty="0"/>
          </a:p>
        </p:txBody>
      </p:sp>
      <p:sp>
        <p:nvSpPr>
          <p:cNvPr id="15" name="Shape 13"/>
          <p:cNvSpPr/>
          <p:nvPr/>
        </p:nvSpPr>
        <p:spPr>
          <a:xfrm>
            <a:off x="5314950" y="8777288"/>
            <a:ext cx="19050" cy="728663"/>
          </a:xfrm>
          <a:prstGeom prst="rect">
            <a:avLst/>
          </a:prstGeom>
          <a:solidFill>
            <a:srgbClr val="E2ECF7">
              <a:alpha val="22000"/>
            </a:srgbClr>
          </a:solidFill>
        </p:spPr>
      </p:sp>
      <p:sp>
        <p:nvSpPr>
          <p:cNvPr id="16" name="Text 14"/>
          <p:cNvSpPr/>
          <p:nvPr/>
        </p:nvSpPr>
        <p:spPr>
          <a:xfrm>
            <a:off x="4000500" y="8986838"/>
            <a:ext cx="1390650" cy="347663"/>
          </a:xfrm>
          <a:prstGeom prst="rect">
            <a:avLst/>
          </a:prstGeom>
          <a:noFill/>
        </p:spPr>
        <p:txBody>
          <a:bodyPr wrap="square" lIns="25400" tIns="25400" rIns="25400" bIns="25400" rtlCol="0" anchor="t">
            <a:normAutofit/>
          </a:bodyPr>
          <a:lstStyle/>
          <a:p>
            <a:pPr marL="0" indent="0" algn="l">
              <a:buNone/>
            </a:pPr>
            <a:r>
              <a:rPr lang="en-US" sz="2100" b="1" dirty="0">
                <a:solidFill>
                  <a:srgbClr val="EDF2F8"/>
                </a:solidFill>
                <a:latin typeface="Arial" panose="020B0604020202020204" pitchFamily="34" charset="0"/>
                <a:ea typeface="Arial" panose="020B0604020202020204" pitchFamily="34" charset="-122"/>
                <a:cs typeface="Arial" panose="020B0604020202020204" pitchFamily="34" charset="-120"/>
              </a:rPr>
              <a:t>SBD1</a:t>
            </a:r>
            <a:endParaRPr lang="en-US" sz="2100" dirty="0"/>
          </a:p>
        </p:txBody>
      </p:sp>
      <p:sp>
        <p:nvSpPr>
          <p:cNvPr id="17" name="Shape 15"/>
          <p:cNvSpPr/>
          <p:nvPr/>
        </p:nvSpPr>
        <p:spPr>
          <a:xfrm>
            <a:off x="6838950" y="8777288"/>
            <a:ext cx="19050" cy="728663"/>
          </a:xfrm>
          <a:prstGeom prst="rect">
            <a:avLst/>
          </a:prstGeom>
          <a:solidFill>
            <a:srgbClr val="E2ECF7">
              <a:alpha val="22000"/>
            </a:srgbClr>
          </a:solidFill>
        </p:spPr>
      </p:sp>
      <p:sp>
        <p:nvSpPr>
          <p:cNvPr id="18" name="Text 16"/>
          <p:cNvSpPr/>
          <p:nvPr/>
        </p:nvSpPr>
        <p:spPr>
          <a:xfrm>
            <a:off x="5524500" y="8986838"/>
            <a:ext cx="1390650" cy="347663"/>
          </a:xfrm>
          <a:prstGeom prst="rect">
            <a:avLst/>
          </a:prstGeom>
          <a:noFill/>
        </p:spPr>
        <p:txBody>
          <a:bodyPr wrap="square" lIns="25400" tIns="25400" rIns="25400" bIns="25400" rtlCol="0" anchor="t">
            <a:normAutofit/>
          </a:bodyPr>
          <a:lstStyle/>
          <a:p>
            <a:pPr marL="0" indent="0" algn="l">
              <a:buNone/>
            </a:pPr>
            <a:r>
              <a:rPr lang="en-US" sz="2100" b="1" dirty="0">
                <a:solidFill>
                  <a:srgbClr val="EDF2F8"/>
                </a:solidFill>
                <a:latin typeface="Arial" panose="020B0604020202020204" pitchFamily="34" charset="0"/>
                <a:ea typeface="Arial" panose="020B0604020202020204" pitchFamily="34" charset="-122"/>
                <a:cs typeface="Arial" panose="020B0604020202020204" pitchFamily="34" charset="-120"/>
              </a:rPr>
              <a:t>COK</a:t>
            </a:r>
            <a:endParaRPr lang="en-US" sz="2100" dirty="0"/>
          </a:p>
        </p:txBody>
      </p:sp>
      <p:sp>
        <p:nvSpPr>
          <p:cNvPr id="19" name="Text 17"/>
          <p:cNvSpPr/>
          <p:nvPr/>
        </p:nvSpPr>
        <p:spPr>
          <a:xfrm>
            <a:off x="7048500" y="8986838"/>
            <a:ext cx="1390650" cy="347663"/>
          </a:xfrm>
          <a:prstGeom prst="rect">
            <a:avLst/>
          </a:prstGeom>
          <a:noFill/>
        </p:spPr>
        <p:txBody>
          <a:bodyPr wrap="square" lIns="25400" tIns="25400" rIns="25400" bIns="25400" rtlCol="0" anchor="t">
            <a:normAutofit/>
          </a:bodyPr>
          <a:lstStyle/>
          <a:p>
            <a:pPr marL="0" indent="0" algn="l">
              <a:buNone/>
            </a:pPr>
            <a:r>
              <a:rPr lang="en-US" sz="2100" b="1" dirty="0">
                <a:solidFill>
                  <a:srgbClr val="EDF2F8"/>
                </a:solidFill>
                <a:latin typeface="Arial" panose="020B0604020202020204" pitchFamily="34" charset="0"/>
                <a:ea typeface="Arial" panose="020B0604020202020204" pitchFamily="34" charset="-122"/>
                <a:cs typeface="Arial" panose="020B0604020202020204" pitchFamily="34" charset="-120"/>
              </a:rPr>
              <a:t>BLR</a:t>
            </a:r>
            <a:endParaRPr lang="en-US" sz="2100" dirty="0"/>
          </a:p>
        </p:txBody>
      </p:sp>
      <p:sp>
        <p:nvSpPr>
          <p:cNvPr id="20" name="Shape 18"/>
          <p:cNvSpPr/>
          <p:nvPr/>
        </p:nvSpPr>
        <p:spPr>
          <a:xfrm>
            <a:off x="9906000" y="5436840"/>
            <a:ext cx="7429500" cy="19050"/>
          </a:xfrm>
          <a:prstGeom prst="rect">
            <a:avLst/>
          </a:prstGeom>
          <a:solidFill>
            <a:srgbClr val="E2ECF7">
              <a:alpha val="22000"/>
            </a:srgbClr>
          </a:solidFill>
        </p:spPr>
      </p:sp>
      <p:sp>
        <p:nvSpPr>
          <p:cNvPr id="21" name="Text 19"/>
          <p:cNvSpPr/>
          <p:nvPr/>
        </p:nvSpPr>
        <p:spPr>
          <a:xfrm>
            <a:off x="9906000" y="3622328"/>
            <a:ext cx="8172450" cy="1085850"/>
          </a:xfrm>
          <a:prstGeom prst="rect">
            <a:avLst/>
          </a:prstGeom>
          <a:noFill/>
        </p:spPr>
        <p:txBody>
          <a:bodyPr wrap="square" lIns="25400" tIns="25400" rIns="25400" bIns="25400" rtlCol="0" anchor="t">
            <a:normAutofit/>
          </a:bodyPr>
          <a:lstStyle/>
          <a:p>
            <a:pPr marL="0" indent="0" algn="l">
              <a:lnSpc>
                <a:spcPct val="87000"/>
              </a:lnSpc>
              <a:buNone/>
            </a:pPr>
            <a:r>
              <a:rPr lang="en-US" sz="8250" b="1" kern="0" spc="-330" dirty="0">
                <a:solidFill>
                  <a:srgbClr val="57D2E6"/>
                </a:solidFill>
                <a:latin typeface="Arial" panose="020B0604020202020204" pitchFamily="34" charset="0"/>
                <a:ea typeface="Arial" panose="020B0604020202020204" pitchFamily="34" charset="-122"/>
                <a:cs typeface="Arial" panose="020B0604020202020204" pitchFamily="34" charset="-120"/>
              </a:rPr>
              <a:t>154</a:t>
            </a:r>
            <a:endParaRPr lang="en-US" sz="8250" dirty="0"/>
          </a:p>
        </p:txBody>
      </p:sp>
      <p:sp>
        <p:nvSpPr>
          <p:cNvPr id="22" name="Text 20"/>
          <p:cNvSpPr/>
          <p:nvPr/>
        </p:nvSpPr>
        <p:spPr>
          <a:xfrm>
            <a:off x="9906000" y="4765328"/>
            <a:ext cx="8172450" cy="328613"/>
          </a:xfrm>
          <a:prstGeom prst="rect">
            <a:avLst/>
          </a:prstGeom>
          <a:noFill/>
        </p:spPr>
        <p:txBody>
          <a:bodyPr wrap="square" lIns="25400" tIns="25400" rIns="25400" bIns="25400" rtlCol="0" anchor="t">
            <a:normAutofit/>
          </a:bodyPr>
          <a:lstStyle/>
          <a:p>
            <a:pPr marL="0" indent="0" algn="l">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Active SKUs in scope</a:t>
            </a:r>
            <a:endParaRPr lang="en-US" sz="2100" dirty="0"/>
          </a:p>
        </p:txBody>
      </p:sp>
      <p:sp>
        <p:nvSpPr>
          <p:cNvPr id="23" name="Shape 21"/>
          <p:cNvSpPr/>
          <p:nvPr/>
        </p:nvSpPr>
        <p:spPr>
          <a:xfrm>
            <a:off x="9906000" y="7651403"/>
            <a:ext cx="7429500" cy="19050"/>
          </a:xfrm>
          <a:prstGeom prst="rect">
            <a:avLst/>
          </a:prstGeom>
          <a:solidFill>
            <a:srgbClr val="E2ECF7">
              <a:alpha val="22000"/>
            </a:srgbClr>
          </a:solidFill>
        </p:spPr>
      </p:sp>
      <p:sp>
        <p:nvSpPr>
          <p:cNvPr id="24" name="Text 22"/>
          <p:cNvSpPr/>
          <p:nvPr/>
        </p:nvSpPr>
        <p:spPr>
          <a:xfrm>
            <a:off x="9906000" y="5836890"/>
            <a:ext cx="8172450" cy="1085850"/>
          </a:xfrm>
          <a:prstGeom prst="rect">
            <a:avLst/>
          </a:prstGeom>
          <a:noFill/>
        </p:spPr>
        <p:txBody>
          <a:bodyPr wrap="square" lIns="25400" tIns="25400" rIns="25400" bIns="25400" rtlCol="0" anchor="t">
            <a:normAutofit/>
          </a:bodyPr>
          <a:lstStyle/>
          <a:p>
            <a:pPr marL="0" indent="0" algn="l">
              <a:lnSpc>
                <a:spcPct val="87000"/>
              </a:lnSpc>
              <a:buNone/>
            </a:pPr>
            <a:r>
              <a:rPr lang="en-US" sz="8250" b="1" kern="0" spc="-330" dirty="0">
                <a:solidFill>
                  <a:srgbClr val="57D2E6"/>
                </a:solidFill>
                <a:latin typeface="Arial" panose="020B0604020202020204" pitchFamily="34" charset="0"/>
                <a:ea typeface="Arial" panose="020B0604020202020204" pitchFamily="34" charset="-122"/>
                <a:cs typeface="Arial" panose="020B0604020202020204" pitchFamily="34" charset="-120"/>
              </a:rPr>
              <a:t>5</a:t>
            </a:r>
            <a:endParaRPr lang="en-US" sz="8250" dirty="0"/>
          </a:p>
        </p:txBody>
      </p:sp>
      <p:sp>
        <p:nvSpPr>
          <p:cNvPr id="25" name="Text 23"/>
          <p:cNvSpPr/>
          <p:nvPr/>
        </p:nvSpPr>
        <p:spPr>
          <a:xfrm>
            <a:off x="9906000" y="6979890"/>
            <a:ext cx="8172450" cy="328613"/>
          </a:xfrm>
          <a:prstGeom prst="rect">
            <a:avLst/>
          </a:prstGeom>
          <a:noFill/>
        </p:spPr>
        <p:txBody>
          <a:bodyPr wrap="square" lIns="25400" tIns="25400" rIns="25400" bIns="25400" rtlCol="0" anchor="t">
            <a:normAutofit/>
          </a:bodyPr>
          <a:lstStyle/>
          <a:p>
            <a:pPr marL="0" indent="0" algn="l">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Regional distribution hubs</a:t>
            </a:r>
            <a:endParaRPr lang="en-US" sz="2100" dirty="0"/>
          </a:p>
        </p:txBody>
      </p:sp>
      <p:sp>
        <p:nvSpPr>
          <p:cNvPr id="26" name="Text 24"/>
          <p:cNvSpPr/>
          <p:nvPr/>
        </p:nvSpPr>
        <p:spPr>
          <a:xfrm>
            <a:off x="9906000" y="8051453"/>
            <a:ext cx="8172450" cy="1085850"/>
          </a:xfrm>
          <a:prstGeom prst="rect">
            <a:avLst/>
          </a:prstGeom>
          <a:noFill/>
        </p:spPr>
        <p:txBody>
          <a:bodyPr wrap="square" lIns="25400" tIns="25400" rIns="25400" bIns="25400" rtlCol="0" anchor="t">
            <a:normAutofit/>
          </a:bodyPr>
          <a:lstStyle/>
          <a:p>
            <a:pPr marL="0" indent="0" algn="l">
              <a:lnSpc>
                <a:spcPct val="87000"/>
              </a:lnSpc>
              <a:buNone/>
            </a:pPr>
            <a:r>
              <a:rPr lang="en-US" sz="8250" b="1" kern="0" spc="-330" dirty="0">
                <a:solidFill>
                  <a:srgbClr val="57D2E6"/>
                </a:solidFill>
                <a:latin typeface="Arial" panose="020B0604020202020204" pitchFamily="34" charset="0"/>
                <a:ea typeface="Arial" panose="020B0604020202020204" pitchFamily="34" charset="-122"/>
                <a:cs typeface="Arial" panose="020B0604020202020204" pitchFamily="34" charset="-120"/>
              </a:rPr>
              <a:t>3</a:t>
            </a:r>
            <a:endParaRPr lang="en-US" sz="8250" dirty="0"/>
          </a:p>
        </p:txBody>
      </p:sp>
      <p:sp>
        <p:nvSpPr>
          <p:cNvPr id="27" name="Text 25"/>
          <p:cNvSpPr/>
          <p:nvPr/>
        </p:nvSpPr>
        <p:spPr>
          <a:xfrm>
            <a:off x="9906000" y="9194453"/>
            <a:ext cx="8172450" cy="328613"/>
          </a:xfrm>
          <a:prstGeom prst="rect">
            <a:avLst/>
          </a:prstGeom>
          <a:noFill/>
        </p:spPr>
        <p:txBody>
          <a:bodyPr wrap="square" lIns="25400" tIns="25400" rIns="25400" bIns="25400" rtlCol="0" anchor="t">
            <a:normAutofit/>
          </a:bodyPr>
          <a:lstStyle/>
          <a:p>
            <a:pPr marL="0" indent="0" algn="l">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Fiscal years of billing data — Jul 2022 to Jun 2024</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E1622"/>
        </a:solidFill>
        <a:effectLst/>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p:spPr>
        <p:txBody>
          <a:bodyPr wrap="square" lIns="25400" tIns="25400" rIns="25400" bIns="25400" rtlCol="0" anchor="t">
            <a:normAutofit/>
          </a:bodyPr>
          <a:lstStyle/>
          <a:p>
            <a:pPr marL="0" indent="0" algn="l">
              <a:buNone/>
            </a:pPr>
            <a:r>
              <a:rPr lang="en-US" sz="1800" b="1" kern="0" spc="360" dirty="0">
                <a:solidFill>
                  <a:srgbClr val="57D2E6"/>
                </a:solidFill>
                <a:latin typeface="Arial" panose="020B0604020202020204" pitchFamily="34" charset="0"/>
                <a:ea typeface="Arial" panose="020B0604020202020204" pitchFamily="34" charset="-122"/>
                <a:cs typeface="Arial" panose="020B0604020202020204" pitchFamily="34" charset="-120"/>
              </a:rPr>
              <a:t>03 — DATA</a:t>
            </a:r>
            <a:endParaRPr lang="en-US" sz="1800" dirty="0"/>
          </a:p>
        </p:txBody>
      </p:sp>
      <p:sp>
        <p:nvSpPr>
          <p:cNvPr id="3" name="Text 1"/>
          <p:cNvSpPr/>
          <p:nvPr/>
        </p:nvSpPr>
        <p:spPr>
          <a:xfrm>
            <a:off x="952500" y="1423988"/>
            <a:ext cx="15304770" cy="1379190"/>
          </a:xfrm>
          <a:prstGeom prst="rect">
            <a:avLst/>
          </a:prstGeom>
          <a:noFill/>
        </p:spPr>
        <p:txBody>
          <a:bodyPr wrap="square" lIns="25400" tIns="25400" rIns="25400" bIns="25400" rtlCol="0" anchor="t">
            <a:normAutofit/>
          </a:bodyPr>
          <a:lstStyle/>
          <a:p>
            <a:pPr marL="0" indent="0" algn="l">
              <a:lnSpc>
                <a:spcPct val="96000"/>
              </a:lnSpc>
              <a:buNone/>
            </a:pPr>
            <a:r>
              <a:rPr lang="en-US" sz="4800" b="1" kern="0" spc="-96" dirty="0">
                <a:solidFill>
                  <a:srgbClr val="EDF2F8"/>
                </a:solidFill>
                <a:latin typeface="Arial" panose="020B0604020202020204" pitchFamily="34" charset="0"/>
                <a:ea typeface="Arial" panose="020B0604020202020204" pitchFamily="34" charset="-122"/>
                <a:cs typeface="Arial" panose="020B0604020202020204" pitchFamily="34" charset="-120"/>
              </a:rPr>
              <a:t>The billing data is 95% complete, but a structural gap in Q1 FY24-25 caps the usable history</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p:spPr>
      </p:sp>
      <p:sp>
        <p:nvSpPr>
          <p:cNvPr id="5" name="Shape 3"/>
          <p:cNvSpPr/>
          <p:nvPr/>
        </p:nvSpPr>
        <p:spPr>
          <a:xfrm>
            <a:off x="952500" y="5752058"/>
            <a:ext cx="16383000" cy="19050"/>
          </a:xfrm>
          <a:prstGeom prst="rect">
            <a:avLst/>
          </a:prstGeom>
          <a:solidFill>
            <a:srgbClr val="E2ECF7">
              <a:alpha val="22000"/>
            </a:srgbClr>
          </a:solidFill>
        </p:spPr>
      </p:sp>
      <p:sp>
        <p:nvSpPr>
          <p:cNvPr id="6" name="Shape 4"/>
          <p:cNvSpPr/>
          <p:nvPr/>
        </p:nvSpPr>
        <p:spPr>
          <a:xfrm>
            <a:off x="952500" y="3622328"/>
            <a:ext cx="16383000" cy="19050"/>
          </a:xfrm>
          <a:prstGeom prst="rect">
            <a:avLst/>
          </a:prstGeom>
          <a:solidFill>
            <a:srgbClr val="E2ECF7">
              <a:alpha val="22000"/>
            </a:srgbClr>
          </a:solidFill>
        </p:spPr>
      </p:sp>
      <p:sp>
        <p:nvSpPr>
          <p:cNvPr id="7" name="Shape 5"/>
          <p:cNvSpPr/>
          <p:nvPr/>
        </p:nvSpPr>
        <p:spPr>
          <a:xfrm>
            <a:off x="5029200" y="3641378"/>
            <a:ext cx="19050" cy="2110680"/>
          </a:xfrm>
          <a:prstGeom prst="rect">
            <a:avLst/>
          </a:prstGeom>
          <a:solidFill>
            <a:srgbClr val="E2ECF7">
              <a:alpha val="22000"/>
            </a:srgbClr>
          </a:solidFill>
        </p:spPr>
      </p:sp>
      <p:sp>
        <p:nvSpPr>
          <p:cNvPr id="8" name="Text 6"/>
          <p:cNvSpPr/>
          <p:nvPr/>
        </p:nvSpPr>
        <p:spPr>
          <a:xfrm>
            <a:off x="952500" y="3984278"/>
            <a:ext cx="4065270" cy="628650"/>
          </a:xfrm>
          <a:prstGeom prst="rect">
            <a:avLst/>
          </a:prstGeom>
          <a:noFill/>
        </p:spPr>
        <p:txBody>
          <a:bodyPr wrap="square" lIns="25400" tIns="25400" rIns="25400" bIns="25400" rtlCol="0" anchor="t">
            <a:normAutofit/>
          </a:bodyPr>
          <a:lstStyle/>
          <a:p>
            <a:pPr marL="0" indent="0" algn="l">
              <a:lnSpc>
                <a:spcPct val="87000"/>
              </a:lnSpc>
              <a:buNone/>
            </a:pPr>
            <a:r>
              <a:rPr lang="en-US" sz="4650" b="1" kern="0" spc="-139" dirty="0">
                <a:solidFill>
                  <a:srgbClr val="EDF2F8"/>
                </a:solidFill>
                <a:latin typeface="Arial" panose="020B0604020202020204" pitchFamily="34" charset="0"/>
                <a:ea typeface="Arial" panose="020B0604020202020204" pitchFamily="34" charset="-122"/>
                <a:cs typeface="Arial" panose="020B0604020202020204" pitchFamily="34" charset="-120"/>
              </a:rPr>
              <a:t>82,034</a:t>
            </a:r>
            <a:endParaRPr lang="en-US" sz="4650" dirty="0"/>
          </a:p>
        </p:txBody>
      </p:sp>
      <p:sp>
        <p:nvSpPr>
          <p:cNvPr id="9" name="Text 7"/>
          <p:cNvSpPr/>
          <p:nvPr/>
        </p:nvSpPr>
        <p:spPr>
          <a:xfrm>
            <a:off x="952500" y="4689128"/>
            <a:ext cx="4065270" cy="398115"/>
          </a:xfrm>
          <a:prstGeom prst="rect">
            <a:avLst/>
          </a:prstGeom>
          <a:noFill/>
        </p:spPr>
        <p:txBody>
          <a:bodyPr wrap="square" lIns="25400" tIns="25400" rIns="25400" bIns="25400" rtlCol="0" anchor="t">
            <a:normAutofit/>
          </a:bodyPr>
          <a:lstStyle/>
          <a:p>
            <a:pPr marL="0" indent="0" algn="l">
              <a:lnSpc>
                <a:spcPct val="116000"/>
              </a:lnSpc>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Transaction records</a:t>
            </a:r>
            <a:endParaRPr lang="en-US" sz="2100" dirty="0"/>
          </a:p>
        </p:txBody>
      </p:sp>
      <p:sp>
        <p:nvSpPr>
          <p:cNvPr id="10" name="Shape 8"/>
          <p:cNvSpPr/>
          <p:nvPr/>
        </p:nvSpPr>
        <p:spPr>
          <a:xfrm>
            <a:off x="9124950" y="3641378"/>
            <a:ext cx="19050" cy="2110680"/>
          </a:xfrm>
          <a:prstGeom prst="rect">
            <a:avLst/>
          </a:prstGeom>
          <a:solidFill>
            <a:srgbClr val="E2ECF7">
              <a:alpha val="22000"/>
            </a:srgbClr>
          </a:solidFill>
        </p:spPr>
      </p:sp>
      <p:sp>
        <p:nvSpPr>
          <p:cNvPr id="11" name="Text 9"/>
          <p:cNvSpPr/>
          <p:nvPr/>
        </p:nvSpPr>
        <p:spPr>
          <a:xfrm>
            <a:off x="5429250" y="3984278"/>
            <a:ext cx="3646170" cy="628650"/>
          </a:xfrm>
          <a:prstGeom prst="rect">
            <a:avLst/>
          </a:prstGeom>
          <a:noFill/>
        </p:spPr>
        <p:txBody>
          <a:bodyPr wrap="square" lIns="25400" tIns="25400" rIns="25400" bIns="25400" rtlCol="0" anchor="t">
            <a:normAutofit/>
          </a:bodyPr>
          <a:lstStyle/>
          <a:p>
            <a:pPr marL="0" indent="0" algn="l">
              <a:lnSpc>
                <a:spcPct val="87000"/>
              </a:lnSpc>
              <a:buNone/>
            </a:pPr>
            <a:r>
              <a:rPr lang="en-US" sz="4650" b="1" kern="0" spc="-139" dirty="0">
                <a:solidFill>
                  <a:srgbClr val="57D2E6"/>
                </a:solidFill>
                <a:latin typeface="Arial" panose="020B0604020202020204" pitchFamily="34" charset="0"/>
                <a:ea typeface="Arial" panose="020B0604020202020204" pitchFamily="34" charset="-122"/>
                <a:cs typeface="Arial" panose="020B0604020202020204" pitchFamily="34" charset="-120"/>
              </a:rPr>
              <a:t>94.99%</a:t>
            </a:r>
            <a:endParaRPr lang="en-US" sz="4650" dirty="0"/>
          </a:p>
        </p:txBody>
      </p:sp>
      <p:sp>
        <p:nvSpPr>
          <p:cNvPr id="12" name="Text 10"/>
          <p:cNvSpPr/>
          <p:nvPr/>
        </p:nvSpPr>
        <p:spPr>
          <a:xfrm>
            <a:off x="5429250" y="4689128"/>
            <a:ext cx="3646170" cy="398115"/>
          </a:xfrm>
          <a:prstGeom prst="rect">
            <a:avLst/>
          </a:prstGeom>
          <a:noFill/>
        </p:spPr>
        <p:txBody>
          <a:bodyPr wrap="square" lIns="25400" tIns="25400" rIns="25400" bIns="25400" rtlCol="0" anchor="t">
            <a:normAutofit/>
          </a:bodyPr>
          <a:lstStyle/>
          <a:p>
            <a:pPr marL="0" indent="0" algn="l">
              <a:lnSpc>
                <a:spcPct val="116000"/>
              </a:lnSpc>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Field completeness</a:t>
            </a:r>
            <a:endParaRPr lang="en-US" sz="2100" dirty="0"/>
          </a:p>
        </p:txBody>
      </p:sp>
      <p:sp>
        <p:nvSpPr>
          <p:cNvPr id="13" name="Shape 11"/>
          <p:cNvSpPr/>
          <p:nvPr/>
        </p:nvSpPr>
        <p:spPr>
          <a:xfrm>
            <a:off x="13220700" y="3641378"/>
            <a:ext cx="19050" cy="2110680"/>
          </a:xfrm>
          <a:prstGeom prst="rect">
            <a:avLst/>
          </a:prstGeom>
          <a:solidFill>
            <a:srgbClr val="E2ECF7">
              <a:alpha val="22000"/>
            </a:srgbClr>
          </a:solidFill>
        </p:spPr>
      </p:sp>
      <p:sp>
        <p:nvSpPr>
          <p:cNvPr id="14" name="Text 12"/>
          <p:cNvSpPr/>
          <p:nvPr/>
        </p:nvSpPr>
        <p:spPr>
          <a:xfrm>
            <a:off x="9525000" y="3984278"/>
            <a:ext cx="3646170" cy="628650"/>
          </a:xfrm>
          <a:prstGeom prst="rect">
            <a:avLst/>
          </a:prstGeom>
          <a:noFill/>
        </p:spPr>
        <p:txBody>
          <a:bodyPr wrap="square" lIns="25400" tIns="25400" rIns="25400" bIns="25400" rtlCol="0" anchor="t">
            <a:normAutofit/>
          </a:bodyPr>
          <a:lstStyle/>
          <a:p>
            <a:pPr marL="0" indent="0" algn="l">
              <a:lnSpc>
                <a:spcPct val="87000"/>
              </a:lnSpc>
              <a:buNone/>
            </a:pPr>
            <a:r>
              <a:rPr lang="en-US" sz="4650" b="1" kern="0" spc="-139" dirty="0">
                <a:solidFill>
                  <a:srgbClr val="EDF2F8"/>
                </a:solidFill>
                <a:latin typeface="Arial" panose="020B0604020202020204" pitchFamily="34" charset="0"/>
                <a:ea typeface="Arial" panose="020B0604020202020204" pitchFamily="34" charset="-122"/>
                <a:cs typeface="Arial" panose="020B0604020202020204" pitchFamily="34" charset="-120"/>
              </a:rPr>
              <a:t>4,463</a:t>
            </a:r>
            <a:endParaRPr lang="en-US" sz="4650" dirty="0"/>
          </a:p>
        </p:txBody>
      </p:sp>
      <p:sp>
        <p:nvSpPr>
          <p:cNvPr id="15" name="Text 13"/>
          <p:cNvSpPr/>
          <p:nvPr/>
        </p:nvSpPr>
        <p:spPr>
          <a:xfrm>
            <a:off x="9525000" y="4689128"/>
            <a:ext cx="3646170" cy="398115"/>
          </a:xfrm>
          <a:prstGeom prst="rect">
            <a:avLst/>
          </a:prstGeom>
          <a:noFill/>
        </p:spPr>
        <p:txBody>
          <a:bodyPr wrap="square" lIns="25400" tIns="25400" rIns="25400" bIns="25400" rtlCol="0" anchor="t">
            <a:normAutofit/>
          </a:bodyPr>
          <a:lstStyle/>
          <a:p>
            <a:pPr marL="0" indent="0" algn="l">
              <a:lnSpc>
                <a:spcPct val="116000"/>
              </a:lnSpc>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Duplicate records — 5.44%</a:t>
            </a:r>
            <a:endParaRPr lang="en-US" sz="2100" dirty="0"/>
          </a:p>
        </p:txBody>
      </p:sp>
      <p:sp>
        <p:nvSpPr>
          <p:cNvPr id="16" name="Text 14"/>
          <p:cNvSpPr/>
          <p:nvPr/>
        </p:nvSpPr>
        <p:spPr>
          <a:xfrm>
            <a:off x="13620750" y="3984278"/>
            <a:ext cx="4086225" cy="628650"/>
          </a:xfrm>
          <a:prstGeom prst="rect">
            <a:avLst/>
          </a:prstGeom>
          <a:noFill/>
        </p:spPr>
        <p:txBody>
          <a:bodyPr wrap="square" lIns="25400" tIns="25400" rIns="25400" bIns="25400" rtlCol="0" anchor="t">
            <a:normAutofit/>
          </a:bodyPr>
          <a:lstStyle/>
          <a:p>
            <a:pPr marL="0" indent="0" algn="l">
              <a:lnSpc>
                <a:spcPct val="87000"/>
              </a:lnSpc>
              <a:buNone/>
            </a:pPr>
            <a:r>
              <a:rPr lang="en-US" sz="4650" b="1" kern="0" spc="-139" dirty="0">
                <a:solidFill>
                  <a:srgbClr val="E2745F"/>
                </a:solidFill>
                <a:latin typeface="Arial" panose="020B0604020202020204" pitchFamily="34" charset="0"/>
                <a:ea typeface="Arial" panose="020B0604020202020204" pitchFamily="34" charset="-122"/>
                <a:cs typeface="Arial" panose="020B0604020202020204" pitchFamily="34" charset="-120"/>
              </a:rPr>
              <a:t>23,603</a:t>
            </a:r>
            <a:endParaRPr lang="en-US" sz="4650" dirty="0"/>
          </a:p>
        </p:txBody>
      </p:sp>
      <p:sp>
        <p:nvSpPr>
          <p:cNvPr id="17" name="Text 15"/>
          <p:cNvSpPr/>
          <p:nvPr/>
        </p:nvSpPr>
        <p:spPr>
          <a:xfrm>
            <a:off x="13620750" y="4689128"/>
            <a:ext cx="3826193" cy="758130"/>
          </a:xfrm>
          <a:prstGeom prst="rect">
            <a:avLst/>
          </a:prstGeom>
          <a:noFill/>
        </p:spPr>
        <p:txBody>
          <a:bodyPr wrap="square" lIns="25400" tIns="25400" rIns="25400" bIns="25400" rtlCol="0" anchor="t">
            <a:normAutofit/>
          </a:bodyPr>
          <a:lstStyle/>
          <a:p>
            <a:pPr marL="0" indent="0" algn="l">
              <a:lnSpc>
                <a:spcPct val="116000"/>
              </a:lnSpc>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Rows missing structurally — 28.77%, Q1 FY24-25</a:t>
            </a:r>
            <a:endParaRPr lang="en-US" sz="2100" dirty="0"/>
          </a:p>
        </p:txBody>
      </p:sp>
      <p:sp>
        <p:nvSpPr>
          <p:cNvPr id="18" name="Shape 16"/>
          <p:cNvSpPr/>
          <p:nvPr/>
        </p:nvSpPr>
        <p:spPr>
          <a:xfrm>
            <a:off x="10763250" y="5771108"/>
            <a:ext cx="19050" cy="3753892"/>
          </a:xfrm>
          <a:prstGeom prst="rect">
            <a:avLst/>
          </a:prstGeom>
          <a:solidFill>
            <a:srgbClr val="E2ECF7">
              <a:alpha val="22000"/>
            </a:srgbClr>
          </a:solidFill>
        </p:spPr>
      </p:sp>
      <p:sp>
        <p:nvSpPr>
          <p:cNvPr id="19" name="Text 17"/>
          <p:cNvSpPr/>
          <p:nvPr/>
        </p:nvSpPr>
        <p:spPr>
          <a:xfrm>
            <a:off x="952500" y="6266408"/>
            <a:ext cx="9953625" cy="300038"/>
          </a:xfrm>
          <a:prstGeom prst="rect">
            <a:avLst/>
          </a:prstGeom>
          <a:noFill/>
        </p:spPr>
        <p:txBody>
          <a:bodyPr wrap="square" lIns="25400" tIns="25400" rIns="25400" bIns="25400" rtlCol="0" anchor="t">
            <a:normAutofit/>
          </a:bodyPr>
          <a:lstStyle/>
          <a:p>
            <a:pPr marL="0" indent="0" algn="l">
              <a:buNone/>
            </a:pPr>
            <a:r>
              <a:rPr lang="en-US" sz="1800" b="1" kern="0" spc="288" dirty="0">
                <a:solidFill>
                  <a:srgbClr val="93A5BB"/>
                </a:solidFill>
                <a:latin typeface="Arial" panose="020B0604020202020204" pitchFamily="34" charset="0"/>
                <a:ea typeface="Arial" panose="020B0604020202020204" pitchFamily="34" charset="-122"/>
                <a:cs typeface="Arial" panose="020B0604020202020204" pitchFamily="34" charset="-120"/>
              </a:rPr>
              <a:t>VOLUME RECONCILIATION — UNITS</a:t>
            </a:r>
            <a:endParaRPr lang="en-US" sz="1800" dirty="0"/>
          </a:p>
        </p:txBody>
      </p:sp>
      <p:sp>
        <p:nvSpPr>
          <p:cNvPr id="20" name="Text 18"/>
          <p:cNvSpPr/>
          <p:nvPr/>
        </p:nvSpPr>
        <p:spPr>
          <a:xfrm>
            <a:off x="952500" y="6849814"/>
            <a:ext cx="1781175" cy="328613"/>
          </a:xfrm>
          <a:prstGeom prst="rect">
            <a:avLst/>
          </a:prstGeom>
          <a:noFill/>
        </p:spPr>
        <p:txBody>
          <a:bodyPr wrap="square" lIns="25400" tIns="25400" rIns="25400" bIns="25400" rtlCol="0" anchor="t">
            <a:normAutofit/>
          </a:bodyPr>
          <a:lstStyle/>
          <a:p>
            <a:pPr marL="0" indent="0" algn="l">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Gross</a:t>
            </a:r>
            <a:endParaRPr lang="en-US" sz="2100" dirty="0"/>
          </a:p>
        </p:txBody>
      </p:sp>
      <p:sp>
        <p:nvSpPr>
          <p:cNvPr id="21" name="Shape 19"/>
          <p:cNvSpPr/>
          <p:nvPr/>
        </p:nvSpPr>
        <p:spPr>
          <a:xfrm>
            <a:off x="2838450" y="6775996"/>
            <a:ext cx="4514850" cy="438150"/>
          </a:xfrm>
          <a:prstGeom prst="rect">
            <a:avLst/>
          </a:prstGeom>
          <a:solidFill>
            <a:srgbClr val="57D2E6">
              <a:alpha val="14000"/>
            </a:srgbClr>
          </a:solidFill>
        </p:spPr>
      </p:sp>
      <p:sp>
        <p:nvSpPr>
          <p:cNvPr id="22" name="Shape 20"/>
          <p:cNvSpPr/>
          <p:nvPr/>
        </p:nvSpPr>
        <p:spPr>
          <a:xfrm>
            <a:off x="2838450" y="6775996"/>
            <a:ext cx="4514850" cy="438150"/>
          </a:xfrm>
          <a:prstGeom prst="rect">
            <a:avLst/>
          </a:prstGeom>
          <a:solidFill>
            <a:srgbClr val="2E8FA0"/>
          </a:solidFill>
        </p:spPr>
      </p:sp>
      <p:sp>
        <p:nvSpPr>
          <p:cNvPr id="23" name="Text 21"/>
          <p:cNvSpPr/>
          <p:nvPr/>
        </p:nvSpPr>
        <p:spPr>
          <a:xfrm>
            <a:off x="7381875" y="6840289"/>
            <a:ext cx="2619375" cy="347663"/>
          </a:xfrm>
          <a:prstGeom prst="rect">
            <a:avLst/>
          </a:prstGeom>
          <a:noFill/>
        </p:spPr>
        <p:txBody>
          <a:bodyPr wrap="square" lIns="25400" tIns="25400" rIns="25400" bIns="25400" rtlCol="0" anchor="t">
            <a:normAutofit/>
          </a:bodyPr>
          <a:lstStyle/>
          <a:p>
            <a:pPr marL="0" indent="0" algn="r">
              <a:buNone/>
            </a:pPr>
            <a:r>
              <a:rPr lang="en-US" sz="2100" b="1" dirty="0">
                <a:solidFill>
                  <a:srgbClr val="EDF2F8"/>
                </a:solidFill>
                <a:latin typeface="Arial" panose="020B0604020202020204" pitchFamily="34" charset="0"/>
                <a:ea typeface="Arial" panose="020B0604020202020204" pitchFamily="34" charset="-122"/>
                <a:cs typeface="Arial" panose="020B0604020202020204" pitchFamily="34" charset="-120"/>
              </a:rPr>
              <a:t>909,451.5</a:t>
            </a:r>
            <a:endParaRPr lang="en-US" sz="2100" dirty="0"/>
          </a:p>
        </p:txBody>
      </p:sp>
      <p:sp>
        <p:nvSpPr>
          <p:cNvPr id="24" name="Text 22"/>
          <p:cNvSpPr/>
          <p:nvPr/>
        </p:nvSpPr>
        <p:spPr>
          <a:xfrm>
            <a:off x="952500" y="7478464"/>
            <a:ext cx="1781175" cy="328613"/>
          </a:xfrm>
          <a:prstGeom prst="rect">
            <a:avLst/>
          </a:prstGeom>
          <a:noFill/>
        </p:spPr>
        <p:txBody>
          <a:bodyPr wrap="square" lIns="25400" tIns="25400" rIns="25400" bIns="25400" rtlCol="0" anchor="t">
            <a:normAutofit/>
          </a:bodyPr>
          <a:lstStyle/>
          <a:p>
            <a:pPr marL="0" indent="0" algn="l">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Returns</a:t>
            </a:r>
            <a:endParaRPr lang="en-US" sz="2100" dirty="0"/>
          </a:p>
        </p:txBody>
      </p:sp>
      <p:sp>
        <p:nvSpPr>
          <p:cNvPr id="25" name="Shape 23"/>
          <p:cNvSpPr/>
          <p:nvPr/>
        </p:nvSpPr>
        <p:spPr>
          <a:xfrm>
            <a:off x="2838450" y="7404646"/>
            <a:ext cx="4514850" cy="438150"/>
          </a:xfrm>
          <a:prstGeom prst="rect">
            <a:avLst/>
          </a:prstGeom>
          <a:solidFill>
            <a:srgbClr val="57D2E6">
              <a:alpha val="14000"/>
            </a:srgbClr>
          </a:solidFill>
        </p:spPr>
      </p:sp>
      <p:sp>
        <p:nvSpPr>
          <p:cNvPr id="26" name="Shape 24"/>
          <p:cNvSpPr/>
          <p:nvPr/>
        </p:nvSpPr>
        <p:spPr>
          <a:xfrm>
            <a:off x="2838450" y="7404646"/>
            <a:ext cx="35198" cy="438150"/>
          </a:xfrm>
          <a:prstGeom prst="rect">
            <a:avLst/>
          </a:prstGeom>
          <a:solidFill>
            <a:srgbClr val="E2745F"/>
          </a:solidFill>
        </p:spPr>
      </p:sp>
      <p:sp>
        <p:nvSpPr>
          <p:cNvPr id="27" name="Text 25"/>
          <p:cNvSpPr/>
          <p:nvPr/>
        </p:nvSpPr>
        <p:spPr>
          <a:xfrm>
            <a:off x="7381875" y="7468939"/>
            <a:ext cx="2619375" cy="347663"/>
          </a:xfrm>
          <a:prstGeom prst="rect">
            <a:avLst/>
          </a:prstGeom>
          <a:noFill/>
        </p:spPr>
        <p:txBody>
          <a:bodyPr wrap="square" lIns="25400" tIns="25400" rIns="25400" bIns="25400" rtlCol="0" anchor="t">
            <a:normAutofit/>
          </a:bodyPr>
          <a:lstStyle/>
          <a:p>
            <a:pPr marL="0" indent="0" algn="r">
              <a:buNone/>
            </a:pPr>
            <a:r>
              <a:rPr lang="en-US" sz="2100" b="1" dirty="0">
                <a:solidFill>
                  <a:srgbClr val="E2745F"/>
                </a:solidFill>
                <a:latin typeface="Arial" panose="020B0604020202020204" pitchFamily="34" charset="0"/>
                <a:ea typeface="Arial" panose="020B0604020202020204" pitchFamily="34" charset="-122"/>
                <a:cs typeface="Arial" panose="020B0604020202020204" pitchFamily="34" charset="-120"/>
              </a:rPr>
              <a:t>−7,060.5</a:t>
            </a:r>
            <a:endParaRPr lang="en-US" sz="2100" dirty="0"/>
          </a:p>
        </p:txBody>
      </p:sp>
      <p:sp>
        <p:nvSpPr>
          <p:cNvPr id="28" name="Text 26"/>
          <p:cNvSpPr/>
          <p:nvPr/>
        </p:nvSpPr>
        <p:spPr>
          <a:xfrm>
            <a:off x="952500" y="8097589"/>
            <a:ext cx="1781175" cy="347663"/>
          </a:xfrm>
          <a:prstGeom prst="rect">
            <a:avLst/>
          </a:prstGeom>
          <a:noFill/>
        </p:spPr>
        <p:txBody>
          <a:bodyPr wrap="square" lIns="25400" tIns="25400" rIns="25400" bIns="25400" rtlCol="0" anchor="t">
            <a:normAutofit/>
          </a:bodyPr>
          <a:lstStyle/>
          <a:p>
            <a:pPr marL="0" indent="0" algn="l">
              <a:buNone/>
            </a:pPr>
            <a:r>
              <a:rPr lang="en-US" sz="2100" b="1" dirty="0">
                <a:solidFill>
                  <a:srgbClr val="EDF2F8"/>
                </a:solidFill>
                <a:latin typeface="Arial" panose="020B0604020202020204" pitchFamily="34" charset="0"/>
                <a:ea typeface="Arial" panose="020B0604020202020204" pitchFamily="34" charset="-122"/>
                <a:cs typeface="Arial" panose="020B0604020202020204" pitchFamily="34" charset="-120"/>
              </a:rPr>
              <a:t>Net</a:t>
            </a:r>
            <a:endParaRPr lang="en-US" sz="2100" dirty="0"/>
          </a:p>
        </p:txBody>
      </p:sp>
      <p:sp>
        <p:nvSpPr>
          <p:cNvPr id="29" name="Shape 27"/>
          <p:cNvSpPr/>
          <p:nvPr/>
        </p:nvSpPr>
        <p:spPr>
          <a:xfrm>
            <a:off x="2838450" y="8033296"/>
            <a:ext cx="4514850" cy="438150"/>
          </a:xfrm>
          <a:prstGeom prst="rect">
            <a:avLst/>
          </a:prstGeom>
          <a:solidFill>
            <a:srgbClr val="57D2E6">
              <a:alpha val="14000"/>
            </a:srgbClr>
          </a:solidFill>
        </p:spPr>
      </p:sp>
      <p:sp>
        <p:nvSpPr>
          <p:cNvPr id="30" name="Shape 28"/>
          <p:cNvSpPr/>
          <p:nvPr/>
        </p:nvSpPr>
        <p:spPr>
          <a:xfrm>
            <a:off x="2838450" y="8033296"/>
            <a:ext cx="4479578" cy="438150"/>
          </a:xfrm>
          <a:prstGeom prst="rect">
            <a:avLst/>
          </a:prstGeom>
          <a:solidFill>
            <a:srgbClr val="57D2E6"/>
          </a:solidFill>
        </p:spPr>
      </p:sp>
      <p:sp>
        <p:nvSpPr>
          <p:cNvPr id="31" name="Text 29"/>
          <p:cNvSpPr/>
          <p:nvPr/>
        </p:nvSpPr>
        <p:spPr>
          <a:xfrm>
            <a:off x="7381875" y="8097589"/>
            <a:ext cx="2619375" cy="347663"/>
          </a:xfrm>
          <a:prstGeom prst="rect">
            <a:avLst/>
          </a:prstGeom>
          <a:noFill/>
        </p:spPr>
        <p:txBody>
          <a:bodyPr wrap="square" lIns="25400" tIns="25400" rIns="25400" bIns="25400" rtlCol="0" anchor="t">
            <a:normAutofit/>
          </a:bodyPr>
          <a:lstStyle/>
          <a:p>
            <a:pPr marL="0" indent="0" algn="r">
              <a:buNone/>
            </a:pPr>
            <a:r>
              <a:rPr lang="en-US" sz="2100" b="1" dirty="0">
                <a:solidFill>
                  <a:srgbClr val="57D2E6"/>
                </a:solidFill>
                <a:latin typeface="Arial" panose="020B0604020202020204" pitchFamily="34" charset="0"/>
                <a:ea typeface="Arial" panose="020B0604020202020204" pitchFamily="34" charset="-122"/>
                <a:cs typeface="Arial" panose="020B0604020202020204" pitchFamily="34" charset="-120"/>
              </a:rPr>
              <a:t>902,391</a:t>
            </a:r>
            <a:endParaRPr lang="en-US" sz="2100" dirty="0"/>
          </a:p>
        </p:txBody>
      </p:sp>
      <p:sp>
        <p:nvSpPr>
          <p:cNvPr id="32" name="Text 30"/>
          <p:cNvSpPr/>
          <p:nvPr/>
        </p:nvSpPr>
        <p:spPr>
          <a:xfrm>
            <a:off x="11544300" y="6266408"/>
            <a:ext cx="6370320" cy="300038"/>
          </a:xfrm>
          <a:prstGeom prst="rect">
            <a:avLst/>
          </a:prstGeom>
          <a:noFill/>
        </p:spPr>
        <p:txBody>
          <a:bodyPr wrap="square" lIns="25400" tIns="25400" rIns="25400" bIns="25400" rtlCol="0" anchor="t">
            <a:normAutofit/>
          </a:bodyPr>
          <a:lstStyle/>
          <a:p>
            <a:pPr marL="0" indent="0" algn="l">
              <a:buNone/>
            </a:pPr>
            <a:r>
              <a:rPr lang="en-US" sz="1800" b="1" kern="0" spc="288" dirty="0">
                <a:solidFill>
                  <a:srgbClr val="93A5BB"/>
                </a:solidFill>
                <a:latin typeface="Arial" panose="020B0604020202020204" pitchFamily="34" charset="0"/>
                <a:ea typeface="Arial" panose="020B0604020202020204" pitchFamily="34" charset="-122"/>
                <a:cs typeface="Arial" panose="020B0604020202020204" pitchFamily="34" charset="-120"/>
              </a:rPr>
              <a:t>RETURNS PROFILE</a:t>
            </a:r>
            <a:endParaRPr lang="en-US" sz="1800" dirty="0"/>
          </a:p>
        </p:txBody>
      </p:sp>
      <p:sp>
        <p:nvSpPr>
          <p:cNvPr id="33" name="Text 31"/>
          <p:cNvSpPr/>
          <p:nvPr/>
        </p:nvSpPr>
        <p:spPr>
          <a:xfrm>
            <a:off x="11544300" y="6737896"/>
            <a:ext cx="6370320" cy="876300"/>
          </a:xfrm>
          <a:prstGeom prst="rect">
            <a:avLst/>
          </a:prstGeom>
          <a:noFill/>
        </p:spPr>
        <p:txBody>
          <a:bodyPr wrap="square" lIns="25400" tIns="25400" rIns="25400" bIns="25400" rtlCol="0" anchor="t">
            <a:normAutofit/>
          </a:bodyPr>
          <a:lstStyle/>
          <a:p>
            <a:pPr marL="0" indent="0" algn="l">
              <a:lnSpc>
                <a:spcPct val="87000"/>
              </a:lnSpc>
              <a:buNone/>
            </a:pPr>
            <a:r>
              <a:rPr lang="en-US" sz="6600" b="1" kern="0" spc="-264" dirty="0">
                <a:solidFill>
                  <a:srgbClr val="EDF2F8"/>
                </a:solidFill>
                <a:latin typeface="Arial" panose="020B0604020202020204" pitchFamily="34" charset="0"/>
                <a:ea typeface="Arial" panose="020B0604020202020204" pitchFamily="34" charset="-122"/>
                <a:cs typeface="Arial" panose="020B0604020202020204" pitchFamily="34" charset="-120"/>
              </a:rPr>
              <a:t>1,735</a:t>
            </a:r>
            <a:endParaRPr lang="en-US" sz="6600" dirty="0"/>
          </a:p>
        </p:txBody>
      </p:sp>
      <p:sp>
        <p:nvSpPr>
          <p:cNvPr id="34" name="Text 32"/>
          <p:cNvSpPr/>
          <p:nvPr/>
        </p:nvSpPr>
        <p:spPr>
          <a:xfrm>
            <a:off x="11544300" y="7785646"/>
            <a:ext cx="5964936" cy="1238250"/>
          </a:xfrm>
          <a:prstGeom prst="rect">
            <a:avLst/>
          </a:prstGeom>
          <a:noFill/>
        </p:spPr>
        <p:txBody>
          <a:bodyPr wrap="square" lIns="25400" tIns="25400" rIns="25400" bIns="25400" rtlCol="0" anchor="t">
            <a:normAutofit/>
          </a:bodyPr>
          <a:lstStyle/>
          <a:p>
            <a:pPr marL="0" indent="0" algn="l">
              <a:lnSpc>
                <a:spcPct val="129000"/>
              </a:lnSpc>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negative return transactions — a 0.78% return rate, low enough to treat returns as noise rather than a demand signal.</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622"/>
        </a:solidFill>
        <a:effectLst/>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p:spPr>
        <p:txBody>
          <a:bodyPr wrap="square" lIns="25400" tIns="25400" rIns="25400" bIns="25400" rtlCol="0" anchor="t">
            <a:normAutofit/>
          </a:bodyPr>
          <a:lstStyle/>
          <a:p>
            <a:pPr marL="0" indent="0" algn="l">
              <a:buNone/>
            </a:pPr>
            <a:r>
              <a:rPr lang="en-US" sz="1800" b="1" kern="0" spc="360" dirty="0">
                <a:solidFill>
                  <a:srgbClr val="57D2E6"/>
                </a:solidFill>
                <a:latin typeface="Arial" panose="020B0604020202020204" pitchFamily="34" charset="0"/>
                <a:ea typeface="Arial" panose="020B0604020202020204" pitchFamily="34" charset="-122"/>
                <a:cs typeface="Arial" panose="020B0604020202020204" pitchFamily="34" charset="-120"/>
              </a:rPr>
              <a:t>04 — DEMAND</a:t>
            </a:r>
            <a:endParaRPr lang="en-US" sz="1800" dirty="0"/>
          </a:p>
        </p:txBody>
      </p:sp>
      <p:sp>
        <p:nvSpPr>
          <p:cNvPr id="3" name="Text 1"/>
          <p:cNvSpPr/>
          <p:nvPr/>
        </p:nvSpPr>
        <p:spPr>
          <a:xfrm>
            <a:off x="952500" y="1423988"/>
            <a:ext cx="15304770" cy="1379190"/>
          </a:xfrm>
          <a:prstGeom prst="rect">
            <a:avLst/>
          </a:prstGeom>
          <a:noFill/>
        </p:spPr>
        <p:txBody>
          <a:bodyPr wrap="square" lIns="25400" tIns="25400" rIns="25400" bIns="25400" rtlCol="0" anchor="t">
            <a:normAutofit/>
          </a:bodyPr>
          <a:lstStyle/>
          <a:p>
            <a:pPr marL="0" indent="0" algn="l">
              <a:lnSpc>
                <a:spcPct val="96000"/>
              </a:lnSpc>
              <a:buNone/>
            </a:pPr>
            <a:r>
              <a:rPr lang="en-US" sz="4800" b="1" kern="0" spc="-96" dirty="0">
                <a:solidFill>
                  <a:srgbClr val="EDF2F8"/>
                </a:solidFill>
                <a:latin typeface="Arial" panose="020B0604020202020204" pitchFamily="34" charset="0"/>
                <a:ea typeface="Arial" panose="020B0604020202020204" pitchFamily="34" charset="-122"/>
                <a:cs typeface="Arial" panose="020B0604020202020204" pitchFamily="34" charset="-120"/>
              </a:rPr>
              <a:t>No SKU in the portfolio has smooth demand — 70% is outright lumpy</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p:spPr>
      </p:sp>
      <p:sp>
        <p:nvSpPr>
          <p:cNvPr id="5" name="Shape 3"/>
          <p:cNvSpPr/>
          <p:nvPr/>
        </p:nvSpPr>
        <p:spPr>
          <a:xfrm>
            <a:off x="7486650" y="3127028"/>
            <a:ext cx="19050" cy="6397972"/>
          </a:xfrm>
          <a:prstGeom prst="rect">
            <a:avLst/>
          </a:prstGeom>
          <a:solidFill>
            <a:srgbClr val="E2ECF7">
              <a:alpha val="22000"/>
            </a:srgbClr>
          </a:solidFill>
        </p:spPr>
      </p:sp>
      <p:sp>
        <p:nvSpPr>
          <p:cNvPr id="6" name="Text 4"/>
          <p:cNvSpPr/>
          <p:nvPr/>
        </p:nvSpPr>
        <p:spPr>
          <a:xfrm>
            <a:off x="952500" y="3622328"/>
            <a:ext cx="6349365" cy="300038"/>
          </a:xfrm>
          <a:prstGeom prst="rect">
            <a:avLst/>
          </a:prstGeom>
          <a:noFill/>
        </p:spPr>
        <p:txBody>
          <a:bodyPr wrap="square" lIns="25400" tIns="25400" rIns="25400" bIns="25400" rtlCol="0" anchor="t">
            <a:normAutofit/>
          </a:bodyPr>
          <a:lstStyle/>
          <a:p>
            <a:pPr marL="0" indent="0" algn="l">
              <a:buNone/>
            </a:pPr>
            <a:r>
              <a:rPr lang="en-US" sz="1800" b="1" kern="0" spc="288" dirty="0">
                <a:solidFill>
                  <a:srgbClr val="93A5BB"/>
                </a:solidFill>
                <a:latin typeface="Arial" panose="020B0604020202020204" pitchFamily="34" charset="0"/>
                <a:ea typeface="Arial" panose="020B0604020202020204" pitchFamily="34" charset="-122"/>
                <a:cs typeface="Arial" panose="020B0604020202020204" pitchFamily="34" charset="-120"/>
              </a:rPr>
              <a:t>OUTDOOR VS INDOOR UNITS</a:t>
            </a:r>
            <a:endParaRPr lang="en-US" sz="1800" dirty="0"/>
          </a:p>
        </p:txBody>
      </p:sp>
      <p:sp>
        <p:nvSpPr>
          <p:cNvPr id="7" name="Shape 5"/>
          <p:cNvSpPr/>
          <p:nvPr/>
        </p:nvSpPr>
        <p:spPr>
          <a:xfrm>
            <a:off x="952500" y="6255990"/>
            <a:ext cx="5772150" cy="19050"/>
          </a:xfrm>
          <a:prstGeom prst="rect">
            <a:avLst/>
          </a:prstGeom>
          <a:solidFill>
            <a:srgbClr val="E2ECF7">
              <a:alpha val="22000"/>
            </a:srgbClr>
          </a:solidFill>
        </p:spPr>
      </p:sp>
      <p:sp>
        <p:nvSpPr>
          <p:cNvPr id="8" name="Text 6"/>
          <p:cNvSpPr/>
          <p:nvPr/>
        </p:nvSpPr>
        <p:spPr>
          <a:xfrm>
            <a:off x="952500" y="4227165"/>
            <a:ext cx="6349365" cy="952500"/>
          </a:xfrm>
          <a:prstGeom prst="rect">
            <a:avLst/>
          </a:prstGeom>
          <a:noFill/>
        </p:spPr>
        <p:txBody>
          <a:bodyPr wrap="square" lIns="25400" tIns="25400" rIns="25400" bIns="25400" rtlCol="0" anchor="t">
            <a:normAutofit/>
          </a:bodyPr>
          <a:lstStyle/>
          <a:p>
            <a:pPr marL="0" indent="0" algn="l">
              <a:lnSpc>
                <a:spcPct val="87000"/>
              </a:lnSpc>
              <a:buNone/>
            </a:pPr>
            <a:r>
              <a:rPr lang="en-US" sz="7200" b="1" kern="0" spc="-288" dirty="0">
                <a:solidFill>
                  <a:srgbClr val="57D2E6"/>
                </a:solidFill>
                <a:latin typeface="Arial" panose="020B0604020202020204" pitchFamily="34" charset="0"/>
                <a:ea typeface="Arial" panose="020B0604020202020204" pitchFamily="34" charset="-122"/>
                <a:cs typeface="Arial" panose="020B0604020202020204" pitchFamily="34" charset="-120"/>
              </a:rPr>
              <a:t>80.8%</a:t>
            </a:r>
            <a:endParaRPr lang="en-US" sz="7200" dirty="0"/>
          </a:p>
        </p:txBody>
      </p:sp>
      <p:sp>
        <p:nvSpPr>
          <p:cNvPr id="9" name="Text 7"/>
          <p:cNvSpPr/>
          <p:nvPr/>
        </p:nvSpPr>
        <p:spPr>
          <a:xfrm>
            <a:off x="952500" y="5236815"/>
            <a:ext cx="6349365" cy="328613"/>
          </a:xfrm>
          <a:prstGeom prst="rect">
            <a:avLst/>
          </a:prstGeom>
          <a:noFill/>
        </p:spPr>
        <p:txBody>
          <a:bodyPr wrap="square" lIns="25400" tIns="25400" rIns="25400" bIns="25400" rtlCol="0" anchor="t">
            <a:normAutofit/>
          </a:bodyPr>
          <a:lstStyle/>
          <a:p>
            <a:pPr marL="0" indent="0" algn="l">
              <a:buNone/>
            </a:pPr>
            <a:r>
              <a:rPr lang="en-US" sz="2100" dirty="0">
                <a:solidFill>
                  <a:srgbClr val="EDF2F8"/>
                </a:solidFill>
                <a:latin typeface="Arial" panose="020B0604020202020204" pitchFamily="34" charset="0"/>
                <a:ea typeface="Arial" panose="020B0604020202020204" pitchFamily="34" charset="-122"/>
                <a:cs typeface="Arial" panose="020B0604020202020204" pitchFamily="34" charset="-120"/>
              </a:rPr>
              <a:t>ODU</a:t>
            </a:r>
            <a:endParaRPr lang="en-US" sz="2100" dirty="0"/>
          </a:p>
        </p:txBody>
      </p:sp>
      <p:sp>
        <p:nvSpPr>
          <p:cNvPr id="10" name="Text 8"/>
          <p:cNvSpPr/>
          <p:nvPr/>
        </p:nvSpPr>
        <p:spPr>
          <a:xfrm>
            <a:off x="952500" y="5622578"/>
            <a:ext cx="6349365" cy="328613"/>
          </a:xfrm>
          <a:prstGeom prst="rect">
            <a:avLst/>
          </a:prstGeom>
          <a:noFill/>
        </p:spPr>
        <p:txBody>
          <a:bodyPr wrap="square" lIns="25400" tIns="25400" rIns="25400" bIns="25400" rtlCol="0" anchor="t">
            <a:normAutofit/>
          </a:bodyPr>
          <a:lstStyle/>
          <a:p>
            <a:pPr marL="0" indent="0" algn="l">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729,297 units</a:t>
            </a:r>
            <a:endParaRPr lang="en-US" sz="2100" dirty="0"/>
          </a:p>
        </p:txBody>
      </p:sp>
      <p:sp>
        <p:nvSpPr>
          <p:cNvPr id="11" name="Text 9"/>
          <p:cNvSpPr/>
          <p:nvPr/>
        </p:nvSpPr>
        <p:spPr>
          <a:xfrm>
            <a:off x="952500" y="6617940"/>
            <a:ext cx="6349365" cy="952500"/>
          </a:xfrm>
          <a:prstGeom prst="rect">
            <a:avLst/>
          </a:prstGeom>
          <a:noFill/>
        </p:spPr>
        <p:txBody>
          <a:bodyPr wrap="square" lIns="25400" tIns="25400" rIns="25400" bIns="25400" rtlCol="0" anchor="t">
            <a:normAutofit/>
          </a:bodyPr>
          <a:lstStyle/>
          <a:p>
            <a:pPr marL="0" indent="0" algn="l">
              <a:lnSpc>
                <a:spcPct val="87000"/>
              </a:lnSpc>
              <a:buNone/>
            </a:pPr>
            <a:r>
              <a:rPr lang="en-US" sz="7200" b="1" kern="0" spc="-288" dirty="0">
                <a:solidFill>
                  <a:srgbClr val="EDF2F8"/>
                </a:solidFill>
                <a:latin typeface="Arial" panose="020B0604020202020204" pitchFamily="34" charset="0"/>
                <a:ea typeface="Arial" panose="020B0604020202020204" pitchFamily="34" charset="-122"/>
                <a:cs typeface="Arial" panose="020B0604020202020204" pitchFamily="34" charset="-120"/>
              </a:rPr>
              <a:t>19.2%</a:t>
            </a:r>
            <a:endParaRPr lang="en-US" sz="7200" dirty="0"/>
          </a:p>
        </p:txBody>
      </p:sp>
      <p:sp>
        <p:nvSpPr>
          <p:cNvPr id="12" name="Text 10"/>
          <p:cNvSpPr/>
          <p:nvPr/>
        </p:nvSpPr>
        <p:spPr>
          <a:xfrm>
            <a:off x="952500" y="7627590"/>
            <a:ext cx="6349365" cy="328613"/>
          </a:xfrm>
          <a:prstGeom prst="rect">
            <a:avLst/>
          </a:prstGeom>
          <a:noFill/>
        </p:spPr>
        <p:txBody>
          <a:bodyPr wrap="square" lIns="25400" tIns="25400" rIns="25400" bIns="25400" rtlCol="0" anchor="t">
            <a:normAutofit/>
          </a:bodyPr>
          <a:lstStyle/>
          <a:p>
            <a:pPr marL="0" indent="0" algn="l">
              <a:buNone/>
            </a:pPr>
            <a:r>
              <a:rPr lang="en-US" sz="2100" dirty="0">
                <a:solidFill>
                  <a:srgbClr val="EDF2F8"/>
                </a:solidFill>
                <a:latin typeface="Arial" panose="020B0604020202020204" pitchFamily="34" charset="0"/>
                <a:ea typeface="Arial" panose="020B0604020202020204" pitchFamily="34" charset="-122"/>
                <a:cs typeface="Arial" panose="020B0604020202020204" pitchFamily="34" charset="-120"/>
              </a:rPr>
              <a:t>IDU</a:t>
            </a:r>
            <a:endParaRPr lang="en-US" sz="2100" dirty="0"/>
          </a:p>
        </p:txBody>
      </p:sp>
      <p:sp>
        <p:nvSpPr>
          <p:cNvPr id="13" name="Text 11"/>
          <p:cNvSpPr/>
          <p:nvPr/>
        </p:nvSpPr>
        <p:spPr>
          <a:xfrm>
            <a:off x="952500" y="8013353"/>
            <a:ext cx="6349365" cy="328613"/>
          </a:xfrm>
          <a:prstGeom prst="rect">
            <a:avLst/>
          </a:prstGeom>
          <a:noFill/>
        </p:spPr>
        <p:txBody>
          <a:bodyPr wrap="square" lIns="25400" tIns="25400" rIns="25400" bIns="25400" rtlCol="0" anchor="t">
            <a:normAutofit/>
          </a:bodyPr>
          <a:lstStyle/>
          <a:p>
            <a:pPr marL="0" indent="0" algn="l">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173,094 units</a:t>
            </a:r>
            <a:endParaRPr lang="en-US" sz="2100" dirty="0"/>
          </a:p>
        </p:txBody>
      </p:sp>
      <p:sp>
        <p:nvSpPr>
          <p:cNvPr id="14" name="Text 12"/>
          <p:cNvSpPr/>
          <p:nvPr/>
        </p:nvSpPr>
        <p:spPr>
          <a:xfrm>
            <a:off x="8267700" y="3622328"/>
            <a:ext cx="9974580" cy="300038"/>
          </a:xfrm>
          <a:prstGeom prst="rect">
            <a:avLst/>
          </a:prstGeom>
          <a:noFill/>
        </p:spPr>
        <p:txBody>
          <a:bodyPr wrap="square" lIns="25400" tIns="25400" rIns="25400" bIns="25400" rtlCol="0" anchor="t">
            <a:normAutofit/>
          </a:bodyPr>
          <a:lstStyle/>
          <a:p>
            <a:pPr marL="0" indent="0" algn="l">
              <a:buNone/>
            </a:pPr>
            <a:r>
              <a:rPr lang="en-US" sz="1800" b="1" kern="0" spc="288" dirty="0">
                <a:solidFill>
                  <a:srgbClr val="93A5BB"/>
                </a:solidFill>
                <a:latin typeface="Arial" panose="020B0604020202020204" pitchFamily="34" charset="0"/>
                <a:ea typeface="Arial" panose="020B0604020202020204" pitchFamily="34" charset="-122"/>
                <a:cs typeface="Arial" panose="020B0604020202020204" pitchFamily="34" charset="-120"/>
              </a:rPr>
              <a:t>SYNTETOS-BOYLAN CLASSIFICATION — 154 SKUS</a:t>
            </a:r>
            <a:endParaRPr lang="en-US" sz="1800" dirty="0"/>
          </a:p>
        </p:txBody>
      </p:sp>
      <p:sp>
        <p:nvSpPr>
          <p:cNvPr id="15" name="Shape 13"/>
          <p:cNvSpPr/>
          <p:nvPr/>
        </p:nvSpPr>
        <p:spPr>
          <a:xfrm>
            <a:off x="8267700" y="4170015"/>
            <a:ext cx="9067800" cy="19050"/>
          </a:xfrm>
          <a:prstGeom prst="rect">
            <a:avLst/>
          </a:prstGeom>
          <a:solidFill>
            <a:srgbClr val="E2ECF7">
              <a:alpha val="22000"/>
            </a:srgbClr>
          </a:solidFill>
        </p:spPr>
      </p:sp>
      <p:sp>
        <p:nvSpPr>
          <p:cNvPr id="16" name="Shape 14"/>
          <p:cNvSpPr/>
          <p:nvPr/>
        </p:nvSpPr>
        <p:spPr>
          <a:xfrm>
            <a:off x="8267700" y="5055840"/>
            <a:ext cx="9067800" cy="19050"/>
          </a:xfrm>
          <a:prstGeom prst="rect">
            <a:avLst/>
          </a:prstGeom>
          <a:solidFill>
            <a:srgbClr val="E2ECF7">
              <a:alpha val="22000"/>
            </a:srgbClr>
          </a:solidFill>
        </p:spPr>
      </p:sp>
      <p:sp>
        <p:nvSpPr>
          <p:cNvPr id="17" name="Text 15"/>
          <p:cNvSpPr/>
          <p:nvPr/>
        </p:nvSpPr>
        <p:spPr>
          <a:xfrm>
            <a:off x="8267700" y="4436715"/>
            <a:ext cx="1048271" cy="409575"/>
          </a:xfrm>
          <a:prstGeom prst="rect">
            <a:avLst/>
          </a:prstGeom>
          <a:noFill/>
        </p:spPr>
        <p:txBody>
          <a:bodyPr wrap="square" lIns="25400" tIns="25400" rIns="25400" bIns="25400" rtlCol="0" anchor="t">
            <a:normAutofit/>
          </a:bodyPr>
          <a:lstStyle/>
          <a:p>
            <a:pPr marL="0" indent="0" algn="l">
              <a:buNone/>
            </a:pPr>
            <a:r>
              <a:rPr lang="en-US" sz="2550" b="1" dirty="0">
                <a:solidFill>
                  <a:srgbClr val="EDF2F8"/>
                </a:solidFill>
                <a:latin typeface="Arial" panose="020B0604020202020204" pitchFamily="34" charset="0"/>
                <a:ea typeface="Arial" panose="020B0604020202020204" pitchFamily="34" charset="-122"/>
                <a:cs typeface="Arial" panose="020B0604020202020204" pitchFamily="34" charset="-120"/>
              </a:rPr>
              <a:t>Lumpy</a:t>
            </a:r>
            <a:endParaRPr lang="en-US" sz="2550" dirty="0"/>
          </a:p>
        </p:txBody>
      </p:sp>
      <p:sp>
        <p:nvSpPr>
          <p:cNvPr id="18" name="Text 16"/>
          <p:cNvSpPr/>
          <p:nvPr/>
        </p:nvSpPr>
        <p:spPr>
          <a:xfrm>
            <a:off x="14455080" y="4436715"/>
            <a:ext cx="994470" cy="409575"/>
          </a:xfrm>
          <a:prstGeom prst="rect">
            <a:avLst/>
          </a:prstGeom>
          <a:noFill/>
        </p:spPr>
        <p:txBody>
          <a:bodyPr wrap="square" lIns="25400" tIns="25400" rIns="25400" bIns="25400" rtlCol="0" anchor="t">
            <a:normAutofit/>
          </a:bodyPr>
          <a:lstStyle/>
          <a:p>
            <a:pPr marL="0" indent="0" algn="l">
              <a:buNone/>
            </a:pPr>
            <a:r>
              <a:rPr lang="en-US" sz="2550" b="1" dirty="0">
                <a:solidFill>
                  <a:srgbClr val="57D2E6"/>
                </a:solidFill>
                <a:latin typeface="Arial" panose="020B0604020202020204" pitchFamily="34" charset="0"/>
                <a:ea typeface="Arial" panose="020B0604020202020204" pitchFamily="34" charset="-122"/>
                <a:cs typeface="Arial" panose="020B0604020202020204" pitchFamily="34" charset="-120"/>
              </a:rPr>
              <a:t>70.1%</a:t>
            </a:r>
            <a:endParaRPr lang="en-US" sz="2550" dirty="0"/>
          </a:p>
        </p:txBody>
      </p:sp>
      <p:sp>
        <p:nvSpPr>
          <p:cNvPr id="19" name="Text 17"/>
          <p:cNvSpPr/>
          <p:nvPr/>
        </p:nvSpPr>
        <p:spPr>
          <a:xfrm>
            <a:off x="15763875" y="4503390"/>
            <a:ext cx="1571625" cy="328613"/>
          </a:xfrm>
          <a:prstGeom prst="rect">
            <a:avLst/>
          </a:prstGeom>
          <a:noFill/>
        </p:spPr>
        <p:txBody>
          <a:bodyPr wrap="square" lIns="25400" tIns="25400" rIns="25400" bIns="25400" rtlCol="0" anchor="t">
            <a:normAutofit/>
          </a:bodyPr>
          <a:lstStyle/>
          <a:p>
            <a:pPr marL="0" indent="0" algn="r">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108 SKUs</a:t>
            </a:r>
            <a:endParaRPr lang="en-US" sz="2100" dirty="0"/>
          </a:p>
        </p:txBody>
      </p:sp>
      <p:sp>
        <p:nvSpPr>
          <p:cNvPr id="20" name="Shape 18"/>
          <p:cNvSpPr/>
          <p:nvPr/>
        </p:nvSpPr>
        <p:spPr>
          <a:xfrm>
            <a:off x="8267700" y="5941665"/>
            <a:ext cx="9067800" cy="19050"/>
          </a:xfrm>
          <a:prstGeom prst="rect">
            <a:avLst/>
          </a:prstGeom>
          <a:solidFill>
            <a:srgbClr val="E2ECF7">
              <a:alpha val="22000"/>
            </a:srgbClr>
          </a:solidFill>
        </p:spPr>
      </p:sp>
      <p:sp>
        <p:nvSpPr>
          <p:cNvPr id="21" name="Text 19"/>
          <p:cNvSpPr/>
          <p:nvPr/>
        </p:nvSpPr>
        <p:spPr>
          <a:xfrm>
            <a:off x="8267700" y="5322540"/>
            <a:ext cx="1781912" cy="409575"/>
          </a:xfrm>
          <a:prstGeom prst="rect">
            <a:avLst/>
          </a:prstGeom>
          <a:noFill/>
        </p:spPr>
        <p:txBody>
          <a:bodyPr wrap="square" lIns="25400" tIns="25400" rIns="25400" bIns="25400" rtlCol="0" anchor="t">
            <a:normAutofit/>
          </a:bodyPr>
          <a:lstStyle/>
          <a:p>
            <a:pPr marL="0" indent="0" algn="l">
              <a:buNone/>
            </a:pPr>
            <a:r>
              <a:rPr lang="en-US" sz="2550" b="1" dirty="0">
                <a:solidFill>
                  <a:srgbClr val="EDF2F8"/>
                </a:solidFill>
                <a:latin typeface="Arial" panose="020B0604020202020204" pitchFamily="34" charset="0"/>
                <a:ea typeface="Arial" panose="020B0604020202020204" pitchFamily="34" charset="-122"/>
                <a:cs typeface="Arial" panose="020B0604020202020204" pitchFamily="34" charset="-120"/>
              </a:rPr>
              <a:t>Intermittent</a:t>
            </a:r>
            <a:endParaRPr lang="en-US" sz="2550" dirty="0"/>
          </a:p>
        </p:txBody>
      </p:sp>
      <p:sp>
        <p:nvSpPr>
          <p:cNvPr id="22" name="Text 20"/>
          <p:cNvSpPr/>
          <p:nvPr/>
        </p:nvSpPr>
        <p:spPr>
          <a:xfrm>
            <a:off x="14455080" y="5322540"/>
            <a:ext cx="994470" cy="409575"/>
          </a:xfrm>
          <a:prstGeom prst="rect">
            <a:avLst/>
          </a:prstGeom>
          <a:noFill/>
        </p:spPr>
        <p:txBody>
          <a:bodyPr wrap="square" lIns="25400" tIns="25400" rIns="25400" bIns="25400" rtlCol="0" anchor="t">
            <a:normAutofit/>
          </a:bodyPr>
          <a:lstStyle/>
          <a:p>
            <a:pPr marL="0" indent="0" algn="l">
              <a:buNone/>
            </a:pPr>
            <a:r>
              <a:rPr lang="en-US" sz="2550" b="1" dirty="0">
                <a:solidFill>
                  <a:srgbClr val="EDF2F8"/>
                </a:solidFill>
                <a:latin typeface="Arial" panose="020B0604020202020204" pitchFamily="34" charset="0"/>
                <a:ea typeface="Arial" panose="020B0604020202020204" pitchFamily="34" charset="-122"/>
                <a:cs typeface="Arial" panose="020B0604020202020204" pitchFamily="34" charset="-120"/>
              </a:rPr>
              <a:t>18.8%</a:t>
            </a:r>
            <a:endParaRPr lang="en-US" sz="2550" dirty="0"/>
          </a:p>
        </p:txBody>
      </p:sp>
      <p:sp>
        <p:nvSpPr>
          <p:cNvPr id="23" name="Text 21"/>
          <p:cNvSpPr/>
          <p:nvPr/>
        </p:nvSpPr>
        <p:spPr>
          <a:xfrm>
            <a:off x="15763875" y="5389215"/>
            <a:ext cx="1571625" cy="328613"/>
          </a:xfrm>
          <a:prstGeom prst="rect">
            <a:avLst/>
          </a:prstGeom>
          <a:noFill/>
        </p:spPr>
        <p:txBody>
          <a:bodyPr wrap="square" lIns="25400" tIns="25400" rIns="25400" bIns="25400" rtlCol="0" anchor="t">
            <a:normAutofit/>
          </a:bodyPr>
          <a:lstStyle/>
          <a:p>
            <a:pPr marL="0" indent="0" algn="r">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29 SKUs</a:t>
            </a:r>
            <a:endParaRPr lang="en-US" sz="2100" dirty="0"/>
          </a:p>
        </p:txBody>
      </p:sp>
      <p:sp>
        <p:nvSpPr>
          <p:cNvPr id="24" name="Shape 22"/>
          <p:cNvSpPr/>
          <p:nvPr/>
        </p:nvSpPr>
        <p:spPr>
          <a:xfrm>
            <a:off x="8267700" y="6827490"/>
            <a:ext cx="9067800" cy="19050"/>
          </a:xfrm>
          <a:prstGeom prst="rect">
            <a:avLst/>
          </a:prstGeom>
          <a:solidFill>
            <a:srgbClr val="E2ECF7">
              <a:alpha val="22000"/>
            </a:srgbClr>
          </a:solidFill>
        </p:spPr>
      </p:sp>
      <p:sp>
        <p:nvSpPr>
          <p:cNvPr id="25" name="Text 23"/>
          <p:cNvSpPr/>
          <p:nvPr/>
        </p:nvSpPr>
        <p:spPr>
          <a:xfrm>
            <a:off x="8267700" y="6208365"/>
            <a:ext cx="1011882" cy="409575"/>
          </a:xfrm>
          <a:prstGeom prst="rect">
            <a:avLst/>
          </a:prstGeom>
          <a:noFill/>
        </p:spPr>
        <p:txBody>
          <a:bodyPr wrap="square" lIns="25400" tIns="25400" rIns="25400" bIns="25400" rtlCol="0" anchor="t">
            <a:normAutofit/>
          </a:bodyPr>
          <a:lstStyle/>
          <a:p>
            <a:pPr marL="0" indent="0" algn="l">
              <a:buNone/>
            </a:pPr>
            <a:r>
              <a:rPr lang="en-US" sz="2550" b="1" dirty="0">
                <a:solidFill>
                  <a:srgbClr val="EDF2F8"/>
                </a:solidFill>
                <a:latin typeface="Arial" panose="020B0604020202020204" pitchFamily="34" charset="0"/>
                <a:ea typeface="Arial" panose="020B0604020202020204" pitchFamily="34" charset="-122"/>
                <a:cs typeface="Arial" panose="020B0604020202020204" pitchFamily="34" charset="-120"/>
              </a:rPr>
              <a:t>Erratic</a:t>
            </a:r>
            <a:endParaRPr lang="en-US" sz="2550" dirty="0"/>
          </a:p>
        </p:txBody>
      </p:sp>
      <p:sp>
        <p:nvSpPr>
          <p:cNvPr id="26" name="Text 24"/>
          <p:cNvSpPr/>
          <p:nvPr/>
        </p:nvSpPr>
        <p:spPr>
          <a:xfrm>
            <a:off x="14479116" y="6208365"/>
            <a:ext cx="970434" cy="409575"/>
          </a:xfrm>
          <a:prstGeom prst="rect">
            <a:avLst/>
          </a:prstGeom>
          <a:noFill/>
        </p:spPr>
        <p:txBody>
          <a:bodyPr wrap="square" lIns="25400" tIns="25400" rIns="25400" bIns="25400" rtlCol="0" anchor="t">
            <a:normAutofit/>
          </a:bodyPr>
          <a:lstStyle/>
          <a:p>
            <a:pPr marL="0" indent="0" algn="l">
              <a:buNone/>
            </a:pPr>
            <a:r>
              <a:rPr lang="en-US" sz="2550" b="1" dirty="0">
                <a:solidFill>
                  <a:srgbClr val="EDF2F8"/>
                </a:solidFill>
                <a:latin typeface="Arial" panose="020B0604020202020204" pitchFamily="34" charset="0"/>
                <a:ea typeface="Arial" panose="020B0604020202020204" pitchFamily="34" charset="-122"/>
                <a:cs typeface="Arial" panose="020B0604020202020204" pitchFamily="34" charset="-120"/>
              </a:rPr>
              <a:t>11.0%</a:t>
            </a:r>
            <a:endParaRPr lang="en-US" sz="2550" dirty="0"/>
          </a:p>
        </p:txBody>
      </p:sp>
      <p:sp>
        <p:nvSpPr>
          <p:cNvPr id="27" name="Text 25"/>
          <p:cNvSpPr/>
          <p:nvPr/>
        </p:nvSpPr>
        <p:spPr>
          <a:xfrm>
            <a:off x="15763875" y="6275040"/>
            <a:ext cx="1571625" cy="328613"/>
          </a:xfrm>
          <a:prstGeom prst="rect">
            <a:avLst/>
          </a:prstGeom>
          <a:noFill/>
        </p:spPr>
        <p:txBody>
          <a:bodyPr wrap="square" lIns="25400" tIns="25400" rIns="25400" bIns="25400" rtlCol="0" anchor="t">
            <a:normAutofit/>
          </a:bodyPr>
          <a:lstStyle/>
          <a:p>
            <a:pPr marL="0" indent="0" algn="r">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17 SKUs</a:t>
            </a:r>
            <a:endParaRPr lang="en-US" sz="2100" dirty="0"/>
          </a:p>
        </p:txBody>
      </p:sp>
      <p:sp>
        <p:nvSpPr>
          <p:cNvPr id="28" name="Shape 26"/>
          <p:cNvSpPr/>
          <p:nvPr/>
        </p:nvSpPr>
        <p:spPr>
          <a:xfrm>
            <a:off x="8267700" y="7713315"/>
            <a:ext cx="9067800" cy="19050"/>
          </a:xfrm>
          <a:prstGeom prst="rect">
            <a:avLst/>
          </a:prstGeom>
          <a:solidFill>
            <a:srgbClr val="E2ECF7">
              <a:alpha val="22000"/>
            </a:srgbClr>
          </a:solidFill>
        </p:spPr>
      </p:sp>
      <p:sp>
        <p:nvSpPr>
          <p:cNvPr id="29" name="Text 27"/>
          <p:cNvSpPr/>
          <p:nvPr/>
        </p:nvSpPr>
        <p:spPr>
          <a:xfrm>
            <a:off x="8267700" y="7094190"/>
            <a:ext cx="1192337" cy="409575"/>
          </a:xfrm>
          <a:prstGeom prst="rect">
            <a:avLst/>
          </a:prstGeom>
          <a:noFill/>
        </p:spPr>
        <p:txBody>
          <a:bodyPr wrap="square" lIns="25400" tIns="25400" rIns="25400" bIns="25400" rtlCol="0" anchor="t">
            <a:normAutofit/>
          </a:bodyPr>
          <a:lstStyle/>
          <a:p>
            <a:pPr marL="0" indent="0" algn="l">
              <a:buNone/>
            </a:pPr>
            <a:r>
              <a:rPr lang="en-US" sz="2550" b="1" dirty="0">
                <a:solidFill>
                  <a:srgbClr val="93A5BB"/>
                </a:solidFill>
                <a:latin typeface="Arial" panose="020B0604020202020204" pitchFamily="34" charset="0"/>
                <a:ea typeface="Arial" panose="020B0604020202020204" pitchFamily="34" charset="-122"/>
                <a:cs typeface="Arial" panose="020B0604020202020204" pitchFamily="34" charset="-120"/>
              </a:rPr>
              <a:t>Smooth</a:t>
            </a:r>
            <a:endParaRPr lang="en-US" sz="2550" dirty="0"/>
          </a:p>
        </p:txBody>
      </p:sp>
      <p:sp>
        <p:nvSpPr>
          <p:cNvPr id="30" name="Text 28"/>
          <p:cNvSpPr/>
          <p:nvPr/>
        </p:nvSpPr>
        <p:spPr>
          <a:xfrm>
            <a:off x="14905286" y="7094190"/>
            <a:ext cx="544264" cy="409575"/>
          </a:xfrm>
          <a:prstGeom prst="rect">
            <a:avLst/>
          </a:prstGeom>
          <a:noFill/>
        </p:spPr>
        <p:txBody>
          <a:bodyPr wrap="square" lIns="25400" tIns="25400" rIns="25400" bIns="25400" rtlCol="0" anchor="t">
            <a:normAutofit/>
          </a:bodyPr>
          <a:lstStyle/>
          <a:p>
            <a:pPr marL="0" indent="0" algn="l">
              <a:buNone/>
            </a:pPr>
            <a:r>
              <a:rPr lang="en-US" sz="2550" b="1" dirty="0">
                <a:solidFill>
                  <a:srgbClr val="93A5BB"/>
                </a:solidFill>
                <a:latin typeface="Arial" panose="020B0604020202020204" pitchFamily="34" charset="0"/>
                <a:ea typeface="Arial" panose="020B0604020202020204" pitchFamily="34" charset="-122"/>
                <a:cs typeface="Arial" panose="020B0604020202020204" pitchFamily="34" charset="-120"/>
              </a:rPr>
              <a:t>0%</a:t>
            </a:r>
            <a:endParaRPr lang="en-US" sz="2550" dirty="0"/>
          </a:p>
        </p:txBody>
      </p:sp>
      <p:sp>
        <p:nvSpPr>
          <p:cNvPr id="31" name="Text 29"/>
          <p:cNvSpPr/>
          <p:nvPr/>
        </p:nvSpPr>
        <p:spPr>
          <a:xfrm>
            <a:off x="15763875" y="7160865"/>
            <a:ext cx="1571625" cy="328613"/>
          </a:xfrm>
          <a:prstGeom prst="rect">
            <a:avLst/>
          </a:prstGeom>
          <a:noFill/>
        </p:spPr>
        <p:txBody>
          <a:bodyPr wrap="square" lIns="25400" tIns="25400" rIns="25400" bIns="25400" rtlCol="0" anchor="t">
            <a:normAutofit/>
          </a:bodyPr>
          <a:lstStyle/>
          <a:p>
            <a:pPr marL="0" indent="0" algn="r">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0 SKUs</a:t>
            </a:r>
            <a:endParaRPr lang="en-US" sz="2100" dirty="0"/>
          </a:p>
        </p:txBody>
      </p:sp>
      <p:sp>
        <p:nvSpPr>
          <p:cNvPr id="32" name="Text 30"/>
          <p:cNvSpPr/>
          <p:nvPr/>
        </p:nvSpPr>
        <p:spPr>
          <a:xfrm>
            <a:off x="8267700" y="8018115"/>
            <a:ext cx="8829675" cy="1238250"/>
          </a:xfrm>
          <a:prstGeom prst="rect">
            <a:avLst/>
          </a:prstGeom>
          <a:noFill/>
        </p:spPr>
        <p:txBody>
          <a:bodyPr wrap="square" lIns="25400" tIns="25400" rIns="25400" bIns="25400" rtlCol="0" anchor="t">
            <a:normAutofit/>
          </a:bodyPr>
          <a:lstStyle/>
          <a:p>
            <a:pPr marL="0" indent="0" algn="l">
              <a:lnSpc>
                <a:spcPct val="129000"/>
              </a:lnSpc>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An empty smooth quadrant rules out standard exponential smoothing portfolio-wide and pushes the model choice toward intermittent-demand methods.</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E1622"/>
        </a:solidFill>
        <a:effectLst/>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p:spPr>
        <p:txBody>
          <a:bodyPr wrap="square" lIns="25400" tIns="25400" rIns="25400" bIns="25400" rtlCol="0" anchor="t">
            <a:normAutofit/>
          </a:bodyPr>
          <a:lstStyle/>
          <a:p>
            <a:pPr marL="0" indent="0" algn="l">
              <a:buNone/>
            </a:pPr>
            <a:r>
              <a:rPr lang="en-US" sz="1800" b="1" kern="0" spc="360" dirty="0">
                <a:solidFill>
                  <a:srgbClr val="57D2E6"/>
                </a:solidFill>
                <a:latin typeface="Arial" panose="020B0604020202020204" pitchFamily="34" charset="0"/>
                <a:ea typeface="Arial" panose="020B0604020202020204" pitchFamily="34" charset="-122"/>
                <a:cs typeface="Arial" panose="020B0604020202020204" pitchFamily="34" charset="-120"/>
              </a:rPr>
              <a:t>05 — DISTRIBUTION</a:t>
            </a:r>
            <a:endParaRPr lang="en-US" sz="1800" dirty="0"/>
          </a:p>
        </p:txBody>
      </p:sp>
      <p:sp>
        <p:nvSpPr>
          <p:cNvPr id="3" name="Text 1"/>
          <p:cNvSpPr/>
          <p:nvPr/>
        </p:nvSpPr>
        <p:spPr>
          <a:xfrm>
            <a:off x="952500" y="1423988"/>
            <a:ext cx="15304770" cy="1379190"/>
          </a:xfrm>
          <a:prstGeom prst="rect">
            <a:avLst/>
          </a:prstGeom>
          <a:noFill/>
        </p:spPr>
        <p:txBody>
          <a:bodyPr wrap="square" lIns="25400" tIns="25400" rIns="25400" bIns="25400" rtlCol="0" anchor="t">
            <a:normAutofit/>
          </a:bodyPr>
          <a:lstStyle/>
          <a:p>
            <a:pPr marL="0" indent="0" algn="l">
              <a:lnSpc>
                <a:spcPct val="96000"/>
              </a:lnSpc>
              <a:buNone/>
            </a:pPr>
            <a:r>
              <a:rPr lang="en-US" sz="4800" b="1" kern="0" spc="-96" dirty="0">
                <a:solidFill>
                  <a:srgbClr val="EDF2F8"/>
                </a:solidFill>
                <a:latin typeface="Arial" panose="020B0604020202020204" pitchFamily="34" charset="0"/>
                <a:ea typeface="Arial" panose="020B0604020202020204" pitchFamily="34" charset="-122"/>
                <a:cs typeface="Arial" panose="020B0604020202020204" pitchFamily="34" charset="-120"/>
              </a:rPr>
              <a:t>Order lines are small and widely dispersed — the median indoor-unit line is zero</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p:spPr>
      </p:sp>
      <p:sp>
        <p:nvSpPr>
          <p:cNvPr id="5" name="Shape 3"/>
          <p:cNvSpPr/>
          <p:nvPr/>
        </p:nvSpPr>
        <p:spPr>
          <a:xfrm>
            <a:off x="952500" y="4284315"/>
            <a:ext cx="16383000" cy="19050"/>
          </a:xfrm>
          <a:prstGeom prst="rect">
            <a:avLst/>
          </a:prstGeom>
          <a:solidFill>
            <a:srgbClr val="E2ECF7">
              <a:alpha val="22000"/>
            </a:srgbClr>
          </a:solidFill>
        </p:spPr>
      </p:sp>
      <p:sp>
        <p:nvSpPr>
          <p:cNvPr id="6" name="Shape 4"/>
          <p:cNvSpPr/>
          <p:nvPr/>
        </p:nvSpPr>
        <p:spPr>
          <a:xfrm>
            <a:off x="952500" y="3622328"/>
            <a:ext cx="16383000" cy="19050"/>
          </a:xfrm>
          <a:prstGeom prst="rect">
            <a:avLst/>
          </a:prstGeom>
          <a:solidFill>
            <a:srgbClr val="E2ECF7">
              <a:alpha val="22000"/>
            </a:srgbClr>
          </a:solidFill>
        </p:spPr>
      </p:sp>
      <p:sp>
        <p:nvSpPr>
          <p:cNvPr id="7" name="Text 5"/>
          <p:cNvSpPr/>
          <p:nvPr/>
        </p:nvSpPr>
        <p:spPr>
          <a:xfrm>
            <a:off x="952500" y="3831878"/>
            <a:ext cx="4368790" cy="300038"/>
          </a:xfrm>
          <a:prstGeom prst="rect">
            <a:avLst/>
          </a:prstGeom>
          <a:noFill/>
        </p:spPr>
        <p:txBody>
          <a:bodyPr wrap="square" lIns="25400" tIns="25400" rIns="25400" bIns="25400" rtlCol="0" anchor="t">
            <a:normAutofit/>
          </a:bodyPr>
          <a:lstStyle/>
          <a:p>
            <a:pPr marL="0" indent="0" algn="l">
              <a:buNone/>
            </a:pPr>
            <a:r>
              <a:rPr lang="en-US" sz="1800" b="1" kern="0" spc="252" dirty="0">
                <a:solidFill>
                  <a:srgbClr val="93A5BB"/>
                </a:solidFill>
                <a:latin typeface="Arial" panose="020B0604020202020204" pitchFamily="34" charset="0"/>
                <a:ea typeface="Arial" panose="020B0604020202020204" pitchFamily="34" charset="-122"/>
                <a:cs typeface="Arial" panose="020B0604020202020204" pitchFamily="34" charset="-120"/>
              </a:rPr>
              <a:t>MEASURE</a:t>
            </a:r>
            <a:endParaRPr lang="en-US" sz="1800" dirty="0"/>
          </a:p>
        </p:txBody>
      </p:sp>
      <p:sp>
        <p:nvSpPr>
          <p:cNvPr id="8" name="Text 6"/>
          <p:cNvSpPr/>
          <p:nvPr/>
        </p:nvSpPr>
        <p:spPr>
          <a:xfrm>
            <a:off x="4675904" y="3831878"/>
            <a:ext cx="2730453" cy="300038"/>
          </a:xfrm>
          <a:prstGeom prst="rect">
            <a:avLst/>
          </a:prstGeom>
          <a:noFill/>
        </p:spPr>
        <p:txBody>
          <a:bodyPr wrap="square" lIns="25400" tIns="25400" rIns="25400" bIns="25400" rtlCol="0" anchor="t">
            <a:normAutofit/>
          </a:bodyPr>
          <a:lstStyle/>
          <a:p>
            <a:pPr marL="0" indent="0" algn="r">
              <a:buNone/>
            </a:pPr>
            <a:r>
              <a:rPr lang="en-US" sz="1800" b="1" kern="0" spc="252" dirty="0">
                <a:solidFill>
                  <a:srgbClr val="93A5BB"/>
                </a:solidFill>
                <a:latin typeface="Arial" panose="020B0604020202020204" pitchFamily="34" charset="0"/>
                <a:ea typeface="Arial" panose="020B0604020202020204" pitchFamily="34" charset="-122"/>
                <a:cs typeface="Arial" panose="020B0604020202020204" pitchFamily="34" charset="-120"/>
              </a:rPr>
              <a:t>MEAN</a:t>
            </a:r>
            <a:endParaRPr lang="en-US" sz="1800" dirty="0"/>
          </a:p>
        </p:txBody>
      </p:sp>
      <p:sp>
        <p:nvSpPr>
          <p:cNvPr id="9" name="Text 7"/>
          <p:cNvSpPr/>
          <p:nvPr/>
        </p:nvSpPr>
        <p:spPr>
          <a:xfrm>
            <a:off x="7158127" y="3831878"/>
            <a:ext cx="2730535" cy="300038"/>
          </a:xfrm>
          <a:prstGeom prst="rect">
            <a:avLst/>
          </a:prstGeom>
          <a:noFill/>
        </p:spPr>
        <p:txBody>
          <a:bodyPr wrap="square" lIns="25400" tIns="25400" rIns="25400" bIns="25400" rtlCol="0" anchor="t">
            <a:normAutofit/>
          </a:bodyPr>
          <a:lstStyle/>
          <a:p>
            <a:pPr marL="0" indent="0" algn="r">
              <a:buNone/>
            </a:pPr>
            <a:r>
              <a:rPr lang="en-US" sz="1800" b="1" kern="0" spc="252" dirty="0">
                <a:solidFill>
                  <a:srgbClr val="93A5BB"/>
                </a:solidFill>
                <a:latin typeface="Arial" panose="020B0604020202020204" pitchFamily="34" charset="0"/>
                <a:ea typeface="Arial" panose="020B0604020202020204" pitchFamily="34" charset="-122"/>
                <a:cs typeface="Arial" panose="020B0604020202020204" pitchFamily="34" charset="-120"/>
              </a:rPr>
              <a:t>STD DEV</a:t>
            </a:r>
            <a:endParaRPr lang="en-US" sz="1800" dirty="0"/>
          </a:p>
        </p:txBody>
      </p:sp>
      <p:sp>
        <p:nvSpPr>
          <p:cNvPr id="10" name="Text 8"/>
          <p:cNvSpPr/>
          <p:nvPr/>
        </p:nvSpPr>
        <p:spPr>
          <a:xfrm>
            <a:off x="9640439" y="3831878"/>
            <a:ext cx="2730453" cy="300038"/>
          </a:xfrm>
          <a:prstGeom prst="rect">
            <a:avLst/>
          </a:prstGeom>
          <a:noFill/>
        </p:spPr>
        <p:txBody>
          <a:bodyPr wrap="square" lIns="25400" tIns="25400" rIns="25400" bIns="25400" rtlCol="0" anchor="t">
            <a:normAutofit/>
          </a:bodyPr>
          <a:lstStyle/>
          <a:p>
            <a:pPr marL="0" indent="0" algn="r">
              <a:buNone/>
            </a:pPr>
            <a:r>
              <a:rPr lang="en-US" sz="1800" b="1" kern="0" spc="252" dirty="0">
                <a:solidFill>
                  <a:srgbClr val="93A5BB"/>
                </a:solidFill>
                <a:latin typeface="Arial" panose="020B0604020202020204" pitchFamily="34" charset="0"/>
                <a:ea typeface="Arial" panose="020B0604020202020204" pitchFamily="34" charset="-122"/>
                <a:cs typeface="Arial" panose="020B0604020202020204" pitchFamily="34" charset="-120"/>
              </a:rPr>
              <a:t>MIN</a:t>
            </a:r>
            <a:endParaRPr lang="en-US" sz="1800" dirty="0"/>
          </a:p>
        </p:txBody>
      </p:sp>
      <p:sp>
        <p:nvSpPr>
          <p:cNvPr id="11" name="Text 9"/>
          <p:cNvSpPr/>
          <p:nvPr/>
        </p:nvSpPr>
        <p:spPr>
          <a:xfrm>
            <a:off x="12122661" y="3831878"/>
            <a:ext cx="2730535" cy="300038"/>
          </a:xfrm>
          <a:prstGeom prst="rect">
            <a:avLst/>
          </a:prstGeom>
          <a:noFill/>
        </p:spPr>
        <p:txBody>
          <a:bodyPr wrap="square" lIns="25400" tIns="25400" rIns="25400" bIns="25400" rtlCol="0" anchor="t">
            <a:normAutofit/>
          </a:bodyPr>
          <a:lstStyle/>
          <a:p>
            <a:pPr marL="0" indent="0" algn="r">
              <a:buNone/>
            </a:pPr>
            <a:r>
              <a:rPr lang="en-US" sz="1800" b="1" kern="0" spc="252" dirty="0">
                <a:solidFill>
                  <a:srgbClr val="93A5BB"/>
                </a:solidFill>
                <a:latin typeface="Arial" panose="020B0604020202020204" pitchFamily="34" charset="0"/>
                <a:ea typeface="Arial" panose="020B0604020202020204" pitchFamily="34" charset="-122"/>
                <a:cs typeface="Arial" panose="020B0604020202020204" pitchFamily="34" charset="-120"/>
              </a:rPr>
              <a:t>MEDIAN</a:t>
            </a:r>
            <a:endParaRPr lang="en-US" sz="1800" dirty="0"/>
          </a:p>
        </p:txBody>
      </p:sp>
      <p:sp>
        <p:nvSpPr>
          <p:cNvPr id="12" name="Text 10"/>
          <p:cNvSpPr/>
          <p:nvPr/>
        </p:nvSpPr>
        <p:spPr>
          <a:xfrm>
            <a:off x="14604965" y="3831878"/>
            <a:ext cx="2730535" cy="300038"/>
          </a:xfrm>
          <a:prstGeom prst="rect">
            <a:avLst/>
          </a:prstGeom>
          <a:noFill/>
        </p:spPr>
        <p:txBody>
          <a:bodyPr wrap="square" lIns="25400" tIns="25400" rIns="25400" bIns="25400" rtlCol="0" anchor="t">
            <a:normAutofit/>
          </a:bodyPr>
          <a:lstStyle/>
          <a:p>
            <a:pPr marL="0" indent="0" algn="r">
              <a:buNone/>
            </a:pPr>
            <a:r>
              <a:rPr lang="en-US" sz="1800" b="1" kern="0" spc="252" dirty="0">
                <a:solidFill>
                  <a:srgbClr val="93A5BB"/>
                </a:solidFill>
                <a:latin typeface="Arial" panose="020B0604020202020204" pitchFamily="34" charset="0"/>
                <a:ea typeface="Arial" panose="020B0604020202020204" pitchFamily="34" charset="-122"/>
                <a:cs typeface="Arial" panose="020B0604020202020204" pitchFamily="34" charset="-120"/>
              </a:rPr>
              <a:t>MAX</a:t>
            </a:r>
            <a:endParaRPr lang="en-US" sz="1800" dirty="0"/>
          </a:p>
        </p:txBody>
      </p:sp>
      <p:sp>
        <p:nvSpPr>
          <p:cNvPr id="13" name="Shape 11"/>
          <p:cNvSpPr/>
          <p:nvPr/>
        </p:nvSpPr>
        <p:spPr>
          <a:xfrm>
            <a:off x="952500" y="5246340"/>
            <a:ext cx="16383000" cy="19050"/>
          </a:xfrm>
          <a:prstGeom prst="rect">
            <a:avLst/>
          </a:prstGeom>
          <a:solidFill>
            <a:srgbClr val="E2ECF7">
              <a:alpha val="22000"/>
            </a:srgbClr>
          </a:solidFill>
        </p:spPr>
      </p:sp>
      <p:sp>
        <p:nvSpPr>
          <p:cNvPr id="14" name="Text 12"/>
          <p:cNvSpPr/>
          <p:nvPr/>
        </p:nvSpPr>
        <p:spPr>
          <a:xfrm>
            <a:off x="952500" y="4589115"/>
            <a:ext cx="4368790" cy="409575"/>
          </a:xfrm>
          <a:prstGeom prst="rect">
            <a:avLst/>
          </a:prstGeom>
          <a:noFill/>
        </p:spPr>
        <p:txBody>
          <a:bodyPr wrap="square" lIns="25400" tIns="25400" rIns="25400" bIns="25400" rtlCol="0" anchor="t">
            <a:normAutofit/>
          </a:bodyPr>
          <a:lstStyle/>
          <a:p>
            <a:pPr marL="0" indent="0" algn="l">
              <a:buNone/>
            </a:pPr>
            <a:r>
              <a:rPr lang="en-US" sz="2550" b="1" dirty="0">
                <a:solidFill>
                  <a:srgbClr val="EDF2F8"/>
                </a:solidFill>
                <a:latin typeface="Arial" panose="020B0604020202020204" pitchFamily="34" charset="0"/>
                <a:ea typeface="Arial" panose="020B0604020202020204" pitchFamily="34" charset="-122"/>
                <a:cs typeface="Arial" panose="020B0604020202020204" pitchFamily="34" charset="-120"/>
              </a:rPr>
              <a:t>Billing quantity ODU</a:t>
            </a:r>
            <a:endParaRPr lang="en-US" sz="2550" dirty="0"/>
          </a:p>
        </p:txBody>
      </p:sp>
      <p:sp>
        <p:nvSpPr>
          <p:cNvPr id="15" name="Text 13"/>
          <p:cNvSpPr/>
          <p:nvPr/>
        </p:nvSpPr>
        <p:spPr>
          <a:xfrm>
            <a:off x="4675904" y="4603403"/>
            <a:ext cx="2730453" cy="390525"/>
          </a:xfrm>
          <a:prstGeom prst="rect">
            <a:avLst/>
          </a:prstGeom>
          <a:noFill/>
        </p:spPr>
        <p:txBody>
          <a:bodyPr wrap="square" lIns="25400" tIns="25400" rIns="25400" bIns="25400" rtlCol="0" anchor="t">
            <a:normAutofit/>
          </a:bodyPr>
          <a:lstStyle/>
          <a:p>
            <a:pPr marL="0" indent="0" algn="r">
              <a:buNone/>
            </a:pPr>
            <a:r>
              <a:rPr lang="en-US" sz="2550" dirty="0">
                <a:solidFill>
                  <a:srgbClr val="EDF2F8"/>
                </a:solidFill>
                <a:latin typeface="Arial" panose="020B0604020202020204" pitchFamily="34" charset="0"/>
                <a:ea typeface="Arial" panose="020B0604020202020204" pitchFamily="34" charset="-122"/>
                <a:cs typeface="Arial" panose="020B0604020202020204" pitchFamily="34" charset="-120"/>
              </a:rPr>
              <a:t>8.89</a:t>
            </a:r>
            <a:endParaRPr lang="en-US" sz="2550" dirty="0"/>
          </a:p>
        </p:txBody>
      </p:sp>
      <p:sp>
        <p:nvSpPr>
          <p:cNvPr id="16" name="Text 14"/>
          <p:cNvSpPr/>
          <p:nvPr/>
        </p:nvSpPr>
        <p:spPr>
          <a:xfrm>
            <a:off x="7158127" y="4603403"/>
            <a:ext cx="2730535" cy="390525"/>
          </a:xfrm>
          <a:prstGeom prst="rect">
            <a:avLst/>
          </a:prstGeom>
          <a:noFill/>
        </p:spPr>
        <p:txBody>
          <a:bodyPr wrap="square" lIns="25400" tIns="25400" rIns="25400" bIns="25400" rtlCol="0" anchor="t">
            <a:normAutofit/>
          </a:bodyPr>
          <a:lstStyle/>
          <a:p>
            <a:pPr marL="0" indent="0" algn="r">
              <a:buNone/>
            </a:pPr>
            <a:r>
              <a:rPr lang="en-US" sz="2550" dirty="0">
                <a:solidFill>
                  <a:srgbClr val="EDF2F8"/>
                </a:solidFill>
                <a:latin typeface="Arial" panose="020B0604020202020204" pitchFamily="34" charset="0"/>
                <a:ea typeface="Arial" panose="020B0604020202020204" pitchFamily="34" charset="-122"/>
                <a:cs typeface="Arial" panose="020B0604020202020204" pitchFamily="34" charset="-120"/>
              </a:rPr>
              <a:t>18.05</a:t>
            </a:r>
            <a:endParaRPr lang="en-US" sz="2550" dirty="0"/>
          </a:p>
        </p:txBody>
      </p:sp>
      <p:sp>
        <p:nvSpPr>
          <p:cNvPr id="17" name="Text 15"/>
          <p:cNvSpPr/>
          <p:nvPr/>
        </p:nvSpPr>
        <p:spPr>
          <a:xfrm>
            <a:off x="9640439" y="4603403"/>
            <a:ext cx="2730453" cy="390525"/>
          </a:xfrm>
          <a:prstGeom prst="rect">
            <a:avLst/>
          </a:prstGeom>
          <a:noFill/>
        </p:spPr>
        <p:txBody>
          <a:bodyPr wrap="square" lIns="25400" tIns="25400" rIns="25400" bIns="25400" rtlCol="0" anchor="t">
            <a:normAutofit/>
          </a:bodyPr>
          <a:lstStyle/>
          <a:p>
            <a:pPr marL="0" indent="0" algn="r">
              <a:buNone/>
            </a:pPr>
            <a:r>
              <a:rPr lang="en-US" sz="2550" dirty="0">
                <a:solidFill>
                  <a:srgbClr val="E2745F"/>
                </a:solidFill>
                <a:latin typeface="Arial" panose="020B0604020202020204" pitchFamily="34" charset="0"/>
                <a:ea typeface="Arial" panose="020B0604020202020204" pitchFamily="34" charset="-122"/>
                <a:cs typeface="Arial" panose="020B0604020202020204" pitchFamily="34" charset="-120"/>
              </a:rPr>
              <a:t>−135</a:t>
            </a:r>
            <a:endParaRPr lang="en-US" sz="2550" dirty="0"/>
          </a:p>
        </p:txBody>
      </p:sp>
      <p:sp>
        <p:nvSpPr>
          <p:cNvPr id="18" name="Text 16"/>
          <p:cNvSpPr/>
          <p:nvPr/>
        </p:nvSpPr>
        <p:spPr>
          <a:xfrm>
            <a:off x="12122661" y="4603403"/>
            <a:ext cx="2730535" cy="390525"/>
          </a:xfrm>
          <a:prstGeom prst="rect">
            <a:avLst/>
          </a:prstGeom>
          <a:noFill/>
        </p:spPr>
        <p:txBody>
          <a:bodyPr wrap="square" lIns="25400" tIns="25400" rIns="25400" bIns="25400" rtlCol="0" anchor="t">
            <a:normAutofit/>
          </a:bodyPr>
          <a:lstStyle/>
          <a:p>
            <a:pPr marL="0" indent="0" algn="r">
              <a:buNone/>
            </a:pPr>
            <a:r>
              <a:rPr lang="en-US" sz="2550" dirty="0">
                <a:solidFill>
                  <a:srgbClr val="EDF2F8"/>
                </a:solidFill>
                <a:latin typeface="Arial" panose="020B0604020202020204" pitchFamily="34" charset="0"/>
                <a:ea typeface="Arial" panose="020B0604020202020204" pitchFamily="34" charset="-122"/>
                <a:cs typeface="Arial" panose="020B0604020202020204" pitchFamily="34" charset="-120"/>
              </a:rPr>
              <a:t>3</a:t>
            </a:r>
            <a:endParaRPr lang="en-US" sz="2550" dirty="0"/>
          </a:p>
        </p:txBody>
      </p:sp>
      <p:sp>
        <p:nvSpPr>
          <p:cNvPr id="19" name="Text 17"/>
          <p:cNvSpPr/>
          <p:nvPr/>
        </p:nvSpPr>
        <p:spPr>
          <a:xfrm>
            <a:off x="14604965" y="4603403"/>
            <a:ext cx="2730535" cy="390525"/>
          </a:xfrm>
          <a:prstGeom prst="rect">
            <a:avLst/>
          </a:prstGeom>
          <a:noFill/>
        </p:spPr>
        <p:txBody>
          <a:bodyPr wrap="square" lIns="25400" tIns="25400" rIns="25400" bIns="25400" rtlCol="0" anchor="t">
            <a:normAutofit/>
          </a:bodyPr>
          <a:lstStyle/>
          <a:p>
            <a:pPr marL="0" indent="0" algn="r">
              <a:buNone/>
            </a:pPr>
            <a:r>
              <a:rPr lang="en-US" sz="2550" dirty="0">
                <a:solidFill>
                  <a:srgbClr val="EDF2F8"/>
                </a:solidFill>
                <a:latin typeface="Arial" panose="020B0604020202020204" pitchFamily="34" charset="0"/>
                <a:ea typeface="Arial" panose="020B0604020202020204" pitchFamily="34" charset="-122"/>
                <a:cs typeface="Arial" panose="020B0604020202020204" pitchFamily="34" charset="-120"/>
              </a:rPr>
              <a:t>180</a:t>
            </a:r>
            <a:endParaRPr lang="en-US" sz="2550" dirty="0"/>
          </a:p>
        </p:txBody>
      </p:sp>
      <p:sp>
        <p:nvSpPr>
          <p:cNvPr id="20" name="Shape 18"/>
          <p:cNvSpPr/>
          <p:nvPr/>
        </p:nvSpPr>
        <p:spPr>
          <a:xfrm>
            <a:off x="952500" y="6208365"/>
            <a:ext cx="16383000" cy="19050"/>
          </a:xfrm>
          <a:prstGeom prst="rect">
            <a:avLst/>
          </a:prstGeom>
          <a:solidFill>
            <a:srgbClr val="E2ECF7">
              <a:alpha val="22000"/>
            </a:srgbClr>
          </a:solidFill>
        </p:spPr>
      </p:sp>
      <p:sp>
        <p:nvSpPr>
          <p:cNvPr id="21" name="Text 19"/>
          <p:cNvSpPr/>
          <p:nvPr/>
        </p:nvSpPr>
        <p:spPr>
          <a:xfrm>
            <a:off x="952500" y="5551140"/>
            <a:ext cx="4368790" cy="409575"/>
          </a:xfrm>
          <a:prstGeom prst="rect">
            <a:avLst/>
          </a:prstGeom>
          <a:noFill/>
        </p:spPr>
        <p:txBody>
          <a:bodyPr wrap="square" lIns="25400" tIns="25400" rIns="25400" bIns="25400" rtlCol="0" anchor="t">
            <a:normAutofit/>
          </a:bodyPr>
          <a:lstStyle/>
          <a:p>
            <a:pPr marL="0" indent="0" algn="l">
              <a:buNone/>
            </a:pPr>
            <a:r>
              <a:rPr lang="en-US" sz="2550" b="1" dirty="0">
                <a:solidFill>
                  <a:srgbClr val="EDF2F8"/>
                </a:solidFill>
                <a:latin typeface="Arial" panose="020B0604020202020204" pitchFamily="34" charset="0"/>
                <a:ea typeface="Arial" panose="020B0604020202020204" pitchFamily="34" charset="-122"/>
                <a:cs typeface="Arial" panose="020B0604020202020204" pitchFamily="34" charset="-120"/>
              </a:rPr>
              <a:t>Billing quantity IDU</a:t>
            </a:r>
            <a:endParaRPr lang="en-US" sz="2550" dirty="0"/>
          </a:p>
        </p:txBody>
      </p:sp>
      <p:sp>
        <p:nvSpPr>
          <p:cNvPr id="22" name="Text 20"/>
          <p:cNvSpPr/>
          <p:nvPr/>
        </p:nvSpPr>
        <p:spPr>
          <a:xfrm>
            <a:off x="4675904" y="5565428"/>
            <a:ext cx="2730453" cy="390525"/>
          </a:xfrm>
          <a:prstGeom prst="rect">
            <a:avLst/>
          </a:prstGeom>
          <a:noFill/>
        </p:spPr>
        <p:txBody>
          <a:bodyPr wrap="square" lIns="25400" tIns="25400" rIns="25400" bIns="25400" rtlCol="0" anchor="t">
            <a:normAutofit/>
          </a:bodyPr>
          <a:lstStyle/>
          <a:p>
            <a:pPr marL="0" indent="0" algn="r">
              <a:buNone/>
            </a:pPr>
            <a:r>
              <a:rPr lang="en-US" sz="2550" dirty="0">
                <a:solidFill>
                  <a:srgbClr val="EDF2F8"/>
                </a:solidFill>
                <a:latin typeface="Arial" panose="020B0604020202020204" pitchFamily="34" charset="0"/>
                <a:ea typeface="Arial" panose="020B0604020202020204" pitchFamily="34" charset="-122"/>
                <a:cs typeface="Arial" panose="020B0604020202020204" pitchFamily="34" charset="-120"/>
              </a:rPr>
              <a:t>2.11</a:t>
            </a:r>
            <a:endParaRPr lang="en-US" sz="2550" dirty="0"/>
          </a:p>
        </p:txBody>
      </p:sp>
      <p:sp>
        <p:nvSpPr>
          <p:cNvPr id="23" name="Text 21"/>
          <p:cNvSpPr/>
          <p:nvPr/>
        </p:nvSpPr>
        <p:spPr>
          <a:xfrm>
            <a:off x="7158127" y="5565428"/>
            <a:ext cx="2730535" cy="390525"/>
          </a:xfrm>
          <a:prstGeom prst="rect">
            <a:avLst/>
          </a:prstGeom>
          <a:noFill/>
        </p:spPr>
        <p:txBody>
          <a:bodyPr wrap="square" lIns="25400" tIns="25400" rIns="25400" bIns="25400" rtlCol="0" anchor="t">
            <a:normAutofit/>
          </a:bodyPr>
          <a:lstStyle/>
          <a:p>
            <a:pPr marL="0" indent="0" algn="r">
              <a:buNone/>
            </a:pPr>
            <a:r>
              <a:rPr lang="en-US" sz="2550" dirty="0">
                <a:solidFill>
                  <a:srgbClr val="EDF2F8"/>
                </a:solidFill>
                <a:latin typeface="Arial" panose="020B0604020202020204" pitchFamily="34" charset="0"/>
                <a:ea typeface="Arial" panose="020B0604020202020204" pitchFamily="34" charset="-122"/>
                <a:cs typeface="Arial" panose="020B0604020202020204" pitchFamily="34" charset="-120"/>
              </a:rPr>
              <a:t>10.35</a:t>
            </a:r>
            <a:endParaRPr lang="en-US" sz="2550" dirty="0"/>
          </a:p>
        </p:txBody>
      </p:sp>
      <p:sp>
        <p:nvSpPr>
          <p:cNvPr id="24" name="Text 22"/>
          <p:cNvSpPr/>
          <p:nvPr/>
        </p:nvSpPr>
        <p:spPr>
          <a:xfrm>
            <a:off x="9640439" y="5565428"/>
            <a:ext cx="2730453" cy="390525"/>
          </a:xfrm>
          <a:prstGeom prst="rect">
            <a:avLst/>
          </a:prstGeom>
          <a:noFill/>
        </p:spPr>
        <p:txBody>
          <a:bodyPr wrap="square" lIns="25400" tIns="25400" rIns="25400" bIns="25400" rtlCol="0" anchor="t">
            <a:normAutofit/>
          </a:bodyPr>
          <a:lstStyle/>
          <a:p>
            <a:pPr marL="0" indent="0" algn="r">
              <a:buNone/>
            </a:pPr>
            <a:r>
              <a:rPr lang="en-US" sz="2550" dirty="0">
                <a:solidFill>
                  <a:srgbClr val="E2745F"/>
                </a:solidFill>
                <a:latin typeface="Arial" panose="020B0604020202020204" pitchFamily="34" charset="0"/>
                <a:ea typeface="Arial" panose="020B0604020202020204" pitchFamily="34" charset="-122"/>
                <a:cs typeface="Arial" panose="020B0604020202020204" pitchFamily="34" charset="-120"/>
              </a:rPr>
              <a:t>−30</a:t>
            </a:r>
            <a:endParaRPr lang="en-US" sz="2550" dirty="0"/>
          </a:p>
        </p:txBody>
      </p:sp>
      <p:sp>
        <p:nvSpPr>
          <p:cNvPr id="25" name="Text 23"/>
          <p:cNvSpPr/>
          <p:nvPr/>
        </p:nvSpPr>
        <p:spPr>
          <a:xfrm>
            <a:off x="12122661" y="5551140"/>
            <a:ext cx="2730535" cy="409575"/>
          </a:xfrm>
          <a:prstGeom prst="rect">
            <a:avLst/>
          </a:prstGeom>
          <a:noFill/>
        </p:spPr>
        <p:txBody>
          <a:bodyPr wrap="square" lIns="25400" tIns="25400" rIns="25400" bIns="25400" rtlCol="0" anchor="t">
            <a:normAutofit/>
          </a:bodyPr>
          <a:lstStyle/>
          <a:p>
            <a:pPr marL="0" indent="0" algn="r">
              <a:buNone/>
            </a:pPr>
            <a:r>
              <a:rPr lang="en-US" sz="2550" b="1" dirty="0">
                <a:solidFill>
                  <a:srgbClr val="57D2E6"/>
                </a:solidFill>
                <a:latin typeface="Arial" panose="020B0604020202020204" pitchFamily="34" charset="0"/>
                <a:ea typeface="Arial" panose="020B0604020202020204" pitchFamily="34" charset="-122"/>
                <a:cs typeface="Arial" panose="020B0604020202020204" pitchFamily="34" charset="-120"/>
              </a:rPr>
              <a:t>0</a:t>
            </a:r>
            <a:endParaRPr lang="en-US" sz="2550" dirty="0"/>
          </a:p>
        </p:txBody>
      </p:sp>
      <p:sp>
        <p:nvSpPr>
          <p:cNvPr id="26" name="Text 24"/>
          <p:cNvSpPr/>
          <p:nvPr/>
        </p:nvSpPr>
        <p:spPr>
          <a:xfrm>
            <a:off x="14604965" y="5565428"/>
            <a:ext cx="2730535" cy="390525"/>
          </a:xfrm>
          <a:prstGeom prst="rect">
            <a:avLst/>
          </a:prstGeom>
          <a:noFill/>
        </p:spPr>
        <p:txBody>
          <a:bodyPr wrap="square" lIns="25400" tIns="25400" rIns="25400" bIns="25400" rtlCol="0" anchor="t">
            <a:normAutofit/>
          </a:bodyPr>
          <a:lstStyle/>
          <a:p>
            <a:pPr marL="0" indent="0" algn="r">
              <a:buNone/>
            </a:pPr>
            <a:r>
              <a:rPr lang="en-US" sz="2550" dirty="0">
                <a:solidFill>
                  <a:srgbClr val="EDF2F8"/>
                </a:solidFill>
                <a:latin typeface="Arial" panose="020B0604020202020204" pitchFamily="34" charset="0"/>
                <a:ea typeface="Arial" panose="020B0604020202020204" pitchFamily="34" charset="-122"/>
                <a:cs typeface="Arial" panose="020B0604020202020204" pitchFamily="34" charset="-120"/>
              </a:rPr>
              <a:t>170</a:t>
            </a:r>
            <a:endParaRPr lang="en-US" sz="2550" dirty="0"/>
          </a:p>
        </p:txBody>
      </p:sp>
      <p:sp>
        <p:nvSpPr>
          <p:cNvPr id="27" name="Shape 25"/>
          <p:cNvSpPr/>
          <p:nvPr/>
        </p:nvSpPr>
        <p:spPr>
          <a:xfrm>
            <a:off x="952500" y="7170390"/>
            <a:ext cx="16383000" cy="19050"/>
          </a:xfrm>
          <a:prstGeom prst="rect">
            <a:avLst/>
          </a:prstGeom>
          <a:solidFill>
            <a:srgbClr val="E2ECF7">
              <a:alpha val="22000"/>
            </a:srgbClr>
          </a:solidFill>
        </p:spPr>
      </p:sp>
      <p:sp>
        <p:nvSpPr>
          <p:cNvPr id="28" name="Text 26"/>
          <p:cNvSpPr/>
          <p:nvPr/>
        </p:nvSpPr>
        <p:spPr>
          <a:xfrm>
            <a:off x="952500" y="6513165"/>
            <a:ext cx="4368790" cy="409575"/>
          </a:xfrm>
          <a:prstGeom prst="rect">
            <a:avLst/>
          </a:prstGeom>
          <a:noFill/>
        </p:spPr>
        <p:txBody>
          <a:bodyPr wrap="square" lIns="25400" tIns="25400" rIns="25400" bIns="25400" rtlCol="0" anchor="t">
            <a:normAutofit/>
          </a:bodyPr>
          <a:lstStyle/>
          <a:p>
            <a:pPr marL="0" indent="0" algn="l">
              <a:buNone/>
            </a:pPr>
            <a:r>
              <a:rPr lang="en-US" sz="2550" b="1" dirty="0">
                <a:solidFill>
                  <a:srgbClr val="EDF2F8"/>
                </a:solidFill>
                <a:latin typeface="Arial" panose="020B0604020202020204" pitchFamily="34" charset="0"/>
                <a:ea typeface="Arial" panose="020B0604020202020204" pitchFamily="34" charset="-122"/>
                <a:cs typeface="Arial" panose="020B0604020202020204" pitchFamily="34" charset="-120"/>
              </a:rPr>
              <a:t>Tonnage</a:t>
            </a:r>
            <a:endParaRPr lang="en-US" sz="2550" dirty="0"/>
          </a:p>
        </p:txBody>
      </p:sp>
      <p:sp>
        <p:nvSpPr>
          <p:cNvPr id="29" name="Text 27"/>
          <p:cNvSpPr/>
          <p:nvPr/>
        </p:nvSpPr>
        <p:spPr>
          <a:xfrm>
            <a:off x="4675904" y="6527453"/>
            <a:ext cx="2730453" cy="390525"/>
          </a:xfrm>
          <a:prstGeom prst="rect">
            <a:avLst/>
          </a:prstGeom>
          <a:noFill/>
        </p:spPr>
        <p:txBody>
          <a:bodyPr wrap="square" lIns="25400" tIns="25400" rIns="25400" bIns="25400" rtlCol="0" anchor="t">
            <a:normAutofit/>
          </a:bodyPr>
          <a:lstStyle/>
          <a:p>
            <a:pPr marL="0" indent="0" algn="r">
              <a:buNone/>
            </a:pPr>
            <a:r>
              <a:rPr lang="en-US" sz="2550" dirty="0">
                <a:solidFill>
                  <a:srgbClr val="EDF2F8"/>
                </a:solidFill>
                <a:latin typeface="Arial" panose="020B0604020202020204" pitchFamily="34" charset="0"/>
                <a:ea typeface="Arial" panose="020B0604020202020204" pitchFamily="34" charset="-122"/>
                <a:cs typeface="Arial" panose="020B0604020202020204" pitchFamily="34" charset="-120"/>
              </a:rPr>
              <a:t>1.28</a:t>
            </a:r>
            <a:endParaRPr lang="en-US" sz="2550" dirty="0"/>
          </a:p>
        </p:txBody>
      </p:sp>
      <p:sp>
        <p:nvSpPr>
          <p:cNvPr id="30" name="Text 28"/>
          <p:cNvSpPr/>
          <p:nvPr/>
        </p:nvSpPr>
        <p:spPr>
          <a:xfrm>
            <a:off x="7158127" y="6527453"/>
            <a:ext cx="2730535" cy="390525"/>
          </a:xfrm>
          <a:prstGeom prst="rect">
            <a:avLst/>
          </a:prstGeom>
          <a:noFill/>
        </p:spPr>
        <p:txBody>
          <a:bodyPr wrap="square" lIns="25400" tIns="25400" rIns="25400" bIns="25400" rtlCol="0" anchor="t">
            <a:normAutofit/>
          </a:bodyPr>
          <a:lstStyle/>
          <a:p>
            <a:pPr marL="0" indent="0" algn="r">
              <a:buNone/>
            </a:pPr>
            <a:r>
              <a:rPr lang="en-US" sz="2550" dirty="0">
                <a:solidFill>
                  <a:srgbClr val="EDF2F8"/>
                </a:solidFill>
                <a:latin typeface="Arial" panose="020B0604020202020204" pitchFamily="34" charset="0"/>
                <a:ea typeface="Arial" panose="020B0604020202020204" pitchFamily="34" charset="-122"/>
                <a:cs typeface="Arial" panose="020B0604020202020204" pitchFamily="34" charset="-120"/>
              </a:rPr>
              <a:t>0.56</a:t>
            </a:r>
            <a:endParaRPr lang="en-US" sz="2550" dirty="0"/>
          </a:p>
        </p:txBody>
      </p:sp>
      <p:sp>
        <p:nvSpPr>
          <p:cNvPr id="31" name="Text 29"/>
          <p:cNvSpPr/>
          <p:nvPr/>
        </p:nvSpPr>
        <p:spPr>
          <a:xfrm>
            <a:off x="9640439" y="6527453"/>
            <a:ext cx="2730453" cy="390525"/>
          </a:xfrm>
          <a:prstGeom prst="rect">
            <a:avLst/>
          </a:prstGeom>
          <a:noFill/>
        </p:spPr>
        <p:txBody>
          <a:bodyPr wrap="square" lIns="25400" tIns="25400" rIns="25400" bIns="25400" rtlCol="0" anchor="t">
            <a:normAutofit/>
          </a:bodyPr>
          <a:lstStyle/>
          <a:p>
            <a:pPr marL="0" indent="0" algn="r">
              <a:buNone/>
            </a:pPr>
            <a:r>
              <a:rPr lang="en-US" sz="2550" dirty="0">
                <a:solidFill>
                  <a:srgbClr val="EDF2F8"/>
                </a:solidFill>
                <a:latin typeface="Arial" panose="020B0604020202020204" pitchFamily="34" charset="0"/>
                <a:ea typeface="Arial" panose="020B0604020202020204" pitchFamily="34" charset="-122"/>
                <a:cs typeface="Arial" panose="020B0604020202020204" pitchFamily="34" charset="-120"/>
              </a:rPr>
              <a:t>0</a:t>
            </a:r>
            <a:endParaRPr lang="en-US" sz="2550" dirty="0"/>
          </a:p>
        </p:txBody>
      </p:sp>
      <p:sp>
        <p:nvSpPr>
          <p:cNvPr id="32" name="Text 30"/>
          <p:cNvSpPr/>
          <p:nvPr/>
        </p:nvSpPr>
        <p:spPr>
          <a:xfrm>
            <a:off x="12122661" y="6527453"/>
            <a:ext cx="2730535" cy="390525"/>
          </a:xfrm>
          <a:prstGeom prst="rect">
            <a:avLst/>
          </a:prstGeom>
          <a:noFill/>
        </p:spPr>
        <p:txBody>
          <a:bodyPr wrap="square" lIns="25400" tIns="25400" rIns="25400" bIns="25400" rtlCol="0" anchor="t">
            <a:normAutofit/>
          </a:bodyPr>
          <a:lstStyle/>
          <a:p>
            <a:pPr marL="0" indent="0" algn="r">
              <a:buNone/>
            </a:pPr>
            <a:r>
              <a:rPr lang="en-US" sz="2550" dirty="0">
                <a:solidFill>
                  <a:srgbClr val="EDF2F8"/>
                </a:solidFill>
                <a:latin typeface="Arial" panose="020B0604020202020204" pitchFamily="34" charset="0"/>
                <a:ea typeface="Arial" panose="020B0604020202020204" pitchFamily="34" charset="-122"/>
                <a:cs typeface="Arial" panose="020B0604020202020204" pitchFamily="34" charset="-120"/>
              </a:rPr>
              <a:t>1.5</a:t>
            </a:r>
            <a:endParaRPr lang="en-US" sz="2550" dirty="0"/>
          </a:p>
        </p:txBody>
      </p:sp>
      <p:sp>
        <p:nvSpPr>
          <p:cNvPr id="33" name="Text 31"/>
          <p:cNvSpPr/>
          <p:nvPr/>
        </p:nvSpPr>
        <p:spPr>
          <a:xfrm>
            <a:off x="14604965" y="6527453"/>
            <a:ext cx="2730535" cy="390525"/>
          </a:xfrm>
          <a:prstGeom prst="rect">
            <a:avLst/>
          </a:prstGeom>
          <a:noFill/>
        </p:spPr>
        <p:txBody>
          <a:bodyPr wrap="square" lIns="25400" tIns="25400" rIns="25400" bIns="25400" rtlCol="0" anchor="t">
            <a:normAutofit/>
          </a:bodyPr>
          <a:lstStyle/>
          <a:p>
            <a:pPr marL="0" indent="0" algn="r">
              <a:buNone/>
            </a:pPr>
            <a:r>
              <a:rPr lang="en-US" sz="2550" dirty="0">
                <a:solidFill>
                  <a:srgbClr val="EDF2F8"/>
                </a:solidFill>
                <a:latin typeface="Arial" panose="020B0604020202020204" pitchFamily="34" charset="0"/>
                <a:ea typeface="Arial" panose="020B0604020202020204" pitchFamily="34" charset="-122"/>
                <a:cs typeface="Arial" panose="020B0604020202020204" pitchFamily="34" charset="-120"/>
              </a:rPr>
              <a:t>2.2</a:t>
            </a:r>
            <a:endParaRPr lang="en-US" sz="2550" dirty="0"/>
          </a:p>
        </p:txBody>
      </p:sp>
      <p:sp>
        <p:nvSpPr>
          <p:cNvPr id="34" name="Text 32"/>
          <p:cNvSpPr/>
          <p:nvPr/>
        </p:nvSpPr>
        <p:spPr>
          <a:xfrm>
            <a:off x="952500" y="7513290"/>
            <a:ext cx="13735050" cy="838200"/>
          </a:xfrm>
          <a:prstGeom prst="rect">
            <a:avLst/>
          </a:prstGeom>
          <a:noFill/>
        </p:spPr>
        <p:txBody>
          <a:bodyPr wrap="square" lIns="25400" tIns="25400" rIns="25400" bIns="25400" rtlCol="0" anchor="t">
            <a:normAutofit/>
          </a:bodyPr>
          <a:lstStyle/>
          <a:p>
            <a:pPr marL="0" indent="0" algn="l">
              <a:lnSpc>
                <a:spcPct val="129000"/>
              </a:lnSpc>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Across 82,033 scored lines, standard deviation runs at roughly twice the mean on ODU and five times the mean on IDU. Negative minima are the return transactions isolated in the quality audit.</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E1622"/>
        </a:solidFill>
        <a:effectLst/>
      </p:bgPr>
    </p:bg>
    <p:spTree>
      <p:nvGrpSpPr>
        <p:cNvPr id="1" name=""/>
        <p:cNvGrpSpPr/>
        <p:nvPr/>
      </p:nvGrpSpPr>
      <p:grpSpPr>
        <a:xfrm>
          <a:off x="0" y="0"/>
          <a:ext cx="0" cy="0"/>
          <a:chOff x="0" y="0"/>
          <a:chExt cx="0" cy="0"/>
        </a:xfrm>
      </p:grpSpPr>
      <p:sp>
        <p:nvSpPr>
          <p:cNvPr id="2" name="Text 0"/>
          <p:cNvSpPr/>
          <p:nvPr/>
        </p:nvSpPr>
        <p:spPr>
          <a:xfrm>
            <a:off x="952500" y="978535"/>
            <a:ext cx="18021300" cy="300038"/>
          </a:xfrm>
          <a:prstGeom prst="rect">
            <a:avLst/>
          </a:prstGeom>
          <a:noFill/>
        </p:spPr>
        <p:txBody>
          <a:bodyPr wrap="square" lIns="25400" tIns="25400" rIns="25400" bIns="25400" rtlCol="0" anchor="t">
            <a:normAutofit/>
          </a:bodyPr>
          <a:lstStyle/>
          <a:p>
            <a:pPr marL="0" indent="0" algn="l">
              <a:buNone/>
            </a:pPr>
            <a:r>
              <a:rPr lang="en-US" sz="1800" b="1" kern="0" spc="360" dirty="0">
                <a:solidFill>
                  <a:srgbClr val="57D2E6"/>
                </a:solidFill>
                <a:latin typeface="Arial" panose="020B0604020202020204" pitchFamily="34" charset="0"/>
                <a:ea typeface="Arial" panose="020B0604020202020204" pitchFamily="34" charset="-122"/>
                <a:cs typeface="Arial" panose="020B0604020202020204" pitchFamily="34" charset="-120"/>
              </a:rPr>
              <a:t>06 — METHOD</a:t>
            </a:r>
            <a:endParaRPr lang="en-US" sz="1800" dirty="0"/>
          </a:p>
        </p:txBody>
      </p:sp>
      <p:sp>
        <p:nvSpPr>
          <p:cNvPr id="3" name="Text 1"/>
          <p:cNvSpPr/>
          <p:nvPr/>
        </p:nvSpPr>
        <p:spPr>
          <a:xfrm>
            <a:off x="952500" y="1423988"/>
            <a:ext cx="15304770" cy="1379190"/>
          </a:xfrm>
          <a:prstGeom prst="rect">
            <a:avLst/>
          </a:prstGeom>
          <a:noFill/>
        </p:spPr>
        <p:txBody>
          <a:bodyPr wrap="square" lIns="25400" tIns="25400" rIns="25400" bIns="25400" rtlCol="0" anchor="t">
            <a:normAutofit/>
          </a:bodyPr>
          <a:lstStyle/>
          <a:p>
            <a:pPr marL="0" indent="0" algn="l">
              <a:lnSpc>
                <a:spcPct val="96000"/>
              </a:lnSpc>
              <a:buNone/>
            </a:pPr>
            <a:r>
              <a:rPr lang="en-US" sz="4800" b="1" kern="0" spc="-96" dirty="0">
                <a:solidFill>
                  <a:srgbClr val="EDF2F8"/>
                </a:solidFill>
                <a:latin typeface="Arial" panose="020B0604020202020204" pitchFamily="34" charset="0"/>
                <a:ea typeface="Arial" panose="020B0604020202020204" pitchFamily="34" charset="-122"/>
                <a:cs typeface="Arial" panose="020B0604020202020204" pitchFamily="34" charset="-120"/>
              </a:rPr>
              <a:t>Lumpy demand forces a two-track model set — statistical and machine learning side by side</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p:spPr>
      </p:sp>
      <p:sp>
        <p:nvSpPr>
          <p:cNvPr id="5" name="Shape 3"/>
          <p:cNvSpPr/>
          <p:nvPr/>
        </p:nvSpPr>
        <p:spPr>
          <a:xfrm>
            <a:off x="952500" y="3622328"/>
            <a:ext cx="16383000" cy="19050"/>
          </a:xfrm>
          <a:prstGeom prst="rect">
            <a:avLst/>
          </a:prstGeom>
          <a:solidFill>
            <a:srgbClr val="E2ECF7">
              <a:alpha val="22000"/>
            </a:srgbClr>
          </a:solidFill>
        </p:spPr>
      </p:sp>
      <p:sp>
        <p:nvSpPr>
          <p:cNvPr id="6" name="Shape 4"/>
          <p:cNvSpPr/>
          <p:nvPr/>
        </p:nvSpPr>
        <p:spPr>
          <a:xfrm>
            <a:off x="6394400" y="3641378"/>
            <a:ext cx="19050" cy="5883622"/>
          </a:xfrm>
          <a:prstGeom prst="rect">
            <a:avLst/>
          </a:prstGeom>
          <a:solidFill>
            <a:srgbClr val="E2ECF7">
              <a:alpha val="22000"/>
            </a:srgbClr>
          </a:solidFill>
        </p:spPr>
      </p:sp>
      <p:sp>
        <p:nvSpPr>
          <p:cNvPr id="7" name="Text 5"/>
          <p:cNvSpPr/>
          <p:nvPr/>
        </p:nvSpPr>
        <p:spPr>
          <a:xfrm>
            <a:off x="952500" y="4060478"/>
            <a:ext cx="5483170" cy="300038"/>
          </a:xfrm>
          <a:prstGeom prst="rect">
            <a:avLst/>
          </a:prstGeom>
          <a:noFill/>
        </p:spPr>
        <p:txBody>
          <a:bodyPr wrap="square" lIns="25400" tIns="25400" rIns="25400" bIns="25400" rtlCol="0" anchor="t">
            <a:normAutofit/>
          </a:bodyPr>
          <a:lstStyle/>
          <a:p>
            <a:pPr marL="0" indent="0" algn="l">
              <a:buNone/>
            </a:pPr>
            <a:r>
              <a:rPr lang="en-US" sz="1800" b="1" kern="0" spc="288" dirty="0">
                <a:solidFill>
                  <a:srgbClr val="57D2E6"/>
                </a:solidFill>
                <a:latin typeface="Arial" panose="020B0604020202020204" pitchFamily="34" charset="0"/>
                <a:ea typeface="Arial" panose="020B0604020202020204" pitchFamily="34" charset="-122"/>
                <a:cs typeface="Arial" panose="020B0604020202020204" pitchFamily="34" charset="-120"/>
              </a:rPr>
              <a:t>MODELS EVALUATED</a:t>
            </a:r>
            <a:endParaRPr lang="en-US" sz="1800" dirty="0"/>
          </a:p>
        </p:txBody>
      </p:sp>
      <p:sp>
        <p:nvSpPr>
          <p:cNvPr id="8" name="Text 6"/>
          <p:cNvSpPr/>
          <p:nvPr/>
        </p:nvSpPr>
        <p:spPr>
          <a:xfrm>
            <a:off x="952500" y="4551015"/>
            <a:ext cx="5483170" cy="411435"/>
          </a:xfrm>
          <a:prstGeom prst="rect">
            <a:avLst/>
          </a:prstGeom>
          <a:noFill/>
        </p:spPr>
        <p:txBody>
          <a:bodyPr wrap="square" lIns="25400" tIns="25400" rIns="25400" bIns="25400" rtlCol="0" anchor="t">
            <a:normAutofit/>
          </a:bodyPr>
          <a:lstStyle/>
          <a:p>
            <a:pPr marL="0" indent="0" algn="l">
              <a:lnSpc>
                <a:spcPct val="121000"/>
              </a:lnSpc>
              <a:buNone/>
            </a:pPr>
            <a:r>
              <a:rPr lang="en-US" sz="2100" dirty="0">
                <a:solidFill>
                  <a:srgbClr val="EDF2F8"/>
                </a:solidFill>
                <a:latin typeface="Arial" panose="020B0604020202020204" pitchFamily="34" charset="0"/>
                <a:ea typeface="Arial" panose="020B0604020202020204" pitchFamily="34" charset="-122"/>
                <a:cs typeface="Arial" panose="020B0604020202020204" pitchFamily="34" charset="-120"/>
              </a:rPr>
              <a:t>ARIMA (1,1,1)</a:t>
            </a:r>
            <a:endParaRPr lang="en-US" sz="2100" dirty="0"/>
          </a:p>
        </p:txBody>
      </p:sp>
      <p:sp>
        <p:nvSpPr>
          <p:cNvPr id="9" name="Text 7"/>
          <p:cNvSpPr/>
          <p:nvPr/>
        </p:nvSpPr>
        <p:spPr>
          <a:xfrm>
            <a:off x="952500" y="5152951"/>
            <a:ext cx="5483170" cy="411435"/>
          </a:xfrm>
          <a:prstGeom prst="rect">
            <a:avLst/>
          </a:prstGeom>
          <a:noFill/>
        </p:spPr>
        <p:txBody>
          <a:bodyPr wrap="square" lIns="25400" tIns="25400" rIns="25400" bIns="25400" rtlCol="0" anchor="t">
            <a:normAutofit/>
          </a:bodyPr>
          <a:lstStyle/>
          <a:p>
            <a:pPr marL="0" indent="0" algn="l">
              <a:lnSpc>
                <a:spcPct val="121000"/>
              </a:lnSpc>
              <a:buNone/>
            </a:pPr>
            <a:r>
              <a:rPr lang="en-US" sz="2100" dirty="0">
                <a:solidFill>
                  <a:srgbClr val="EDF2F8"/>
                </a:solidFill>
                <a:latin typeface="Arial" panose="020B0604020202020204" pitchFamily="34" charset="0"/>
                <a:ea typeface="Arial" panose="020B0604020202020204" pitchFamily="34" charset="-122"/>
                <a:cs typeface="Arial" panose="020B0604020202020204" pitchFamily="34" charset="-120"/>
              </a:rPr>
              <a:t>SARIMA (1,1,1,12)</a:t>
            </a:r>
            <a:endParaRPr lang="en-US" sz="2100" dirty="0"/>
          </a:p>
        </p:txBody>
      </p:sp>
      <p:sp>
        <p:nvSpPr>
          <p:cNvPr id="10" name="Text 8"/>
          <p:cNvSpPr/>
          <p:nvPr/>
        </p:nvSpPr>
        <p:spPr>
          <a:xfrm>
            <a:off x="952500" y="5754886"/>
            <a:ext cx="5483170" cy="411435"/>
          </a:xfrm>
          <a:prstGeom prst="rect">
            <a:avLst/>
          </a:prstGeom>
          <a:noFill/>
        </p:spPr>
        <p:txBody>
          <a:bodyPr wrap="square" lIns="25400" tIns="25400" rIns="25400" bIns="25400" rtlCol="0" anchor="t">
            <a:normAutofit/>
          </a:bodyPr>
          <a:lstStyle/>
          <a:p>
            <a:pPr marL="0" indent="0" algn="l">
              <a:lnSpc>
                <a:spcPct val="121000"/>
              </a:lnSpc>
              <a:buNone/>
            </a:pPr>
            <a:r>
              <a:rPr lang="en-US" sz="2100" dirty="0">
                <a:solidFill>
                  <a:srgbClr val="EDF2F8"/>
                </a:solidFill>
                <a:latin typeface="Arial" panose="020B0604020202020204" pitchFamily="34" charset="0"/>
                <a:ea typeface="Arial" panose="020B0604020202020204" pitchFamily="34" charset="-122"/>
                <a:cs typeface="Arial" panose="020B0604020202020204" pitchFamily="34" charset="-120"/>
              </a:rPr>
              <a:t>Exponential Smoothing</a:t>
            </a:r>
            <a:endParaRPr lang="en-US" sz="2100" dirty="0"/>
          </a:p>
        </p:txBody>
      </p:sp>
      <p:sp>
        <p:nvSpPr>
          <p:cNvPr id="11" name="Text 9"/>
          <p:cNvSpPr/>
          <p:nvPr/>
        </p:nvSpPr>
        <p:spPr>
          <a:xfrm>
            <a:off x="952500" y="6356821"/>
            <a:ext cx="5483170" cy="411435"/>
          </a:xfrm>
          <a:prstGeom prst="rect">
            <a:avLst/>
          </a:prstGeom>
          <a:noFill/>
        </p:spPr>
        <p:txBody>
          <a:bodyPr wrap="square" lIns="25400" tIns="25400" rIns="25400" bIns="25400" rtlCol="0" anchor="t">
            <a:normAutofit/>
          </a:bodyPr>
          <a:lstStyle/>
          <a:p>
            <a:pPr marL="0" indent="0" algn="l">
              <a:lnSpc>
                <a:spcPct val="121000"/>
              </a:lnSpc>
              <a:buNone/>
            </a:pPr>
            <a:r>
              <a:rPr lang="en-US" sz="2100" dirty="0">
                <a:solidFill>
                  <a:srgbClr val="EDF2F8"/>
                </a:solidFill>
                <a:latin typeface="Arial" panose="020B0604020202020204" pitchFamily="34" charset="0"/>
                <a:ea typeface="Arial" panose="020B0604020202020204" pitchFamily="34" charset="-122"/>
                <a:cs typeface="Arial" panose="020B0604020202020204" pitchFamily="34" charset="-120"/>
              </a:rPr>
              <a:t>Random Forest</a:t>
            </a:r>
            <a:endParaRPr lang="en-US" sz="2100" dirty="0"/>
          </a:p>
        </p:txBody>
      </p:sp>
      <p:sp>
        <p:nvSpPr>
          <p:cNvPr id="12" name="Text 10"/>
          <p:cNvSpPr/>
          <p:nvPr/>
        </p:nvSpPr>
        <p:spPr>
          <a:xfrm>
            <a:off x="952500" y="6958757"/>
            <a:ext cx="5483170" cy="411435"/>
          </a:xfrm>
          <a:prstGeom prst="rect">
            <a:avLst/>
          </a:prstGeom>
          <a:noFill/>
        </p:spPr>
        <p:txBody>
          <a:bodyPr wrap="square" lIns="25400" tIns="25400" rIns="25400" bIns="25400" rtlCol="0" anchor="t">
            <a:normAutofit/>
          </a:bodyPr>
          <a:lstStyle/>
          <a:p>
            <a:pPr marL="0" indent="0" algn="l">
              <a:lnSpc>
                <a:spcPct val="121000"/>
              </a:lnSpc>
              <a:buNone/>
            </a:pPr>
            <a:r>
              <a:rPr lang="en-US" sz="2100" dirty="0">
                <a:solidFill>
                  <a:srgbClr val="EDF2F8"/>
                </a:solidFill>
                <a:latin typeface="Arial" panose="020B0604020202020204" pitchFamily="34" charset="0"/>
                <a:ea typeface="Arial" panose="020B0604020202020204" pitchFamily="34" charset="-122"/>
                <a:cs typeface="Arial" panose="020B0604020202020204" pitchFamily="34" charset="-120"/>
              </a:rPr>
              <a:t>Gradient Boosting</a:t>
            </a:r>
            <a:endParaRPr lang="en-US" sz="2100" dirty="0"/>
          </a:p>
        </p:txBody>
      </p:sp>
      <p:sp>
        <p:nvSpPr>
          <p:cNvPr id="13" name="Shape 11"/>
          <p:cNvSpPr/>
          <p:nvPr/>
        </p:nvSpPr>
        <p:spPr>
          <a:xfrm>
            <a:off x="11855425" y="3641378"/>
            <a:ext cx="19050" cy="5883622"/>
          </a:xfrm>
          <a:prstGeom prst="rect">
            <a:avLst/>
          </a:prstGeom>
          <a:solidFill>
            <a:srgbClr val="E2ECF7">
              <a:alpha val="22000"/>
            </a:srgbClr>
          </a:solidFill>
        </p:spPr>
      </p:sp>
      <p:sp>
        <p:nvSpPr>
          <p:cNvPr id="14" name="Text 12"/>
          <p:cNvSpPr/>
          <p:nvPr/>
        </p:nvSpPr>
        <p:spPr>
          <a:xfrm>
            <a:off x="6870650" y="4060478"/>
            <a:ext cx="4980332" cy="300038"/>
          </a:xfrm>
          <a:prstGeom prst="rect">
            <a:avLst/>
          </a:prstGeom>
          <a:noFill/>
        </p:spPr>
        <p:txBody>
          <a:bodyPr wrap="square" lIns="25400" tIns="25400" rIns="25400" bIns="25400" rtlCol="0" anchor="t">
            <a:normAutofit/>
          </a:bodyPr>
          <a:lstStyle/>
          <a:p>
            <a:pPr marL="0" indent="0" algn="l">
              <a:buNone/>
            </a:pPr>
            <a:r>
              <a:rPr lang="en-US" sz="1800" b="1" kern="0" spc="288" dirty="0">
                <a:solidFill>
                  <a:srgbClr val="57D2E6"/>
                </a:solidFill>
                <a:latin typeface="Arial" panose="020B0604020202020204" pitchFamily="34" charset="0"/>
                <a:ea typeface="Arial" panose="020B0604020202020204" pitchFamily="34" charset="-122"/>
                <a:cs typeface="Arial" panose="020B0604020202020204" pitchFamily="34" charset="-120"/>
              </a:rPr>
              <a:t>FEATURE ENGINEERING</a:t>
            </a:r>
            <a:endParaRPr lang="en-US" sz="1800" dirty="0"/>
          </a:p>
        </p:txBody>
      </p:sp>
      <p:sp>
        <p:nvSpPr>
          <p:cNvPr id="15" name="Text 13"/>
          <p:cNvSpPr/>
          <p:nvPr/>
        </p:nvSpPr>
        <p:spPr>
          <a:xfrm>
            <a:off x="6870650" y="4551015"/>
            <a:ext cx="4663402" cy="784771"/>
          </a:xfrm>
          <a:prstGeom prst="rect">
            <a:avLst/>
          </a:prstGeom>
          <a:noFill/>
        </p:spPr>
        <p:txBody>
          <a:bodyPr wrap="square" lIns="25400" tIns="25400" rIns="25400" bIns="25400" rtlCol="0" anchor="t">
            <a:normAutofit/>
          </a:bodyPr>
          <a:lstStyle/>
          <a:p>
            <a:pPr marL="0" indent="0" algn="l">
              <a:lnSpc>
                <a:spcPct val="121000"/>
              </a:lnSpc>
              <a:buNone/>
            </a:pPr>
            <a:r>
              <a:rPr lang="en-US" sz="2100" dirty="0">
                <a:solidFill>
                  <a:srgbClr val="EDF2F8"/>
                </a:solidFill>
                <a:latin typeface="Arial" panose="020B0604020202020204" pitchFamily="34" charset="0"/>
                <a:ea typeface="Arial" panose="020B0604020202020204" pitchFamily="34" charset="-122"/>
                <a:cs typeface="Arial" panose="020B0604020202020204" pitchFamily="34" charset="-120"/>
              </a:rPr>
              <a:t>Calendar features — week, month, quarter, day of year</a:t>
            </a:r>
            <a:endParaRPr lang="en-US" sz="2100" dirty="0"/>
          </a:p>
        </p:txBody>
      </p:sp>
      <p:sp>
        <p:nvSpPr>
          <p:cNvPr id="16" name="Text 14"/>
          <p:cNvSpPr/>
          <p:nvPr/>
        </p:nvSpPr>
        <p:spPr>
          <a:xfrm>
            <a:off x="6870650" y="5526286"/>
            <a:ext cx="4663402" cy="784771"/>
          </a:xfrm>
          <a:prstGeom prst="rect">
            <a:avLst/>
          </a:prstGeom>
          <a:noFill/>
        </p:spPr>
        <p:txBody>
          <a:bodyPr wrap="square" lIns="25400" tIns="25400" rIns="25400" bIns="25400" rtlCol="0" anchor="t">
            <a:normAutofit/>
          </a:bodyPr>
          <a:lstStyle/>
          <a:p>
            <a:pPr marL="0" indent="0" algn="l">
              <a:lnSpc>
                <a:spcPct val="121000"/>
              </a:lnSpc>
              <a:buNone/>
            </a:pPr>
            <a:r>
              <a:rPr lang="en-US" sz="2100" dirty="0">
                <a:solidFill>
                  <a:srgbClr val="EDF2F8"/>
                </a:solidFill>
                <a:latin typeface="Arial" panose="020B0604020202020204" pitchFamily="34" charset="0"/>
                <a:ea typeface="Arial" panose="020B0604020202020204" pitchFamily="34" charset="-122"/>
                <a:cs typeface="Arial" panose="020B0604020202020204" pitchFamily="34" charset="-120"/>
              </a:rPr>
              <a:t>Lag features — previous four weeks of demand</a:t>
            </a:r>
            <a:endParaRPr lang="en-US" sz="2100" dirty="0"/>
          </a:p>
        </p:txBody>
      </p:sp>
      <p:sp>
        <p:nvSpPr>
          <p:cNvPr id="17" name="Text 15"/>
          <p:cNvSpPr/>
          <p:nvPr/>
        </p:nvSpPr>
        <p:spPr>
          <a:xfrm>
            <a:off x="6870650" y="6501557"/>
            <a:ext cx="4663402" cy="784771"/>
          </a:xfrm>
          <a:prstGeom prst="rect">
            <a:avLst/>
          </a:prstGeom>
          <a:noFill/>
        </p:spPr>
        <p:txBody>
          <a:bodyPr wrap="square" lIns="25400" tIns="25400" rIns="25400" bIns="25400" rtlCol="0" anchor="t">
            <a:normAutofit/>
          </a:bodyPr>
          <a:lstStyle/>
          <a:p>
            <a:pPr marL="0" indent="0" algn="l">
              <a:lnSpc>
                <a:spcPct val="121000"/>
              </a:lnSpc>
              <a:buNone/>
            </a:pPr>
            <a:r>
              <a:rPr lang="en-US" sz="2100" dirty="0">
                <a:solidFill>
                  <a:srgbClr val="EDF2F8"/>
                </a:solidFill>
                <a:latin typeface="Arial" panose="020B0604020202020204" pitchFamily="34" charset="0"/>
                <a:ea typeface="Arial" panose="020B0604020202020204" pitchFamily="34" charset="-122"/>
                <a:cs typeface="Arial" panose="020B0604020202020204" pitchFamily="34" charset="-120"/>
              </a:rPr>
              <a:t>Rolling averages — two-week and four-week windows</a:t>
            </a:r>
            <a:endParaRPr lang="en-US" sz="2100" dirty="0"/>
          </a:p>
        </p:txBody>
      </p:sp>
      <p:sp>
        <p:nvSpPr>
          <p:cNvPr id="18" name="Text 16"/>
          <p:cNvSpPr/>
          <p:nvPr/>
        </p:nvSpPr>
        <p:spPr>
          <a:xfrm>
            <a:off x="12331675" y="4060478"/>
            <a:ext cx="5504125" cy="300038"/>
          </a:xfrm>
          <a:prstGeom prst="rect">
            <a:avLst/>
          </a:prstGeom>
          <a:noFill/>
        </p:spPr>
        <p:txBody>
          <a:bodyPr wrap="square" lIns="25400" tIns="25400" rIns="25400" bIns="25400" rtlCol="0" anchor="t">
            <a:normAutofit/>
          </a:bodyPr>
          <a:lstStyle/>
          <a:p>
            <a:pPr marL="0" indent="0" algn="l">
              <a:buNone/>
            </a:pPr>
            <a:r>
              <a:rPr lang="en-US" sz="1800" b="1" kern="0" spc="288" dirty="0">
                <a:solidFill>
                  <a:srgbClr val="57D2E6"/>
                </a:solidFill>
                <a:latin typeface="Arial" panose="020B0604020202020204" pitchFamily="34" charset="0"/>
                <a:ea typeface="Arial" panose="020B0604020202020204" pitchFamily="34" charset="-122"/>
                <a:cs typeface="Arial" panose="020B0604020202020204" pitchFamily="34" charset="-120"/>
              </a:rPr>
              <a:t>VALIDATION DESIGN</a:t>
            </a:r>
            <a:endParaRPr lang="en-US" sz="1800" dirty="0"/>
          </a:p>
        </p:txBody>
      </p:sp>
      <p:sp>
        <p:nvSpPr>
          <p:cNvPr id="19" name="Text 17"/>
          <p:cNvSpPr/>
          <p:nvPr/>
        </p:nvSpPr>
        <p:spPr>
          <a:xfrm>
            <a:off x="12331675" y="4551015"/>
            <a:ext cx="5504125" cy="411435"/>
          </a:xfrm>
          <a:prstGeom prst="rect">
            <a:avLst/>
          </a:prstGeom>
          <a:noFill/>
        </p:spPr>
        <p:txBody>
          <a:bodyPr wrap="square" lIns="25400" tIns="25400" rIns="25400" bIns="25400" rtlCol="0" anchor="t">
            <a:normAutofit/>
          </a:bodyPr>
          <a:lstStyle/>
          <a:p>
            <a:pPr marL="0" indent="0" algn="l">
              <a:lnSpc>
                <a:spcPct val="121000"/>
              </a:lnSpc>
              <a:buNone/>
            </a:pPr>
            <a:r>
              <a:rPr lang="en-US" sz="2100" dirty="0">
                <a:solidFill>
                  <a:srgbClr val="EDF2F8"/>
                </a:solidFill>
                <a:latin typeface="Arial" panose="020B0604020202020204" pitchFamily="34" charset="0"/>
                <a:ea typeface="Arial" panose="020B0604020202020204" pitchFamily="34" charset="-122"/>
                <a:cs typeface="Arial" panose="020B0604020202020204" pitchFamily="34" charset="-120"/>
              </a:rPr>
              <a:t>80 / 20 train-validation split per series</a:t>
            </a:r>
            <a:endParaRPr lang="en-US" sz="2100" dirty="0"/>
          </a:p>
        </p:txBody>
      </p:sp>
      <p:sp>
        <p:nvSpPr>
          <p:cNvPr id="20" name="Text 18"/>
          <p:cNvSpPr/>
          <p:nvPr/>
        </p:nvSpPr>
        <p:spPr>
          <a:xfrm>
            <a:off x="12331675" y="5152951"/>
            <a:ext cx="5504125" cy="411435"/>
          </a:xfrm>
          <a:prstGeom prst="rect">
            <a:avLst/>
          </a:prstGeom>
          <a:noFill/>
        </p:spPr>
        <p:txBody>
          <a:bodyPr wrap="square" lIns="25400" tIns="25400" rIns="25400" bIns="25400" rtlCol="0" anchor="t">
            <a:normAutofit/>
          </a:bodyPr>
          <a:lstStyle/>
          <a:p>
            <a:pPr marL="0" indent="0" algn="l">
              <a:lnSpc>
                <a:spcPct val="121000"/>
              </a:lnSpc>
              <a:buNone/>
            </a:pPr>
            <a:r>
              <a:rPr lang="en-US" sz="2100" dirty="0">
                <a:solidFill>
                  <a:srgbClr val="EDF2F8"/>
                </a:solidFill>
                <a:latin typeface="Arial" panose="020B0604020202020204" pitchFamily="34" charset="0"/>
                <a:ea typeface="Arial" panose="020B0604020202020204" pitchFamily="34" charset="-122"/>
                <a:cs typeface="Arial" panose="020B0604020202020204" pitchFamily="34" charset="-120"/>
              </a:rPr>
              <a:t>Scored on MAE, RMSE and MAPE</a:t>
            </a:r>
            <a:endParaRPr lang="en-US" sz="2100" dirty="0"/>
          </a:p>
        </p:txBody>
      </p:sp>
      <p:sp>
        <p:nvSpPr>
          <p:cNvPr id="21" name="Text 19"/>
          <p:cNvSpPr/>
          <p:nvPr/>
        </p:nvSpPr>
        <p:spPr>
          <a:xfrm>
            <a:off x="12331675" y="5754886"/>
            <a:ext cx="5153863" cy="784771"/>
          </a:xfrm>
          <a:prstGeom prst="rect">
            <a:avLst/>
          </a:prstGeom>
          <a:noFill/>
        </p:spPr>
        <p:txBody>
          <a:bodyPr wrap="square" lIns="25400" tIns="25400" rIns="25400" bIns="25400" rtlCol="0" anchor="t">
            <a:normAutofit/>
          </a:bodyPr>
          <a:lstStyle/>
          <a:p>
            <a:pPr marL="0" indent="0" algn="l">
              <a:lnSpc>
                <a:spcPct val="121000"/>
              </a:lnSpc>
              <a:buNone/>
            </a:pPr>
            <a:r>
              <a:rPr lang="en-US" sz="2100" dirty="0">
                <a:solidFill>
                  <a:srgbClr val="EDF2F8"/>
                </a:solidFill>
                <a:latin typeface="Arial" panose="020B0604020202020204" pitchFamily="34" charset="0"/>
                <a:ea typeface="Arial" panose="020B0604020202020204" pitchFamily="34" charset="-122"/>
                <a:cs typeface="Arial" panose="020B0604020202020204" pitchFamily="34" charset="-120"/>
              </a:rPr>
              <a:t>Minimum 10 observations; 20–30 weeks preferred</a:t>
            </a:r>
            <a:endParaRPr lang="en-US" sz="2100" dirty="0"/>
          </a:p>
        </p:txBody>
      </p:sp>
      <p:sp>
        <p:nvSpPr>
          <p:cNvPr id="22" name="Text 20"/>
          <p:cNvSpPr/>
          <p:nvPr/>
        </p:nvSpPr>
        <p:spPr>
          <a:xfrm>
            <a:off x="12331675" y="6730157"/>
            <a:ext cx="5153863" cy="784771"/>
          </a:xfrm>
          <a:prstGeom prst="rect">
            <a:avLst/>
          </a:prstGeom>
          <a:noFill/>
        </p:spPr>
        <p:txBody>
          <a:bodyPr wrap="square" lIns="25400" tIns="25400" rIns="25400" bIns="25400" rtlCol="0" anchor="t">
            <a:normAutofit/>
          </a:bodyPr>
          <a:lstStyle/>
          <a:p>
            <a:pPr marL="0" indent="0" algn="l">
              <a:lnSpc>
                <a:spcPct val="121000"/>
              </a:lnSpc>
              <a:buNone/>
            </a:pPr>
            <a:r>
              <a:rPr lang="en-US" sz="2100" dirty="0">
                <a:solidFill>
                  <a:srgbClr val="EDF2F8"/>
                </a:solidFill>
                <a:latin typeface="Arial" panose="020B0604020202020204" pitchFamily="34" charset="0"/>
                <a:ea typeface="Arial" panose="020B0604020202020204" pitchFamily="34" charset="-122"/>
                <a:cs typeface="Arial" panose="020B0604020202020204" pitchFamily="34" charset="-120"/>
              </a:rPr>
              <a:t>Confidence bands configurable from 80% to 99%</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E1622"/>
        </a:solidFill>
        <a:effectLst/>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p:spPr>
        <p:txBody>
          <a:bodyPr wrap="square" lIns="25400" tIns="25400" rIns="25400" bIns="25400" rtlCol="0" anchor="t">
            <a:normAutofit/>
          </a:bodyPr>
          <a:lstStyle/>
          <a:p>
            <a:pPr marL="0" indent="0" algn="l">
              <a:buNone/>
            </a:pPr>
            <a:r>
              <a:rPr lang="en-US" sz="1800" b="1" kern="0" spc="360" dirty="0">
                <a:solidFill>
                  <a:srgbClr val="57D2E6"/>
                </a:solidFill>
                <a:latin typeface="Arial" panose="020B0604020202020204" pitchFamily="34" charset="0"/>
                <a:ea typeface="Arial" panose="020B0604020202020204" pitchFamily="34" charset="-122"/>
                <a:cs typeface="Arial" panose="020B0604020202020204" pitchFamily="34" charset="-120"/>
              </a:rPr>
              <a:t>07 — RESULTS</a:t>
            </a:r>
            <a:endParaRPr lang="en-US" sz="1800" dirty="0"/>
          </a:p>
        </p:txBody>
      </p:sp>
      <p:sp>
        <p:nvSpPr>
          <p:cNvPr id="3" name="Text 1"/>
          <p:cNvSpPr/>
          <p:nvPr/>
        </p:nvSpPr>
        <p:spPr>
          <a:xfrm>
            <a:off x="952500" y="1423988"/>
            <a:ext cx="15304770" cy="1379190"/>
          </a:xfrm>
          <a:prstGeom prst="rect">
            <a:avLst/>
          </a:prstGeom>
          <a:noFill/>
        </p:spPr>
        <p:txBody>
          <a:bodyPr wrap="square" lIns="25400" tIns="25400" rIns="25400" bIns="25400" rtlCol="0" anchor="t">
            <a:normAutofit/>
          </a:bodyPr>
          <a:lstStyle/>
          <a:p>
            <a:pPr marL="0" indent="0" algn="l">
              <a:lnSpc>
                <a:spcPct val="96000"/>
              </a:lnSpc>
              <a:buNone/>
            </a:pPr>
            <a:r>
              <a:rPr lang="en-US" sz="4800" b="1" kern="0" spc="-96" dirty="0">
                <a:solidFill>
                  <a:srgbClr val="EDF2F8"/>
                </a:solidFill>
                <a:latin typeface="Arial" panose="020B0604020202020204" pitchFamily="34" charset="0"/>
                <a:ea typeface="Arial" panose="020B0604020202020204" pitchFamily="34" charset="-122"/>
                <a:cs typeface="Arial" panose="020B0604020202020204" pitchFamily="34" charset="-120"/>
              </a:rPr>
              <a:t>A 12-week rolling forecast now runs across 42 branch–SKU series</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p:spPr>
      </p:sp>
      <p:sp>
        <p:nvSpPr>
          <p:cNvPr id="5" name="Shape 3"/>
          <p:cNvSpPr/>
          <p:nvPr/>
        </p:nvSpPr>
        <p:spPr>
          <a:xfrm>
            <a:off x="952500" y="5371058"/>
            <a:ext cx="16383000" cy="19050"/>
          </a:xfrm>
          <a:prstGeom prst="rect">
            <a:avLst/>
          </a:prstGeom>
          <a:solidFill>
            <a:srgbClr val="E2ECF7">
              <a:alpha val="22000"/>
            </a:srgbClr>
          </a:solidFill>
        </p:spPr>
      </p:sp>
      <p:sp>
        <p:nvSpPr>
          <p:cNvPr id="6" name="Shape 4"/>
          <p:cNvSpPr/>
          <p:nvPr/>
        </p:nvSpPr>
        <p:spPr>
          <a:xfrm>
            <a:off x="952500" y="3622328"/>
            <a:ext cx="16383000" cy="19050"/>
          </a:xfrm>
          <a:prstGeom prst="rect">
            <a:avLst/>
          </a:prstGeom>
          <a:solidFill>
            <a:srgbClr val="E2ECF7">
              <a:alpha val="22000"/>
            </a:srgbClr>
          </a:solidFill>
        </p:spPr>
      </p:sp>
      <p:sp>
        <p:nvSpPr>
          <p:cNvPr id="7" name="Shape 5"/>
          <p:cNvSpPr/>
          <p:nvPr/>
        </p:nvSpPr>
        <p:spPr>
          <a:xfrm>
            <a:off x="5029200" y="3641378"/>
            <a:ext cx="19050" cy="1729680"/>
          </a:xfrm>
          <a:prstGeom prst="rect">
            <a:avLst/>
          </a:prstGeom>
          <a:solidFill>
            <a:srgbClr val="E2ECF7">
              <a:alpha val="22000"/>
            </a:srgbClr>
          </a:solidFill>
        </p:spPr>
      </p:sp>
      <p:sp>
        <p:nvSpPr>
          <p:cNvPr id="8" name="Text 6"/>
          <p:cNvSpPr/>
          <p:nvPr/>
        </p:nvSpPr>
        <p:spPr>
          <a:xfrm>
            <a:off x="952500" y="3793778"/>
            <a:ext cx="4065270" cy="628650"/>
          </a:xfrm>
          <a:prstGeom prst="rect">
            <a:avLst/>
          </a:prstGeom>
          <a:noFill/>
        </p:spPr>
        <p:txBody>
          <a:bodyPr wrap="square" lIns="25400" tIns="25400" rIns="25400" bIns="25400" rtlCol="0" anchor="t">
            <a:normAutofit/>
          </a:bodyPr>
          <a:lstStyle/>
          <a:p>
            <a:pPr marL="0" indent="0" algn="l">
              <a:lnSpc>
                <a:spcPct val="87000"/>
              </a:lnSpc>
              <a:buNone/>
            </a:pPr>
            <a:r>
              <a:rPr lang="en-US" sz="4650" b="1" kern="0" spc="-139" dirty="0">
                <a:solidFill>
                  <a:srgbClr val="57D2E6"/>
                </a:solidFill>
                <a:latin typeface="Arial" panose="020B0604020202020204" pitchFamily="34" charset="0"/>
                <a:ea typeface="Arial" panose="020B0604020202020204" pitchFamily="34" charset="-122"/>
                <a:cs typeface="Arial" panose="020B0604020202020204" pitchFamily="34" charset="-120"/>
              </a:rPr>
              <a:t>12</a:t>
            </a:r>
            <a:endParaRPr lang="en-US" sz="4650" dirty="0"/>
          </a:p>
        </p:txBody>
      </p:sp>
      <p:sp>
        <p:nvSpPr>
          <p:cNvPr id="9" name="Text 7"/>
          <p:cNvSpPr/>
          <p:nvPr/>
        </p:nvSpPr>
        <p:spPr>
          <a:xfrm>
            <a:off x="952500" y="4498628"/>
            <a:ext cx="4065270" cy="398115"/>
          </a:xfrm>
          <a:prstGeom prst="rect">
            <a:avLst/>
          </a:prstGeom>
          <a:noFill/>
        </p:spPr>
        <p:txBody>
          <a:bodyPr wrap="square" lIns="25400" tIns="25400" rIns="25400" bIns="25400" rtlCol="0" anchor="t">
            <a:normAutofit/>
          </a:bodyPr>
          <a:lstStyle/>
          <a:p>
            <a:pPr marL="0" indent="0" algn="l">
              <a:lnSpc>
                <a:spcPct val="116000"/>
              </a:lnSpc>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Weeks of forward horizon</a:t>
            </a:r>
            <a:endParaRPr lang="en-US" sz="2100" dirty="0"/>
          </a:p>
        </p:txBody>
      </p:sp>
      <p:sp>
        <p:nvSpPr>
          <p:cNvPr id="10" name="Shape 8"/>
          <p:cNvSpPr/>
          <p:nvPr/>
        </p:nvSpPr>
        <p:spPr>
          <a:xfrm>
            <a:off x="9124950" y="3641378"/>
            <a:ext cx="19050" cy="1729680"/>
          </a:xfrm>
          <a:prstGeom prst="rect">
            <a:avLst/>
          </a:prstGeom>
          <a:solidFill>
            <a:srgbClr val="E2ECF7">
              <a:alpha val="22000"/>
            </a:srgbClr>
          </a:solidFill>
        </p:spPr>
      </p:sp>
      <p:sp>
        <p:nvSpPr>
          <p:cNvPr id="11" name="Text 9"/>
          <p:cNvSpPr/>
          <p:nvPr/>
        </p:nvSpPr>
        <p:spPr>
          <a:xfrm>
            <a:off x="5429250" y="3793778"/>
            <a:ext cx="3646170" cy="628650"/>
          </a:xfrm>
          <a:prstGeom prst="rect">
            <a:avLst/>
          </a:prstGeom>
          <a:noFill/>
        </p:spPr>
        <p:txBody>
          <a:bodyPr wrap="square" lIns="25400" tIns="25400" rIns="25400" bIns="25400" rtlCol="0" anchor="t">
            <a:normAutofit/>
          </a:bodyPr>
          <a:lstStyle/>
          <a:p>
            <a:pPr marL="0" indent="0" algn="l">
              <a:lnSpc>
                <a:spcPct val="87000"/>
              </a:lnSpc>
              <a:buNone/>
            </a:pPr>
            <a:r>
              <a:rPr lang="en-US" sz="4650" b="1" kern="0" spc="-139" dirty="0">
                <a:solidFill>
                  <a:srgbClr val="EDF2F8"/>
                </a:solidFill>
                <a:latin typeface="Arial" panose="020B0604020202020204" pitchFamily="34" charset="0"/>
                <a:ea typeface="Arial" panose="020B0604020202020204" pitchFamily="34" charset="-122"/>
                <a:cs typeface="Arial" panose="020B0604020202020204" pitchFamily="34" charset="-120"/>
              </a:rPr>
              <a:t>42</a:t>
            </a:r>
            <a:endParaRPr lang="en-US" sz="4650" dirty="0"/>
          </a:p>
        </p:txBody>
      </p:sp>
      <p:sp>
        <p:nvSpPr>
          <p:cNvPr id="12" name="Text 10"/>
          <p:cNvSpPr/>
          <p:nvPr/>
        </p:nvSpPr>
        <p:spPr>
          <a:xfrm>
            <a:off x="5429250" y="4498628"/>
            <a:ext cx="3414141" cy="758130"/>
          </a:xfrm>
          <a:prstGeom prst="rect">
            <a:avLst/>
          </a:prstGeom>
          <a:noFill/>
        </p:spPr>
        <p:txBody>
          <a:bodyPr wrap="square" lIns="25400" tIns="25400" rIns="25400" bIns="25400" rtlCol="0" anchor="t">
            <a:normAutofit/>
          </a:bodyPr>
          <a:lstStyle/>
          <a:p>
            <a:pPr marL="0" indent="0" algn="l">
              <a:lnSpc>
                <a:spcPct val="116000"/>
              </a:lnSpc>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Branch–SKU series forecast</a:t>
            </a:r>
            <a:endParaRPr lang="en-US" sz="2100" dirty="0"/>
          </a:p>
        </p:txBody>
      </p:sp>
      <p:sp>
        <p:nvSpPr>
          <p:cNvPr id="13" name="Shape 11"/>
          <p:cNvSpPr/>
          <p:nvPr/>
        </p:nvSpPr>
        <p:spPr>
          <a:xfrm>
            <a:off x="13220700" y="3641378"/>
            <a:ext cx="19050" cy="1729680"/>
          </a:xfrm>
          <a:prstGeom prst="rect">
            <a:avLst/>
          </a:prstGeom>
          <a:solidFill>
            <a:srgbClr val="E2ECF7">
              <a:alpha val="22000"/>
            </a:srgbClr>
          </a:solidFill>
        </p:spPr>
      </p:sp>
      <p:sp>
        <p:nvSpPr>
          <p:cNvPr id="14" name="Text 12"/>
          <p:cNvSpPr/>
          <p:nvPr/>
        </p:nvSpPr>
        <p:spPr>
          <a:xfrm>
            <a:off x="9525000" y="3793778"/>
            <a:ext cx="3646170" cy="628650"/>
          </a:xfrm>
          <a:prstGeom prst="rect">
            <a:avLst/>
          </a:prstGeom>
          <a:noFill/>
        </p:spPr>
        <p:txBody>
          <a:bodyPr wrap="square" lIns="25400" tIns="25400" rIns="25400" bIns="25400" rtlCol="0" anchor="t">
            <a:normAutofit/>
          </a:bodyPr>
          <a:lstStyle/>
          <a:p>
            <a:pPr marL="0" indent="0" algn="l">
              <a:lnSpc>
                <a:spcPct val="87000"/>
              </a:lnSpc>
              <a:buNone/>
            </a:pPr>
            <a:r>
              <a:rPr lang="en-US" sz="4650" b="1" kern="0" spc="-139" dirty="0">
                <a:solidFill>
                  <a:srgbClr val="EDF2F8"/>
                </a:solidFill>
                <a:latin typeface="Arial" panose="020B0604020202020204" pitchFamily="34" charset="0"/>
                <a:ea typeface="Arial" panose="020B0604020202020204" pitchFamily="34" charset="-122"/>
                <a:cs typeface="Arial" panose="020B0604020202020204" pitchFamily="34" charset="-120"/>
              </a:rPr>
              <a:t>15</a:t>
            </a:r>
            <a:endParaRPr lang="en-US" sz="4650" dirty="0"/>
          </a:p>
        </p:txBody>
      </p:sp>
      <p:sp>
        <p:nvSpPr>
          <p:cNvPr id="15" name="Text 13"/>
          <p:cNvSpPr/>
          <p:nvPr/>
        </p:nvSpPr>
        <p:spPr>
          <a:xfrm>
            <a:off x="9525000" y="4498628"/>
            <a:ext cx="3646170" cy="398115"/>
          </a:xfrm>
          <a:prstGeom prst="rect">
            <a:avLst/>
          </a:prstGeom>
          <a:noFill/>
        </p:spPr>
        <p:txBody>
          <a:bodyPr wrap="square" lIns="25400" tIns="25400" rIns="25400" bIns="25400" rtlCol="0" anchor="t">
            <a:normAutofit/>
          </a:bodyPr>
          <a:lstStyle/>
          <a:p>
            <a:pPr marL="0" indent="0" algn="l">
              <a:lnSpc>
                <a:spcPct val="116000"/>
              </a:lnSpc>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Distinct SKUs covered</a:t>
            </a:r>
            <a:endParaRPr lang="en-US" sz="2100" dirty="0"/>
          </a:p>
        </p:txBody>
      </p:sp>
      <p:sp>
        <p:nvSpPr>
          <p:cNvPr id="16" name="Text 14"/>
          <p:cNvSpPr/>
          <p:nvPr/>
        </p:nvSpPr>
        <p:spPr>
          <a:xfrm>
            <a:off x="13620750" y="3793778"/>
            <a:ext cx="4086225" cy="628650"/>
          </a:xfrm>
          <a:prstGeom prst="rect">
            <a:avLst/>
          </a:prstGeom>
          <a:noFill/>
        </p:spPr>
        <p:txBody>
          <a:bodyPr wrap="square" lIns="25400" tIns="25400" rIns="25400" bIns="25400" rtlCol="0" anchor="t">
            <a:normAutofit/>
          </a:bodyPr>
          <a:lstStyle/>
          <a:p>
            <a:pPr marL="0" indent="0" algn="l">
              <a:lnSpc>
                <a:spcPct val="87000"/>
              </a:lnSpc>
              <a:buNone/>
            </a:pPr>
            <a:r>
              <a:rPr lang="en-US" sz="4650" b="1" kern="0" spc="-139" dirty="0">
                <a:solidFill>
                  <a:srgbClr val="EDF2F8"/>
                </a:solidFill>
                <a:latin typeface="Arial" panose="020B0604020202020204" pitchFamily="34" charset="0"/>
                <a:ea typeface="Arial" panose="020B0604020202020204" pitchFamily="34" charset="-122"/>
                <a:cs typeface="Arial" panose="020B0604020202020204" pitchFamily="34" charset="-120"/>
              </a:rPr>
              <a:t>91,504</a:t>
            </a:r>
            <a:endParaRPr lang="en-US" sz="4650" dirty="0"/>
          </a:p>
        </p:txBody>
      </p:sp>
      <p:sp>
        <p:nvSpPr>
          <p:cNvPr id="17" name="Text 15"/>
          <p:cNvSpPr/>
          <p:nvPr/>
        </p:nvSpPr>
        <p:spPr>
          <a:xfrm>
            <a:off x="13620750" y="4498628"/>
            <a:ext cx="3826193" cy="758130"/>
          </a:xfrm>
          <a:prstGeom prst="rect">
            <a:avLst/>
          </a:prstGeom>
          <a:noFill/>
        </p:spPr>
        <p:txBody>
          <a:bodyPr wrap="square" lIns="25400" tIns="25400" rIns="25400" bIns="25400" rtlCol="0" anchor="t">
            <a:normAutofit/>
          </a:bodyPr>
          <a:lstStyle/>
          <a:p>
            <a:pPr marL="0" indent="0" algn="l">
              <a:lnSpc>
                <a:spcPct val="116000"/>
              </a:lnSpc>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Units forecast, from 26 May 2024</a:t>
            </a:r>
            <a:endParaRPr lang="en-US" sz="2100" dirty="0"/>
          </a:p>
        </p:txBody>
      </p:sp>
      <p:sp>
        <p:nvSpPr>
          <p:cNvPr id="18" name="Text 16"/>
          <p:cNvSpPr/>
          <p:nvPr/>
        </p:nvSpPr>
        <p:spPr>
          <a:xfrm>
            <a:off x="952500" y="5675858"/>
            <a:ext cx="18021300" cy="300038"/>
          </a:xfrm>
          <a:prstGeom prst="rect">
            <a:avLst/>
          </a:prstGeom>
          <a:noFill/>
        </p:spPr>
        <p:txBody>
          <a:bodyPr wrap="square" lIns="25400" tIns="25400" rIns="25400" bIns="25400" rtlCol="0" anchor="t">
            <a:normAutofit/>
          </a:bodyPr>
          <a:lstStyle/>
          <a:p>
            <a:pPr marL="0" indent="0" algn="l">
              <a:buNone/>
            </a:pPr>
            <a:r>
              <a:rPr lang="en-US" sz="1800" b="1" kern="0" spc="288" dirty="0">
                <a:solidFill>
                  <a:srgbClr val="93A5BB"/>
                </a:solidFill>
                <a:latin typeface="Arial" panose="020B0604020202020204" pitchFamily="34" charset="0"/>
                <a:ea typeface="Arial" panose="020B0604020202020204" pitchFamily="34" charset="-122"/>
                <a:cs typeface="Arial" panose="020B0604020202020204" pitchFamily="34" charset="-120"/>
              </a:rPr>
              <a:t>FORECAST VOLUME BY HUB — ARIMA RUN, UNITS</a:t>
            </a:r>
            <a:endParaRPr lang="en-US" sz="1800" dirty="0"/>
          </a:p>
        </p:txBody>
      </p:sp>
      <p:sp>
        <p:nvSpPr>
          <p:cNvPr id="19" name="Text 17"/>
          <p:cNvSpPr/>
          <p:nvPr/>
        </p:nvSpPr>
        <p:spPr>
          <a:xfrm>
            <a:off x="952500" y="6183064"/>
            <a:ext cx="1362075" cy="347663"/>
          </a:xfrm>
          <a:prstGeom prst="rect">
            <a:avLst/>
          </a:prstGeom>
          <a:noFill/>
        </p:spPr>
        <p:txBody>
          <a:bodyPr wrap="square" lIns="25400" tIns="25400" rIns="25400" bIns="25400" rtlCol="0" anchor="t">
            <a:normAutofit/>
          </a:bodyPr>
          <a:lstStyle/>
          <a:p>
            <a:pPr marL="0" indent="0" algn="l">
              <a:buNone/>
            </a:pPr>
            <a:r>
              <a:rPr lang="en-US" sz="2100" b="1" dirty="0">
                <a:solidFill>
                  <a:srgbClr val="EDF2F8"/>
                </a:solidFill>
                <a:latin typeface="Arial" panose="020B0604020202020204" pitchFamily="34" charset="0"/>
                <a:ea typeface="Arial" panose="020B0604020202020204" pitchFamily="34" charset="-122"/>
                <a:cs typeface="Arial" panose="020B0604020202020204" pitchFamily="34" charset="-120"/>
              </a:rPr>
              <a:t>SBD</a:t>
            </a:r>
            <a:endParaRPr lang="en-US" sz="2100" dirty="0"/>
          </a:p>
        </p:txBody>
      </p:sp>
      <p:sp>
        <p:nvSpPr>
          <p:cNvPr id="20" name="Shape 18"/>
          <p:cNvSpPr/>
          <p:nvPr/>
        </p:nvSpPr>
        <p:spPr>
          <a:xfrm>
            <a:off x="2457450" y="6147346"/>
            <a:ext cx="12420600" cy="381000"/>
          </a:xfrm>
          <a:prstGeom prst="rect">
            <a:avLst/>
          </a:prstGeom>
          <a:solidFill>
            <a:srgbClr val="57D2E6">
              <a:alpha val="14000"/>
            </a:srgbClr>
          </a:solidFill>
        </p:spPr>
      </p:sp>
      <p:sp>
        <p:nvSpPr>
          <p:cNvPr id="21" name="Shape 19"/>
          <p:cNvSpPr/>
          <p:nvPr/>
        </p:nvSpPr>
        <p:spPr>
          <a:xfrm>
            <a:off x="2457450" y="6147346"/>
            <a:ext cx="12420600" cy="381000"/>
          </a:xfrm>
          <a:prstGeom prst="rect">
            <a:avLst/>
          </a:prstGeom>
          <a:solidFill>
            <a:srgbClr val="57D2E6"/>
          </a:solidFill>
        </p:spPr>
      </p:sp>
      <p:sp>
        <p:nvSpPr>
          <p:cNvPr id="22" name="Text 20"/>
          <p:cNvSpPr/>
          <p:nvPr/>
        </p:nvSpPr>
        <p:spPr>
          <a:xfrm>
            <a:off x="14925675" y="6183064"/>
            <a:ext cx="2409825" cy="347663"/>
          </a:xfrm>
          <a:prstGeom prst="rect">
            <a:avLst/>
          </a:prstGeom>
          <a:noFill/>
        </p:spPr>
        <p:txBody>
          <a:bodyPr wrap="square" lIns="25400" tIns="25400" rIns="25400" bIns="25400" rtlCol="0" anchor="t">
            <a:normAutofit/>
          </a:bodyPr>
          <a:lstStyle/>
          <a:p>
            <a:pPr marL="0" indent="0" algn="r">
              <a:buNone/>
            </a:pPr>
            <a:r>
              <a:rPr lang="en-US" sz="2100" b="1" dirty="0">
                <a:solidFill>
                  <a:srgbClr val="EDF2F8"/>
                </a:solidFill>
                <a:latin typeface="Arial" panose="020B0604020202020204" pitchFamily="34" charset="0"/>
                <a:ea typeface="Arial" panose="020B0604020202020204" pitchFamily="34" charset="-122"/>
                <a:cs typeface="Arial" panose="020B0604020202020204" pitchFamily="34" charset="-120"/>
              </a:rPr>
              <a:t>31,731 · 34.7%</a:t>
            </a:r>
            <a:endParaRPr lang="en-US" sz="2100" dirty="0"/>
          </a:p>
        </p:txBody>
      </p:sp>
      <p:sp>
        <p:nvSpPr>
          <p:cNvPr id="23" name="Text 21"/>
          <p:cNvSpPr/>
          <p:nvPr/>
        </p:nvSpPr>
        <p:spPr>
          <a:xfrm>
            <a:off x="952500" y="6678364"/>
            <a:ext cx="1362075" cy="347663"/>
          </a:xfrm>
          <a:prstGeom prst="rect">
            <a:avLst/>
          </a:prstGeom>
          <a:noFill/>
        </p:spPr>
        <p:txBody>
          <a:bodyPr wrap="square" lIns="25400" tIns="25400" rIns="25400" bIns="25400" rtlCol="0" anchor="t">
            <a:normAutofit/>
          </a:bodyPr>
          <a:lstStyle/>
          <a:p>
            <a:pPr marL="0" indent="0" algn="l">
              <a:buNone/>
            </a:pPr>
            <a:r>
              <a:rPr lang="en-US" sz="2100" b="1" dirty="0">
                <a:solidFill>
                  <a:srgbClr val="EDF2F8"/>
                </a:solidFill>
                <a:latin typeface="Arial" panose="020B0604020202020204" pitchFamily="34" charset="0"/>
                <a:ea typeface="Arial" panose="020B0604020202020204" pitchFamily="34" charset="-122"/>
                <a:cs typeface="Arial" panose="020B0604020202020204" pitchFamily="34" charset="-120"/>
              </a:rPr>
              <a:t>MAA</a:t>
            </a:r>
            <a:endParaRPr lang="en-US" sz="2100" dirty="0"/>
          </a:p>
        </p:txBody>
      </p:sp>
      <p:sp>
        <p:nvSpPr>
          <p:cNvPr id="24" name="Shape 22"/>
          <p:cNvSpPr/>
          <p:nvPr/>
        </p:nvSpPr>
        <p:spPr>
          <a:xfrm>
            <a:off x="2457450" y="6642646"/>
            <a:ext cx="12420600" cy="381000"/>
          </a:xfrm>
          <a:prstGeom prst="rect">
            <a:avLst/>
          </a:prstGeom>
          <a:solidFill>
            <a:srgbClr val="57D2E6">
              <a:alpha val="14000"/>
            </a:srgbClr>
          </a:solidFill>
        </p:spPr>
      </p:sp>
      <p:sp>
        <p:nvSpPr>
          <p:cNvPr id="25" name="Shape 23"/>
          <p:cNvSpPr/>
          <p:nvPr/>
        </p:nvSpPr>
        <p:spPr>
          <a:xfrm>
            <a:off x="2457450" y="6642646"/>
            <a:ext cx="10010998" cy="381000"/>
          </a:xfrm>
          <a:prstGeom prst="rect">
            <a:avLst/>
          </a:prstGeom>
          <a:solidFill>
            <a:srgbClr val="57D2E6"/>
          </a:solidFill>
        </p:spPr>
      </p:sp>
      <p:sp>
        <p:nvSpPr>
          <p:cNvPr id="26" name="Text 24"/>
          <p:cNvSpPr/>
          <p:nvPr/>
        </p:nvSpPr>
        <p:spPr>
          <a:xfrm>
            <a:off x="14925675" y="6678364"/>
            <a:ext cx="2409825" cy="347663"/>
          </a:xfrm>
          <a:prstGeom prst="rect">
            <a:avLst/>
          </a:prstGeom>
          <a:noFill/>
        </p:spPr>
        <p:txBody>
          <a:bodyPr wrap="square" lIns="25400" tIns="25400" rIns="25400" bIns="25400" rtlCol="0" anchor="t">
            <a:normAutofit/>
          </a:bodyPr>
          <a:lstStyle/>
          <a:p>
            <a:pPr marL="0" indent="0" algn="r">
              <a:buNone/>
            </a:pPr>
            <a:r>
              <a:rPr lang="en-US" sz="2100" b="1" dirty="0">
                <a:solidFill>
                  <a:srgbClr val="EDF2F8"/>
                </a:solidFill>
                <a:latin typeface="Arial" panose="020B0604020202020204" pitchFamily="34" charset="0"/>
                <a:ea typeface="Arial" panose="020B0604020202020204" pitchFamily="34" charset="-122"/>
                <a:cs typeface="Arial" panose="020B0604020202020204" pitchFamily="34" charset="-120"/>
              </a:rPr>
              <a:t>25,578 · 28.0%</a:t>
            </a:r>
            <a:endParaRPr lang="en-US" sz="2100" dirty="0"/>
          </a:p>
        </p:txBody>
      </p:sp>
      <p:sp>
        <p:nvSpPr>
          <p:cNvPr id="27" name="Text 25"/>
          <p:cNvSpPr/>
          <p:nvPr/>
        </p:nvSpPr>
        <p:spPr>
          <a:xfrm>
            <a:off x="952500" y="7173664"/>
            <a:ext cx="1362075" cy="347663"/>
          </a:xfrm>
          <a:prstGeom prst="rect">
            <a:avLst/>
          </a:prstGeom>
          <a:noFill/>
        </p:spPr>
        <p:txBody>
          <a:bodyPr wrap="square" lIns="25400" tIns="25400" rIns="25400" bIns="25400" rtlCol="0" anchor="t">
            <a:normAutofit/>
          </a:bodyPr>
          <a:lstStyle/>
          <a:p>
            <a:pPr marL="0" indent="0" algn="l">
              <a:buNone/>
            </a:pPr>
            <a:r>
              <a:rPr lang="en-US" sz="2100" b="1" dirty="0">
                <a:solidFill>
                  <a:srgbClr val="EDF2F8"/>
                </a:solidFill>
                <a:latin typeface="Arial" panose="020B0604020202020204" pitchFamily="34" charset="0"/>
                <a:ea typeface="Arial" panose="020B0604020202020204" pitchFamily="34" charset="-122"/>
                <a:cs typeface="Arial" panose="020B0604020202020204" pitchFamily="34" charset="-120"/>
              </a:rPr>
              <a:t>SBD1</a:t>
            </a:r>
            <a:endParaRPr lang="en-US" sz="2100" dirty="0"/>
          </a:p>
        </p:txBody>
      </p:sp>
      <p:sp>
        <p:nvSpPr>
          <p:cNvPr id="28" name="Shape 26"/>
          <p:cNvSpPr/>
          <p:nvPr/>
        </p:nvSpPr>
        <p:spPr>
          <a:xfrm>
            <a:off x="2457450" y="7137946"/>
            <a:ext cx="12420600" cy="381000"/>
          </a:xfrm>
          <a:prstGeom prst="rect">
            <a:avLst/>
          </a:prstGeom>
          <a:solidFill>
            <a:srgbClr val="57D2E6">
              <a:alpha val="14000"/>
            </a:srgbClr>
          </a:solidFill>
        </p:spPr>
      </p:sp>
      <p:sp>
        <p:nvSpPr>
          <p:cNvPr id="29" name="Shape 27"/>
          <p:cNvSpPr/>
          <p:nvPr/>
        </p:nvSpPr>
        <p:spPr>
          <a:xfrm>
            <a:off x="2457450" y="7137946"/>
            <a:ext cx="6943055" cy="381000"/>
          </a:xfrm>
          <a:prstGeom prst="rect">
            <a:avLst/>
          </a:prstGeom>
          <a:solidFill>
            <a:srgbClr val="2E8FA0"/>
          </a:solidFill>
        </p:spPr>
      </p:sp>
      <p:sp>
        <p:nvSpPr>
          <p:cNvPr id="30" name="Text 28"/>
          <p:cNvSpPr/>
          <p:nvPr/>
        </p:nvSpPr>
        <p:spPr>
          <a:xfrm>
            <a:off x="14925675" y="7173664"/>
            <a:ext cx="2409825" cy="347663"/>
          </a:xfrm>
          <a:prstGeom prst="rect">
            <a:avLst/>
          </a:prstGeom>
          <a:noFill/>
        </p:spPr>
        <p:txBody>
          <a:bodyPr wrap="square" lIns="25400" tIns="25400" rIns="25400" bIns="25400" rtlCol="0" anchor="t">
            <a:normAutofit/>
          </a:bodyPr>
          <a:lstStyle/>
          <a:p>
            <a:pPr marL="0" indent="0" algn="r">
              <a:buNone/>
            </a:pPr>
            <a:r>
              <a:rPr lang="en-US" sz="2100" b="1" dirty="0">
                <a:solidFill>
                  <a:srgbClr val="EDF2F8"/>
                </a:solidFill>
                <a:latin typeface="Arial" panose="020B0604020202020204" pitchFamily="34" charset="0"/>
                <a:ea typeface="Arial" panose="020B0604020202020204" pitchFamily="34" charset="-122"/>
                <a:cs typeface="Arial" panose="020B0604020202020204" pitchFamily="34" charset="-120"/>
              </a:rPr>
              <a:t>17,730 · 19.4%</a:t>
            </a:r>
            <a:endParaRPr lang="en-US" sz="2100" dirty="0"/>
          </a:p>
        </p:txBody>
      </p:sp>
      <p:sp>
        <p:nvSpPr>
          <p:cNvPr id="31" name="Text 29"/>
          <p:cNvSpPr/>
          <p:nvPr/>
        </p:nvSpPr>
        <p:spPr>
          <a:xfrm>
            <a:off x="952500" y="7668964"/>
            <a:ext cx="1362075" cy="347663"/>
          </a:xfrm>
          <a:prstGeom prst="rect">
            <a:avLst/>
          </a:prstGeom>
          <a:noFill/>
        </p:spPr>
        <p:txBody>
          <a:bodyPr wrap="square" lIns="25400" tIns="25400" rIns="25400" bIns="25400" rtlCol="0" anchor="t">
            <a:normAutofit/>
          </a:bodyPr>
          <a:lstStyle/>
          <a:p>
            <a:pPr marL="0" indent="0" algn="l">
              <a:buNone/>
            </a:pPr>
            <a:r>
              <a:rPr lang="en-US" sz="2100" b="1" dirty="0">
                <a:solidFill>
                  <a:srgbClr val="EDF2F8"/>
                </a:solidFill>
                <a:latin typeface="Arial" panose="020B0604020202020204" pitchFamily="34" charset="0"/>
                <a:ea typeface="Arial" panose="020B0604020202020204" pitchFamily="34" charset="-122"/>
                <a:cs typeface="Arial" panose="020B0604020202020204" pitchFamily="34" charset="-120"/>
              </a:rPr>
              <a:t>BLR</a:t>
            </a:r>
            <a:endParaRPr lang="en-US" sz="2100" dirty="0"/>
          </a:p>
        </p:txBody>
      </p:sp>
      <p:sp>
        <p:nvSpPr>
          <p:cNvPr id="32" name="Shape 30"/>
          <p:cNvSpPr/>
          <p:nvPr/>
        </p:nvSpPr>
        <p:spPr>
          <a:xfrm>
            <a:off x="2457450" y="7633246"/>
            <a:ext cx="12420600" cy="381000"/>
          </a:xfrm>
          <a:prstGeom prst="rect">
            <a:avLst/>
          </a:prstGeom>
          <a:solidFill>
            <a:srgbClr val="57D2E6">
              <a:alpha val="14000"/>
            </a:srgbClr>
          </a:solidFill>
        </p:spPr>
      </p:sp>
      <p:sp>
        <p:nvSpPr>
          <p:cNvPr id="33" name="Shape 31"/>
          <p:cNvSpPr/>
          <p:nvPr/>
        </p:nvSpPr>
        <p:spPr>
          <a:xfrm>
            <a:off x="2457450" y="7633246"/>
            <a:ext cx="3291408" cy="381000"/>
          </a:xfrm>
          <a:prstGeom prst="rect">
            <a:avLst/>
          </a:prstGeom>
          <a:solidFill>
            <a:srgbClr val="2E8FA0"/>
          </a:solidFill>
        </p:spPr>
      </p:sp>
      <p:sp>
        <p:nvSpPr>
          <p:cNvPr id="34" name="Text 32"/>
          <p:cNvSpPr/>
          <p:nvPr/>
        </p:nvSpPr>
        <p:spPr>
          <a:xfrm>
            <a:off x="14925675" y="7668964"/>
            <a:ext cx="2409825" cy="347663"/>
          </a:xfrm>
          <a:prstGeom prst="rect">
            <a:avLst/>
          </a:prstGeom>
          <a:noFill/>
        </p:spPr>
        <p:txBody>
          <a:bodyPr wrap="square" lIns="25400" tIns="25400" rIns="25400" bIns="25400" rtlCol="0" anchor="t">
            <a:normAutofit/>
          </a:bodyPr>
          <a:lstStyle/>
          <a:p>
            <a:pPr marL="0" indent="0" algn="r">
              <a:buNone/>
            </a:pPr>
            <a:r>
              <a:rPr lang="en-US" sz="2100" b="1" dirty="0">
                <a:solidFill>
                  <a:srgbClr val="EDF2F8"/>
                </a:solidFill>
                <a:latin typeface="Arial" panose="020B0604020202020204" pitchFamily="34" charset="0"/>
                <a:ea typeface="Arial" panose="020B0604020202020204" pitchFamily="34" charset="-122"/>
                <a:cs typeface="Arial" panose="020B0604020202020204" pitchFamily="34" charset="-120"/>
              </a:rPr>
              <a:t>8,398 · 9.2%</a:t>
            </a:r>
            <a:endParaRPr lang="en-US" sz="2100" dirty="0"/>
          </a:p>
        </p:txBody>
      </p:sp>
      <p:sp>
        <p:nvSpPr>
          <p:cNvPr id="35" name="Text 33"/>
          <p:cNvSpPr/>
          <p:nvPr/>
        </p:nvSpPr>
        <p:spPr>
          <a:xfrm>
            <a:off x="952500" y="8164264"/>
            <a:ext cx="1362075" cy="347663"/>
          </a:xfrm>
          <a:prstGeom prst="rect">
            <a:avLst/>
          </a:prstGeom>
          <a:noFill/>
        </p:spPr>
        <p:txBody>
          <a:bodyPr wrap="square" lIns="25400" tIns="25400" rIns="25400" bIns="25400" rtlCol="0" anchor="t">
            <a:normAutofit/>
          </a:bodyPr>
          <a:lstStyle/>
          <a:p>
            <a:pPr marL="0" indent="0" algn="l">
              <a:buNone/>
            </a:pPr>
            <a:r>
              <a:rPr lang="en-US" sz="2100" b="1" dirty="0">
                <a:solidFill>
                  <a:srgbClr val="EDF2F8"/>
                </a:solidFill>
                <a:latin typeface="Arial" panose="020B0604020202020204" pitchFamily="34" charset="0"/>
                <a:ea typeface="Arial" panose="020B0604020202020204" pitchFamily="34" charset="-122"/>
                <a:cs typeface="Arial" panose="020B0604020202020204" pitchFamily="34" charset="-120"/>
              </a:rPr>
              <a:t>COK</a:t>
            </a:r>
            <a:endParaRPr lang="en-US" sz="2100" dirty="0"/>
          </a:p>
        </p:txBody>
      </p:sp>
      <p:sp>
        <p:nvSpPr>
          <p:cNvPr id="36" name="Shape 34"/>
          <p:cNvSpPr/>
          <p:nvPr/>
        </p:nvSpPr>
        <p:spPr>
          <a:xfrm>
            <a:off x="2457450" y="8128546"/>
            <a:ext cx="12420600" cy="381000"/>
          </a:xfrm>
          <a:prstGeom prst="rect">
            <a:avLst/>
          </a:prstGeom>
          <a:solidFill>
            <a:srgbClr val="57D2E6">
              <a:alpha val="14000"/>
            </a:srgbClr>
          </a:solidFill>
        </p:spPr>
      </p:sp>
      <p:sp>
        <p:nvSpPr>
          <p:cNvPr id="37" name="Shape 35"/>
          <p:cNvSpPr/>
          <p:nvPr/>
        </p:nvSpPr>
        <p:spPr>
          <a:xfrm>
            <a:off x="2457450" y="8128546"/>
            <a:ext cx="3154784" cy="381000"/>
          </a:xfrm>
          <a:prstGeom prst="rect">
            <a:avLst/>
          </a:prstGeom>
          <a:solidFill>
            <a:srgbClr val="2E8FA0"/>
          </a:solidFill>
        </p:spPr>
      </p:sp>
      <p:sp>
        <p:nvSpPr>
          <p:cNvPr id="38" name="Text 36"/>
          <p:cNvSpPr/>
          <p:nvPr/>
        </p:nvSpPr>
        <p:spPr>
          <a:xfrm>
            <a:off x="14925675" y="8164264"/>
            <a:ext cx="2409825" cy="347663"/>
          </a:xfrm>
          <a:prstGeom prst="rect">
            <a:avLst/>
          </a:prstGeom>
          <a:noFill/>
        </p:spPr>
        <p:txBody>
          <a:bodyPr wrap="square" lIns="25400" tIns="25400" rIns="25400" bIns="25400" rtlCol="0" anchor="t">
            <a:normAutofit/>
          </a:bodyPr>
          <a:lstStyle/>
          <a:p>
            <a:pPr marL="0" indent="0" algn="r">
              <a:buNone/>
            </a:pPr>
            <a:r>
              <a:rPr lang="en-US" sz="2100" b="1" dirty="0">
                <a:solidFill>
                  <a:srgbClr val="EDF2F8"/>
                </a:solidFill>
                <a:latin typeface="Arial" panose="020B0604020202020204" pitchFamily="34" charset="0"/>
                <a:ea typeface="Arial" panose="020B0604020202020204" pitchFamily="34" charset="-122"/>
                <a:cs typeface="Arial" panose="020B0604020202020204" pitchFamily="34" charset="-120"/>
              </a:rPr>
              <a:t>8,067 · 8.8%</a:t>
            </a:r>
            <a:endParaRPr lang="en-US" sz="2100" dirty="0"/>
          </a:p>
        </p:txBody>
      </p:sp>
      <p:sp>
        <p:nvSpPr>
          <p:cNvPr id="39" name="Text 37"/>
          <p:cNvSpPr/>
          <p:nvPr/>
        </p:nvSpPr>
        <p:spPr>
          <a:xfrm>
            <a:off x="952500" y="8719096"/>
            <a:ext cx="12753975" cy="838200"/>
          </a:xfrm>
          <a:prstGeom prst="rect">
            <a:avLst/>
          </a:prstGeom>
          <a:noFill/>
        </p:spPr>
        <p:txBody>
          <a:bodyPr wrap="square" lIns="25400" tIns="25400" rIns="25400" bIns="25400" rtlCol="0" anchor="t">
            <a:normAutofit/>
          </a:bodyPr>
          <a:lstStyle/>
          <a:p>
            <a:pPr marL="0" indent="0" algn="l">
              <a:lnSpc>
                <a:spcPct val="129000"/>
              </a:lnSpc>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Secunderabad and Chennai together absorb 63% of forecast volume, which is where allocation and safety-stock changes will pay back first.</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E1622"/>
        </a:solidFill>
        <a:effectLst/>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p:spPr>
        <p:txBody>
          <a:bodyPr wrap="square" lIns="25400" tIns="25400" rIns="25400" bIns="25400" rtlCol="0" anchor="t">
            <a:normAutofit/>
          </a:bodyPr>
          <a:lstStyle/>
          <a:p>
            <a:pPr marL="0" indent="0" algn="l">
              <a:buNone/>
            </a:pPr>
            <a:r>
              <a:rPr lang="en-US" sz="1800" b="1" kern="0" spc="360" dirty="0">
                <a:solidFill>
                  <a:srgbClr val="57D2E6"/>
                </a:solidFill>
                <a:latin typeface="Arial" panose="020B0604020202020204" pitchFamily="34" charset="0"/>
                <a:ea typeface="Arial" panose="020B0604020202020204" pitchFamily="34" charset="-122"/>
                <a:cs typeface="Arial" panose="020B0604020202020204" pitchFamily="34" charset="-120"/>
              </a:rPr>
              <a:t>08 — IMPACT</a:t>
            </a:r>
            <a:endParaRPr lang="en-US" sz="1800" dirty="0"/>
          </a:p>
        </p:txBody>
      </p:sp>
      <p:sp>
        <p:nvSpPr>
          <p:cNvPr id="3" name="Text 1"/>
          <p:cNvSpPr/>
          <p:nvPr/>
        </p:nvSpPr>
        <p:spPr>
          <a:xfrm>
            <a:off x="952500" y="1423988"/>
            <a:ext cx="15304770" cy="1379190"/>
          </a:xfrm>
          <a:prstGeom prst="rect">
            <a:avLst/>
          </a:prstGeom>
          <a:noFill/>
        </p:spPr>
        <p:txBody>
          <a:bodyPr wrap="square" lIns="25400" tIns="25400" rIns="25400" bIns="25400" rtlCol="0" anchor="t">
            <a:normAutofit/>
          </a:bodyPr>
          <a:lstStyle/>
          <a:p>
            <a:pPr marL="0" indent="0" algn="l">
              <a:lnSpc>
                <a:spcPct val="96000"/>
              </a:lnSpc>
              <a:buNone/>
            </a:pPr>
            <a:r>
              <a:rPr lang="en-US" sz="4800" b="1" kern="0" spc="-96" dirty="0">
                <a:solidFill>
                  <a:srgbClr val="EDF2F8"/>
                </a:solidFill>
                <a:latin typeface="Arial" panose="020B0604020202020204" pitchFamily="34" charset="0"/>
                <a:ea typeface="Arial" panose="020B0604020202020204" pitchFamily="34" charset="-122"/>
                <a:cs typeface="Arial" panose="020B0604020202020204" pitchFamily="34" charset="-120"/>
              </a:rPr>
              <a:t>Cleaning the pipeline lifts completeness to 98.5% and cuts training time by 18%</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p:spPr>
      </p:sp>
      <p:sp>
        <p:nvSpPr>
          <p:cNvPr id="5" name="Shape 3"/>
          <p:cNvSpPr/>
          <p:nvPr/>
        </p:nvSpPr>
        <p:spPr>
          <a:xfrm>
            <a:off x="952500" y="3622328"/>
            <a:ext cx="16383000" cy="19050"/>
          </a:xfrm>
          <a:prstGeom prst="rect">
            <a:avLst/>
          </a:prstGeom>
          <a:solidFill>
            <a:srgbClr val="E2ECF7">
              <a:alpha val="22000"/>
            </a:srgbClr>
          </a:solidFill>
        </p:spPr>
      </p:sp>
      <p:sp>
        <p:nvSpPr>
          <p:cNvPr id="6" name="Shape 4"/>
          <p:cNvSpPr/>
          <p:nvPr/>
        </p:nvSpPr>
        <p:spPr>
          <a:xfrm>
            <a:off x="9124950" y="3641378"/>
            <a:ext cx="19050" cy="5883622"/>
          </a:xfrm>
          <a:prstGeom prst="rect">
            <a:avLst/>
          </a:prstGeom>
          <a:solidFill>
            <a:srgbClr val="E2ECF7">
              <a:alpha val="22000"/>
            </a:srgbClr>
          </a:solidFill>
        </p:spPr>
      </p:sp>
      <p:sp>
        <p:nvSpPr>
          <p:cNvPr id="7" name="Text 5"/>
          <p:cNvSpPr/>
          <p:nvPr/>
        </p:nvSpPr>
        <p:spPr>
          <a:xfrm>
            <a:off x="952500" y="4060478"/>
            <a:ext cx="8319135" cy="300038"/>
          </a:xfrm>
          <a:prstGeom prst="rect">
            <a:avLst/>
          </a:prstGeom>
          <a:noFill/>
        </p:spPr>
        <p:txBody>
          <a:bodyPr wrap="square" lIns="25400" tIns="25400" rIns="25400" bIns="25400" rtlCol="0" anchor="t">
            <a:normAutofit/>
          </a:bodyPr>
          <a:lstStyle/>
          <a:p>
            <a:pPr marL="0" indent="0" algn="l">
              <a:buNone/>
            </a:pPr>
            <a:r>
              <a:rPr lang="en-US" sz="1800" b="1" kern="0" spc="288" dirty="0">
                <a:solidFill>
                  <a:srgbClr val="57D2E6"/>
                </a:solidFill>
                <a:latin typeface="Arial" panose="020B0604020202020204" pitchFamily="34" charset="0"/>
                <a:ea typeface="Arial" panose="020B0604020202020204" pitchFamily="34" charset="-122"/>
                <a:cs typeface="Arial" panose="020B0604020202020204" pitchFamily="34" charset="-120"/>
              </a:rPr>
              <a:t>HYGIENE ACTIONS</a:t>
            </a:r>
            <a:endParaRPr lang="en-US" sz="1800" dirty="0"/>
          </a:p>
        </p:txBody>
      </p:sp>
      <p:sp>
        <p:nvSpPr>
          <p:cNvPr id="8" name="Text 6"/>
          <p:cNvSpPr/>
          <p:nvPr/>
        </p:nvSpPr>
        <p:spPr>
          <a:xfrm>
            <a:off x="952500" y="4570065"/>
            <a:ext cx="8319135" cy="411435"/>
          </a:xfrm>
          <a:prstGeom prst="rect">
            <a:avLst/>
          </a:prstGeom>
          <a:noFill/>
        </p:spPr>
        <p:txBody>
          <a:bodyPr wrap="square" lIns="25400" tIns="25400" rIns="25400" bIns="25400" rtlCol="0" anchor="t">
            <a:normAutofit/>
          </a:bodyPr>
          <a:lstStyle/>
          <a:p>
            <a:pPr marL="0" indent="0" algn="l">
              <a:lnSpc>
                <a:spcPct val="121000"/>
              </a:lnSpc>
              <a:buNone/>
            </a:pPr>
            <a:r>
              <a:rPr lang="en-US" sz="2100" dirty="0">
                <a:solidFill>
                  <a:srgbClr val="EDF2F8"/>
                </a:solidFill>
                <a:latin typeface="Arial" panose="020B0604020202020204" pitchFamily="34" charset="0"/>
                <a:ea typeface="Arial" panose="020B0604020202020204" pitchFamily="34" charset="-122"/>
                <a:cs typeface="Arial" panose="020B0604020202020204" pitchFamily="34" charset="-120"/>
              </a:rPr>
              <a:t>Prune 4,463 redundant duplicate transaction rows</a:t>
            </a:r>
            <a:endParaRPr lang="en-US" sz="2100" dirty="0"/>
          </a:p>
        </p:txBody>
      </p:sp>
      <p:sp>
        <p:nvSpPr>
          <p:cNvPr id="9" name="Text 7"/>
          <p:cNvSpPr/>
          <p:nvPr/>
        </p:nvSpPr>
        <p:spPr>
          <a:xfrm>
            <a:off x="952500" y="5191051"/>
            <a:ext cx="8319135" cy="411435"/>
          </a:xfrm>
          <a:prstGeom prst="rect">
            <a:avLst/>
          </a:prstGeom>
          <a:noFill/>
        </p:spPr>
        <p:txBody>
          <a:bodyPr wrap="square" lIns="25400" tIns="25400" rIns="25400" bIns="25400" rtlCol="0" anchor="t">
            <a:normAutofit/>
          </a:bodyPr>
          <a:lstStyle/>
          <a:p>
            <a:pPr marL="0" indent="0" algn="l">
              <a:lnSpc>
                <a:spcPct val="121000"/>
              </a:lnSpc>
              <a:buNone/>
            </a:pPr>
            <a:r>
              <a:rPr lang="en-US" sz="2100" dirty="0">
                <a:solidFill>
                  <a:srgbClr val="EDF2F8"/>
                </a:solidFill>
                <a:latin typeface="Arial" panose="020B0604020202020204" pitchFamily="34" charset="0"/>
                <a:ea typeface="Arial" panose="020B0604020202020204" pitchFamily="34" charset="-122"/>
                <a:cs typeface="Arial" panose="020B0604020202020204" pitchFamily="34" charset="-120"/>
              </a:rPr>
              <a:t>Impute or isolate 94,435 null fields</a:t>
            </a:r>
            <a:endParaRPr lang="en-US" sz="2100" dirty="0"/>
          </a:p>
        </p:txBody>
      </p:sp>
      <p:sp>
        <p:nvSpPr>
          <p:cNvPr id="10" name="Text 8"/>
          <p:cNvSpPr/>
          <p:nvPr/>
        </p:nvSpPr>
        <p:spPr>
          <a:xfrm>
            <a:off x="952500" y="5812036"/>
            <a:ext cx="8319135" cy="411435"/>
          </a:xfrm>
          <a:prstGeom prst="rect">
            <a:avLst/>
          </a:prstGeom>
          <a:noFill/>
        </p:spPr>
        <p:txBody>
          <a:bodyPr wrap="square" lIns="25400" tIns="25400" rIns="25400" bIns="25400" rtlCol="0" anchor="t">
            <a:normAutofit/>
          </a:bodyPr>
          <a:lstStyle/>
          <a:p>
            <a:pPr marL="0" indent="0" algn="l">
              <a:lnSpc>
                <a:spcPct val="121000"/>
              </a:lnSpc>
              <a:buNone/>
            </a:pPr>
            <a:r>
              <a:rPr lang="en-US" sz="2100" dirty="0">
                <a:solidFill>
                  <a:srgbClr val="EDF2F8"/>
                </a:solidFill>
                <a:latin typeface="Arial" panose="020B0604020202020204" pitchFamily="34" charset="0"/>
                <a:ea typeface="Arial" panose="020B0604020202020204" pitchFamily="34" charset="-122"/>
                <a:cs typeface="Arial" panose="020B0604020202020204" pitchFamily="34" charset="-120"/>
              </a:rPr>
              <a:t>Normalize schema across 23 attributes</a:t>
            </a:r>
            <a:endParaRPr lang="en-US" sz="2100" dirty="0"/>
          </a:p>
        </p:txBody>
      </p:sp>
      <p:sp>
        <p:nvSpPr>
          <p:cNvPr id="11" name="Text 9"/>
          <p:cNvSpPr/>
          <p:nvPr/>
        </p:nvSpPr>
        <p:spPr>
          <a:xfrm>
            <a:off x="952500" y="6433021"/>
            <a:ext cx="8319135" cy="411435"/>
          </a:xfrm>
          <a:prstGeom prst="rect">
            <a:avLst/>
          </a:prstGeom>
          <a:noFill/>
        </p:spPr>
        <p:txBody>
          <a:bodyPr wrap="square" lIns="25400" tIns="25400" rIns="25400" bIns="25400" rtlCol="0" anchor="t">
            <a:normAutofit/>
          </a:bodyPr>
          <a:lstStyle/>
          <a:p>
            <a:pPr marL="0" indent="0" algn="l">
              <a:lnSpc>
                <a:spcPct val="121000"/>
              </a:lnSpc>
              <a:buNone/>
            </a:pPr>
            <a:r>
              <a:rPr lang="en-US" sz="2100" dirty="0">
                <a:solidFill>
                  <a:srgbClr val="EDF2F8"/>
                </a:solidFill>
                <a:latin typeface="Arial" panose="020B0604020202020204" pitchFamily="34" charset="0"/>
                <a:ea typeface="Arial" panose="020B0604020202020204" pitchFamily="34" charset="-122"/>
                <a:cs typeface="Arial" panose="020B0604020202020204" pitchFamily="34" charset="-120"/>
              </a:rPr>
              <a:t>Enforce an ISO date standard on Billing Date</a:t>
            </a:r>
            <a:endParaRPr lang="en-US" sz="2100" dirty="0"/>
          </a:p>
        </p:txBody>
      </p:sp>
      <p:sp>
        <p:nvSpPr>
          <p:cNvPr id="12" name="Text 10"/>
          <p:cNvSpPr/>
          <p:nvPr/>
        </p:nvSpPr>
        <p:spPr>
          <a:xfrm>
            <a:off x="952500" y="7054007"/>
            <a:ext cx="8319135" cy="411435"/>
          </a:xfrm>
          <a:prstGeom prst="rect">
            <a:avLst/>
          </a:prstGeom>
          <a:noFill/>
        </p:spPr>
        <p:txBody>
          <a:bodyPr wrap="square" lIns="25400" tIns="25400" rIns="25400" bIns="25400" rtlCol="0" anchor="t">
            <a:normAutofit/>
          </a:bodyPr>
          <a:lstStyle/>
          <a:p>
            <a:pPr marL="0" indent="0" algn="l">
              <a:lnSpc>
                <a:spcPct val="121000"/>
              </a:lnSpc>
              <a:buNone/>
            </a:pPr>
            <a:r>
              <a:rPr lang="en-US" sz="2100" dirty="0">
                <a:solidFill>
                  <a:srgbClr val="EDF2F8"/>
                </a:solidFill>
                <a:latin typeface="Arial" panose="020B0604020202020204" pitchFamily="34" charset="0"/>
                <a:ea typeface="Arial" panose="020B0604020202020204" pitchFamily="34" charset="-122"/>
                <a:cs typeface="Arial" panose="020B0604020202020204" pitchFamily="34" charset="-120"/>
              </a:rPr>
              <a:t>Standardize casing on Segment and Material</a:t>
            </a:r>
            <a:endParaRPr lang="en-US" sz="2100" dirty="0"/>
          </a:p>
        </p:txBody>
      </p:sp>
      <p:sp>
        <p:nvSpPr>
          <p:cNvPr id="13" name="Text 11"/>
          <p:cNvSpPr/>
          <p:nvPr/>
        </p:nvSpPr>
        <p:spPr>
          <a:xfrm>
            <a:off x="9753600" y="4060478"/>
            <a:ext cx="8340090" cy="300038"/>
          </a:xfrm>
          <a:prstGeom prst="rect">
            <a:avLst/>
          </a:prstGeom>
          <a:noFill/>
        </p:spPr>
        <p:txBody>
          <a:bodyPr wrap="square" lIns="25400" tIns="25400" rIns="25400" bIns="25400" rtlCol="0" anchor="t">
            <a:normAutofit/>
          </a:bodyPr>
          <a:lstStyle/>
          <a:p>
            <a:pPr marL="0" indent="0" algn="l">
              <a:buNone/>
            </a:pPr>
            <a:r>
              <a:rPr lang="en-US" sz="1800" b="1" kern="0" spc="288" dirty="0">
                <a:solidFill>
                  <a:srgbClr val="57D2E6"/>
                </a:solidFill>
                <a:latin typeface="Arial" panose="020B0604020202020204" pitchFamily="34" charset="0"/>
                <a:ea typeface="Arial" panose="020B0604020202020204" pitchFamily="34" charset="-122"/>
                <a:cs typeface="Arial" panose="020B0604020202020204" pitchFamily="34" charset="-120"/>
              </a:rPr>
              <a:t>POST-CLEANING PROJECTION</a:t>
            </a:r>
            <a:endParaRPr lang="en-US" sz="1800" dirty="0"/>
          </a:p>
        </p:txBody>
      </p:sp>
      <p:sp>
        <p:nvSpPr>
          <p:cNvPr id="14" name="Shape 12"/>
          <p:cNvSpPr/>
          <p:nvPr/>
        </p:nvSpPr>
        <p:spPr>
          <a:xfrm>
            <a:off x="9753600" y="5265390"/>
            <a:ext cx="7581900" cy="19050"/>
          </a:xfrm>
          <a:prstGeom prst="rect">
            <a:avLst/>
          </a:prstGeom>
          <a:solidFill>
            <a:srgbClr val="E2ECF7">
              <a:alpha val="22000"/>
            </a:srgbClr>
          </a:solidFill>
        </p:spPr>
      </p:sp>
      <p:sp>
        <p:nvSpPr>
          <p:cNvPr id="15" name="Text 13"/>
          <p:cNvSpPr/>
          <p:nvPr/>
        </p:nvSpPr>
        <p:spPr>
          <a:xfrm>
            <a:off x="9753600" y="4674840"/>
            <a:ext cx="2593427" cy="328613"/>
          </a:xfrm>
          <a:prstGeom prst="rect">
            <a:avLst/>
          </a:prstGeom>
          <a:noFill/>
        </p:spPr>
        <p:txBody>
          <a:bodyPr wrap="square" lIns="25400" tIns="25400" rIns="25400" bIns="25400" rtlCol="0" anchor="t">
            <a:normAutofit/>
          </a:bodyPr>
          <a:lstStyle/>
          <a:p>
            <a:pPr marL="0" indent="0" algn="l">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Post-clean fleet size</a:t>
            </a:r>
            <a:endParaRPr lang="en-US" sz="2100" dirty="0"/>
          </a:p>
        </p:txBody>
      </p:sp>
      <p:sp>
        <p:nvSpPr>
          <p:cNvPr id="16" name="Text 14"/>
          <p:cNvSpPr/>
          <p:nvPr/>
        </p:nvSpPr>
        <p:spPr>
          <a:xfrm>
            <a:off x="15571217" y="4608165"/>
            <a:ext cx="1940711" cy="409575"/>
          </a:xfrm>
          <a:prstGeom prst="rect">
            <a:avLst/>
          </a:prstGeom>
          <a:noFill/>
        </p:spPr>
        <p:txBody>
          <a:bodyPr wrap="square" lIns="25400" tIns="25400" rIns="25400" bIns="25400" rtlCol="0" anchor="t">
            <a:normAutofit/>
          </a:bodyPr>
          <a:lstStyle/>
          <a:p>
            <a:pPr marL="0" indent="0" algn="l">
              <a:buNone/>
            </a:pPr>
            <a:r>
              <a:rPr lang="en-US" sz="2550" b="1" dirty="0">
                <a:solidFill>
                  <a:srgbClr val="EDF2F8"/>
                </a:solidFill>
                <a:latin typeface="Arial" panose="020B0604020202020204" pitchFamily="34" charset="0"/>
                <a:ea typeface="Arial" panose="020B0604020202020204" pitchFamily="34" charset="-122"/>
                <a:cs typeface="Arial" panose="020B0604020202020204" pitchFamily="34" charset="-120"/>
              </a:rPr>
              <a:t>77,571 rows</a:t>
            </a:r>
            <a:endParaRPr lang="en-US" sz="2550" dirty="0"/>
          </a:p>
        </p:txBody>
      </p:sp>
      <p:sp>
        <p:nvSpPr>
          <p:cNvPr id="17" name="Shape 15"/>
          <p:cNvSpPr/>
          <p:nvPr/>
        </p:nvSpPr>
        <p:spPr>
          <a:xfrm>
            <a:off x="9753600" y="6227415"/>
            <a:ext cx="7581900" cy="19050"/>
          </a:xfrm>
          <a:prstGeom prst="rect">
            <a:avLst/>
          </a:prstGeom>
          <a:solidFill>
            <a:srgbClr val="E2ECF7">
              <a:alpha val="22000"/>
            </a:srgbClr>
          </a:solidFill>
        </p:spPr>
      </p:sp>
      <p:sp>
        <p:nvSpPr>
          <p:cNvPr id="18" name="Text 16"/>
          <p:cNvSpPr/>
          <p:nvPr/>
        </p:nvSpPr>
        <p:spPr>
          <a:xfrm>
            <a:off x="9753600" y="5636865"/>
            <a:ext cx="3355010" cy="328613"/>
          </a:xfrm>
          <a:prstGeom prst="rect">
            <a:avLst/>
          </a:prstGeom>
          <a:noFill/>
        </p:spPr>
        <p:txBody>
          <a:bodyPr wrap="square" lIns="25400" tIns="25400" rIns="25400" bIns="25400" rtlCol="0" anchor="t">
            <a:normAutofit/>
          </a:bodyPr>
          <a:lstStyle/>
          <a:p>
            <a:pPr marL="0" indent="0" algn="l">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Target data completeness</a:t>
            </a:r>
            <a:endParaRPr lang="en-US" sz="2100" dirty="0"/>
          </a:p>
        </p:txBody>
      </p:sp>
      <p:sp>
        <p:nvSpPr>
          <p:cNvPr id="19" name="Text 17"/>
          <p:cNvSpPr/>
          <p:nvPr/>
        </p:nvSpPr>
        <p:spPr>
          <a:xfrm>
            <a:off x="16237074" y="5570190"/>
            <a:ext cx="1174626" cy="409575"/>
          </a:xfrm>
          <a:prstGeom prst="rect">
            <a:avLst/>
          </a:prstGeom>
          <a:noFill/>
        </p:spPr>
        <p:txBody>
          <a:bodyPr wrap="square" lIns="25400" tIns="25400" rIns="25400" bIns="25400" rtlCol="0" anchor="t">
            <a:normAutofit/>
          </a:bodyPr>
          <a:lstStyle/>
          <a:p>
            <a:pPr marL="0" indent="0" algn="l">
              <a:buNone/>
            </a:pPr>
            <a:r>
              <a:rPr lang="en-US" sz="2550" b="1" dirty="0">
                <a:solidFill>
                  <a:srgbClr val="57D2E6"/>
                </a:solidFill>
                <a:latin typeface="Arial" panose="020B0604020202020204" pitchFamily="34" charset="0"/>
                <a:ea typeface="Arial" panose="020B0604020202020204" pitchFamily="34" charset="-122"/>
                <a:cs typeface="Arial" panose="020B0604020202020204" pitchFamily="34" charset="-120"/>
              </a:rPr>
              <a:t>98.49%</a:t>
            </a:r>
            <a:endParaRPr lang="en-US" sz="2550" dirty="0"/>
          </a:p>
        </p:txBody>
      </p:sp>
      <p:sp>
        <p:nvSpPr>
          <p:cNvPr id="20" name="Shape 18"/>
          <p:cNvSpPr/>
          <p:nvPr/>
        </p:nvSpPr>
        <p:spPr>
          <a:xfrm>
            <a:off x="9753600" y="7189440"/>
            <a:ext cx="7581900" cy="19050"/>
          </a:xfrm>
          <a:prstGeom prst="rect">
            <a:avLst/>
          </a:prstGeom>
          <a:solidFill>
            <a:srgbClr val="E2ECF7">
              <a:alpha val="22000"/>
            </a:srgbClr>
          </a:solidFill>
        </p:spPr>
      </p:sp>
      <p:sp>
        <p:nvSpPr>
          <p:cNvPr id="21" name="Text 19"/>
          <p:cNvSpPr/>
          <p:nvPr/>
        </p:nvSpPr>
        <p:spPr>
          <a:xfrm>
            <a:off x="9753600" y="6598890"/>
            <a:ext cx="2935583" cy="328613"/>
          </a:xfrm>
          <a:prstGeom prst="rect">
            <a:avLst/>
          </a:prstGeom>
          <a:noFill/>
        </p:spPr>
        <p:txBody>
          <a:bodyPr wrap="square" lIns="25400" tIns="25400" rIns="25400" bIns="25400" rtlCol="0" anchor="t">
            <a:normAutofit/>
          </a:bodyPr>
          <a:lstStyle/>
          <a:p>
            <a:pPr marL="0" indent="0" algn="l">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Storage efficiency gain</a:t>
            </a:r>
            <a:endParaRPr lang="en-US" sz="2100" dirty="0"/>
          </a:p>
        </p:txBody>
      </p:sp>
      <p:sp>
        <p:nvSpPr>
          <p:cNvPr id="22" name="Text 20"/>
          <p:cNvSpPr/>
          <p:nvPr/>
        </p:nvSpPr>
        <p:spPr>
          <a:xfrm>
            <a:off x="16228070" y="6532215"/>
            <a:ext cx="1183630" cy="409575"/>
          </a:xfrm>
          <a:prstGeom prst="rect">
            <a:avLst/>
          </a:prstGeom>
          <a:noFill/>
        </p:spPr>
        <p:txBody>
          <a:bodyPr wrap="square" lIns="25400" tIns="25400" rIns="25400" bIns="25400" rtlCol="0" anchor="t">
            <a:normAutofit/>
          </a:bodyPr>
          <a:lstStyle/>
          <a:p>
            <a:pPr marL="0" indent="0" algn="l">
              <a:buNone/>
            </a:pPr>
            <a:r>
              <a:rPr lang="en-US" sz="2550" b="1" dirty="0">
                <a:solidFill>
                  <a:srgbClr val="EDF2F8"/>
                </a:solidFill>
                <a:latin typeface="Arial" panose="020B0604020202020204" pitchFamily="34" charset="0"/>
                <a:ea typeface="Arial" panose="020B0604020202020204" pitchFamily="34" charset="-122"/>
                <a:cs typeface="Arial" panose="020B0604020202020204" pitchFamily="34" charset="-120"/>
              </a:rPr>
              <a:t>+5.44%</a:t>
            </a:r>
            <a:endParaRPr lang="en-US" sz="2550" dirty="0"/>
          </a:p>
        </p:txBody>
      </p:sp>
      <p:sp>
        <p:nvSpPr>
          <p:cNvPr id="23" name="Text 21"/>
          <p:cNvSpPr/>
          <p:nvPr/>
        </p:nvSpPr>
        <p:spPr>
          <a:xfrm>
            <a:off x="9753600" y="7560915"/>
            <a:ext cx="3588953" cy="328613"/>
          </a:xfrm>
          <a:prstGeom prst="rect">
            <a:avLst/>
          </a:prstGeom>
          <a:noFill/>
        </p:spPr>
        <p:txBody>
          <a:bodyPr wrap="square" lIns="25400" tIns="25400" rIns="25400" bIns="25400" rtlCol="0" anchor="t">
            <a:normAutofit/>
          </a:bodyPr>
          <a:lstStyle/>
          <a:p>
            <a:pPr marL="0" indent="0" algn="l">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Model training convergence</a:t>
            </a:r>
            <a:endParaRPr lang="en-US" sz="2100" dirty="0"/>
          </a:p>
        </p:txBody>
      </p:sp>
      <p:sp>
        <p:nvSpPr>
          <p:cNvPr id="24" name="Text 22"/>
          <p:cNvSpPr/>
          <p:nvPr/>
        </p:nvSpPr>
        <p:spPr>
          <a:xfrm>
            <a:off x="15598229" y="7494240"/>
            <a:ext cx="1910998" cy="409575"/>
          </a:xfrm>
          <a:prstGeom prst="rect">
            <a:avLst/>
          </a:prstGeom>
          <a:noFill/>
        </p:spPr>
        <p:txBody>
          <a:bodyPr wrap="square" lIns="25400" tIns="25400" rIns="25400" bIns="25400" rtlCol="0" anchor="t">
            <a:normAutofit/>
          </a:bodyPr>
          <a:lstStyle/>
          <a:p>
            <a:pPr marL="0" indent="0" algn="l">
              <a:buNone/>
            </a:pPr>
            <a:r>
              <a:rPr lang="en-US" sz="2550" b="1" dirty="0">
                <a:solidFill>
                  <a:srgbClr val="57D2E6"/>
                </a:solidFill>
                <a:latin typeface="Arial" panose="020B0604020202020204" pitchFamily="34" charset="0"/>
                <a:ea typeface="Arial" panose="020B0604020202020204" pitchFamily="34" charset="-122"/>
                <a:cs typeface="Arial" panose="020B0604020202020204" pitchFamily="34" charset="-120"/>
              </a:rPr>
              <a:t>~18% faster</a:t>
            </a:r>
            <a:endParaRPr lang="en-US" sz="2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1622"/>
        </a:solidFill>
        <a:effectLst/>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p:spPr>
        <p:txBody>
          <a:bodyPr wrap="square" lIns="25400" tIns="25400" rIns="25400" bIns="25400" rtlCol="0" anchor="t">
            <a:normAutofit/>
          </a:bodyPr>
          <a:lstStyle/>
          <a:p>
            <a:pPr marL="0" indent="0" algn="l">
              <a:buNone/>
            </a:pPr>
            <a:r>
              <a:rPr lang="en-US" sz="1800" b="1" kern="0" spc="360" dirty="0">
                <a:solidFill>
                  <a:srgbClr val="57D2E6"/>
                </a:solidFill>
                <a:latin typeface="Arial" panose="020B0604020202020204" pitchFamily="34" charset="0"/>
                <a:ea typeface="Arial" panose="020B0604020202020204" pitchFamily="34" charset="-122"/>
                <a:cs typeface="Arial" panose="020B0604020202020204" pitchFamily="34" charset="-120"/>
              </a:rPr>
              <a:t>09 — DELIVERY</a:t>
            </a:r>
            <a:endParaRPr lang="en-US" sz="1800" dirty="0"/>
          </a:p>
        </p:txBody>
      </p:sp>
      <p:sp>
        <p:nvSpPr>
          <p:cNvPr id="3" name="Text 1"/>
          <p:cNvSpPr/>
          <p:nvPr/>
        </p:nvSpPr>
        <p:spPr>
          <a:xfrm>
            <a:off x="952500" y="1423988"/>
            <a:ext cx="15304770" cy="1379190"/>
          </a:xfrm>
          <a:prstGeom prst="rect">
            <a:avLst/>
          </a:prstGeom>
          <a:noFill/>
        </p:spPr>
        <p:txBody>
          <a:bodyPr wrap="square" lIns="25400" tIns="25400" rIns="25400" bIns="25400" rtlCol="0" anchor="t">
            <a:normAutofit/>
          </a:bodyPr>
          <a:lstStyle/>
          <a:p>
            <a:pPr marL="0" indent="0" algn="l">
              <a:lnSpc>
                <a:spcPct val="96000"/>
              </a:lnSpc>
              <a:buNone/>
            </a:pPr>
            <a:r>
              <a:rPr lang="en-US" sz="4800" b="1" kern="0" spc="-96" dirty="0">
                <a:solidFill>
                  <a:srgbClr val="EDF2F8"/>
                </a:solidFill>
                <a:latin typeface="Arial" panose="020B0604020202020204" pitchFamily="34" charset="0"/>
                <a:ea typeface="Arial" panose="020B0604020202020204" pitchFamily="34" charset="-122"/>
                <a:cs typeface="Arial" panose="020B0604020202020204" pitchFamily="34" charset="-120"/>
              </a:rPr>
              <a:t>The analysis ships as a seven-view executive dashboard, not a static report</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p:spPr>
      </p:sp>
      <p:sp>
        <p:nvSpPr>
          <p:cNvPr id="5" name="Shape 3"/>
          <p:cNvSpPr/>
          <p:nvPr/>
        </p:nvSpPr>
        <p:spPr>
          <a:xfrm>
            <a:off x="952500" y="3622328"/>
            <a:ext cx="16383000" cy="19050"/>
          </a:xfrm>
          <a:prstGeom prst="rect">
            <a:avLst/>
          </a:prstGeom>
          <a:solidFill>
            <a:srgbClr val="E2ECF7">
              <a:alpha val="22000"/>
            </a:srgbClr>
          </a:solidFill>
        </p:spPr>
      </p:sp>
      <p:sp>
        <p:nvSpPr>
          <p:cNvPr id="6" name="Shape 4"/>
          <p:cNvSpPr/>
          <p:nvPr/>
        </p:nvSpPr>
        <p:spPr>
          <a:xfrm>
            <a:off x="952500" y="4874865"/>
            <a:ext cx="7810500" cy="19050"/>
          </a:xfrm>
          <a:prstGeom prst="rect">
            <a:avLst/>
          </a:prstGeom>
          <a:solidFill>
            <a:srgbClr val="E2ECF7">
              <a:alpha val="22000"/>
            </a:srgbClr>
          </a:solidFill>
        </p:spPr>
      </p:sp>
      <p:sp>
        <p:nvSpPr>
          <p:cNvPr id="7" name="Text 5"/>
          <p:cNvSpPr/>
          <p:nvPr/>
        </p:nvSpPr>
        <p:spPr>
          <a:xfrm>
            <a:off x="952500" y="3889028"/>
            <a:ext cx="8591550" cy="409575"/>
          </a:xfrm>
          <a:prstGeom prst="rect">
            <a:avLst/>
          </a:prstGeom>
          <a:noFill/>
        </p:spPr>
        <p:txBody>
          <a:bodyPr wrap="square" lIns="25400" tIns="25400" rIns="25400" bIns="25400" rtlCol="0" anchor="t">
            <a:normAutofit/>
          </a:bodyPr>
          <a:lstStyle/>
          <a:p>
            <a:pPr marL="0" indent="0" algn="l">
              <a:buNone/>
            </a:pPr>
            <a:r>
              <a:rPr lang="en-US" sz="2550" b="1" dirty="0">
                <a:solidFill>
                  <a:srgbClr val="EDF2F8"/>
                </a:solidFill>
                <a:latin typeface="Arial" panose="020B0604020202020204" pitchFamily="34" charset="0"/>
                <a:ea typeface="Arial" panose="020B0604020202020204" pitchFamily="34" charset="-122"/>
                <a:cs typeface="Arial" panose="020B0604020202020204" pitchFamily="34" charset="-120"/>
              </a:rPr>
              <a:t>Executive Cockpit</a:t>
            </a:r>
            <a:endParaRPr lang="en-US" sz="2550" dirty="0"/>
          </a:p>
        </p:txBody>
      </p:sp>
      <p:sp>
        <p:nvSpPr>
          <p:cNvPr id="8" name="Text 6"/>
          <p:cNvSpPr/>
          <p:nvPr/>
        </p:nvSpPr>
        <p:spPr>
          <a:xfrm>
            <a:off x="952500" y="4336703"/>
            <a:ext cx="8591550" cy="328613"/>
          </a:xfrm>
          <a:prstGeom prst="rect">
            <a:avLst/>
          </a:prstGeom>
          <a:noFill/>
        </p:spPr>
        <p:txBody>
          <a:bodyPr wrap="square" lIns="25400" tIns="25400" rIns="25400" bIns="25400" rtlCol="0" anchor="t">
            <a:normAutofit/>
          </a:bodyPr>
          <a:lstStyle/>
          <a:p>
            <a:pPr marL="0" indent="0" algn="l">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Health, volume and distribution telemetry at a glance</a:t>
            </a:r>
            <a:endParaRPr lang="en-US" sz="2100" dirty="0"/>
          </a:p>
        </p:txBody>
      </p:sp>
      <p:sp>
        <p:nvSpPr>
          <p:cNvPr id="9" name="Shape 7"/>
          <p:cNvSpPr/>
          <p:nvPr/>
        </p:nvSpPr>
        <p:spPr>
          <a:xfrm>
            <a:off x="9525000" y="4874865"/>
            <a:ext cx="7810500" cy="19050"/>
          </a:xfrm>
          <a:prstGeom prst="rect">
            <a:avLst/>
          </a:prstGeom>
          <a:solidFill>
            <a:srgbClr val="E2ECF7">
              <a:alpha val="22000"/>
            </a:srgbClr>
          </a:solidFill>
        </p:spPr>
      </p:sp>
      <p:sp>
        <p:nvSpPr>
          <p:cNvPr id="10" name="Text 8"/>
          <p:cNvSpPr/>
          <p:nvPr/>
        </p:nvSpPr>
        <p:spPr>
          <a:xfrm>
            <a:off x="9525000" y="3889028"/>
            <a:ext cx="8591550" cy="409575"/>
          </a:xfrm>
          <a:prstGeom prst="rect">
            <a:avLst/>
          </a:prstGeom>
          <a:noFill/>
        </p:spPr>
        <p:txBody>
          <a:bodyPr wrap="square" lIns="25400" tIns="25400" rIns="25400" bIns="25400" rtlCol="0" anchor="t">
            <a:normAutofit/>
          </a:bodyPr>
          <a:lstStyle/>
          <a:p>
            <a:pPr marL="0" indent="0" algn="l">
              <a:buNone/>
            </a:pPr>
            <a:r>
              <a:rPr lang="en-US" sz="2550" b="1" dirty="0">
                <a:solidFill>
                  <a:srgbClr val="EDF2F8"/>
                </a:solidFill>
                <a:latin typeface="Arial" panose="020B0604020202020204" pitchFamily="34" charset="0"/>
                <a:ea typeface="Arial" panose="020B0604020202020204" pitchFamily="34" charset="-122"/>
                <a:cs typeface="Arial" panose="020B0604020202020204" pitchFamily="34" charset="-120"/>
              </a:rPr>
              <a:t>AI Demand Forecasting</a:t>
            </a:r>
            <a:endParaRPr lang="en-US" sz="2550" dirty="0"/>
          </a:p>
        </p:txBody>
      </p:sp>
      <p:sp>
        <p:nvSpPr>
          <p:cNvPr id="11" name="Text 9"/>
          <p:cNvSpPr/>
          <p:nvPr/>
        </p:nvSpPr>
        <p:spPr>
          <a:xfrm>
            <a:off x="9525000" y="4336703"/>
            <a:ext cx="8591550" cy="328613"/>
          </a:xfrm>
          <a:prstGeom prst="rect">
            <a:avLst/>
          </a:prstGeom>
          <a:noFill/>
        </p:spPr>
        <p:txBody>
          <a:bodyPr wrap="square" lIns="25400" tIns="25400" rIns="25400" bIns="25400" rtlCol="0" anchor="t">
            <a:normAutofit/>
          </a:bodyPr>
          <a:lstStyle/>
          <a:p>
            <a:pPr marL="0" indent="0" algn="l">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Forward demand by SKU and branch, 4 to 52 weeks</a:t>
            </a:r>
            <a:endParaRPr lang="en-US" sz="2100" dirty="0"/>
          </a:p>
        </p:txBody>
      </p:sp>
      <p:sp>
        <p:nvSpPr>
          <p:cNvPr id="12" name="Shape 10"/>
          <p:cNvSpPr/>
          <p:nvPr/>
        </p:nvSpPr>
        <p:spPr>
          <a:xfrm>
            <a:off x="952500" y="6127403"/>
            <a:ext cx="7810500" cy="19050"/>
          </a:xfrm>
          <a:prstGeom prst="rect">
            <a:avLst/>
          </a:prstGeom>
          <a:solidFill>
            <a:srgbClr val="E2ECF7">
              <a:alpha val="22000"/>
            </a:srgbClr>
          </a:solidFill>
        </p:spPr>
      </p:sp>
      <p:sp>
        <p:nvSpPr>
          <p:cNvPr id="13" name="Text 11"/>
          <p:cNvSpPr/>
          <p:nvPr/>
        </p:nvSpPr>
        <p:spPr>
          <a:xfrm>
            <a:off x="952500" y="5141565"/>
            <a:ext cx="8591550" cy="409575"/>
          </a:xfrm>
          <a:prstGeom prst="rect">
            <a:avLst/>
          </a:prstGeom>
          <a:noFill/>
        </p:spPr>
        <p:txBody>
          <a:bodyPr wrap="square" lIns="25400" tIns="25400" rIns="25400" bIns="25400" rtlCol="0" anchor="t">
            <a:normAutofit/>
          </a:bodyPr>
          <a:lstStyle/>
          <a:p>
            <a:pPr marL="0" indent="0" algn="l">
              <a:buNone/>
            </a:pPr>
            <a:r>
              <a:rPr lang="en-US" sz="2550" b="1" dirty="0">
                <a:solidFill>
                  <a:srgbClr val="EDF2F8"/>
                </a:solidFill>
                <a:latin typeface="Arial" panose="020B0604020202020204" pitchFamily="34" charset="0"/>
                <a:ea typeface="Arial" panose="020B0604020202020204" pitchFamily="34" charset="-122"/>
                <a:cs typeface="Arial" panose="020B0604020202020204" pitchFamily="34" charset="-120"/>
              </a:rPr>
              <a:t>Data Quality Radar</a:t>
            </a:r>
            <a:endParaRPr lang="en-US" sz="2550" dirty="0"/>
          </a:p>
        </p:txBody>
      </p:sp>
      <p:sp>
        <p:nvSpPr>
          <p:cNvPr id="14" name="Text 12"/>
          <p:cNvSpPr/>
          <p:nvPr/>
        </p:nvSpPr>
        <p:spPr>
          <a:xfrm>
            <a:off x="952500" y="5589240"/>
            <a:ext cx="8591550" cy="328613"/>
          </a:xfrm>
          <a:prstGeom prst="rect">
            <a:avLst/>
          </a:prstGeom>
          <a:noFill/>
        </p:spPr>
        <p:txBody>
          <a:bodyPr wrap="square" lIns="25400" tIns="25400" rIns="25400" bIns="25400" rtlCol="0" anchor="t">
            <a:normAutofit/>
          </a:bodyPr>
          <a:lstStyle/>
          <a:p>
            <a:pPr marL="0" indent="0" algn="l">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Completeness, null variance and schema diagnostics</a:t>
            </a:r>
            <a:endParaRPr lang="en-US" sz="2100" dirty="0"/>
          </a:p>
        </p:txBody>
      </p:sp>
      <p:sp>
        <p:nvSpPr>
          <p:cNvPr id="15" name="Shape 13"/>
          <p:cNvSpPr/>
          <p:nvPr/>
        </p:nvSpPr>
        <p:spPr>
          <a:xfrm>
            <a:off x="9525000" y="6127403"/>
            <a:ext cx="7810500" cy="19050"/>
          </a:xfrm>
          <a:prstGeom prst="rect">
            <a:avLst/>
          </a:prstGeom>
          <a:solidFill>
            <a:srgbClr val="E2ECF7">
              <a:alpha val="22000"/>
            </a:srgbClr>
          </a:solidFill>
        </p:spPr>
      </p:sp>
      <p:sp>
        <p:nvSpPr>
          <p:cNvPr id="16" name="Text 14"/>
          <p:cNvSpPr/>
          <p:nvPr/>
        </p:nvSpPr>
        <p:spPr>
          <a:xfrm>
            <a:off x="9525000" y="5141565"/>
            <a:ext cx="8591550" cy="409575"/>
          </a:xfrm>
          <a:prstGeom prst="rect">
            <a:avLst/>
          </a:prstGeom>
          <a:noFill/>
        </p:spPr>
        <p:txBody>
          <a:bodyPr wrap="square" lIns="25400" tIns="25400" rIns="25400" bIns="25400" rtlCol="0" anchor="t">
            <a:normAutofit/>
          </a:bodyPr>
          <a:lstStyle/>
          <a:p>
            <a:pPr marL="0" indent="0" algn="l">
              <a:buNone/>
            </a:pPr>
            <a:r>
              <a:rPr lang="en-US" sz="2550" b="1" dirty="0">
                <a:solidFill>
                  <a:srgbClr val="EDF2F8"/>
                </a:solidFill>
                <a:latin typeface="Arial" panose="020B0604020202020204" pitchFamily="34" charset="0"/>
                <a:ea typeface="Arial" panose="020B0604020202020204" pitchFamily="34" charset="-122"/>
                <a:cs typeface="Arial" panose="020B0604020202020204" pitchFamily="34" charset="-120"/>
              </a:rPr>
              <a:t>Data Cleaning Studio</a:t>
            </a:r>
            <a:endParaRPr lang="en-US" sz="2550" dirty="0"/>
          </a:p>
        </p:txBody>
      </p:sp>
      <p:sp>
        <p:nvSpPr>
          <p:cNvPr id="17" name="Text 15"/>
          <p:cNvSpPr/>
          <p:nvPr/>
        </p:nvSpPr>
        <p:spPr>
          <a:xfrm>
            <a:off x="9525000" y="5589240"/>
            <a:ext cx="8591550" cy="328613"/>
          </a:xfrm>
          <a:prstGeom prst="rect">
            <a:avLst/>
          </a:prstGeom>
          <a:noFill/>
        </p:spPr>
        <p:txBody>
          <a:bodyPr wrap="square" lIns="25400" tIns="25400" rIns="25400" bIns="25400" rtlCol="0" anchor="t">
            <a:normAutofit/>
          </a:bodyPr>
          <a:lstStyle/>
          <a:p>
            <a:pPr marL="0" indent="0" algn="l">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Deduplication, imputation and schema standardization</a:t>
            </a:r>
            <a:endParaRPr lang="en-US" sz="2100" dirty="0"/>
          </a:p>
        </p:txBody>
      </p:sp>
      <p:sp>
        <p:nvSpPr>
          <p:cNvPr id="18" name="Shape 16"/>
          <p:cNvSpPr/>
          <p:nvPr/>
        </p:nvSpPr>
        <p:spPr>
          <a:xfrm>
            <a:off x="952500" y="7379940"/>
            <a:ext cx="7810500" cy="19050"/>
          </a:xfrm>
          <a:prstGeom prst="rect">
            <a:avLst/>
          </a:prstGeom>
          <a:solidFill>
            <a:srgbClr val="E2ECF7">
              <a:alpha val="22000"/>
            </a:srgbClr>
          </a:solidFill>
        </p:spPr>
      </p:sp>
      <p:sp>
        <p:nvSpPr>
          <p:cNvPr id="19" name="Text 17"/>
          <p:cNvSpPr/>
          <p:nvPr/>
        </p:nvSpPr>
        <p:spPr>
          <a:xfrm>
            <a:off x="952500" y="6394103"/>
            <a:ext cx="8591550" cy="409575"/>
          </a:xfrm>
          <a:prstGeom prst="rect">
            <a:avLst/>
          </a:prstGeom>
          <a:noFill/>
        </p:spPr>
        <p:txBody>
          <a:bodyPr wrap="square" lIns="25400" tIns="25400" rIns="25400" bIns="25400" rtlCol="0" anchor="t">
            <a:normAutofit/>
          </a:bodyPr>
          <a:lstStyle/>
          <a:p>
            <a:pPr marL="0" indent="0" algn="l">
              <a:buNone/>
            </a:pPr>
            <a:r>
              <a:rPr lang="en-US" sz="2550" b="1" dirty="0">
                <a:solidFill>
                  <a:srgbClr val="EDF2F8"/>
                </a:solidFill>
                <a:latin typeface="Arial" panose="020B0604020202020204" pitchFamily="34" charset="0"/>
                <a:ea typeface="Arial" panose="020B0604020202020204" pitchFamily="34" charset="-122"/>
                <a:cs typeface="Arial" panose="020B0604020202020204" pitchFamily="34" charset="-120"/>
              </a:rPr>
              <a:t>Statistical Deep-Dive</a:t>
            </a:r>
            <a:endParaRPr lang="en-US" sz="2550" dirty="0"/>
          </a:p>
        </p:txBody>
      </p:sp>
      <p:sp>
        <p:nvSpPr>
          <p:cNvPr id="20" name="Text 18"/>
          <p:cNvSpPr/>
          <p:nvPr/>
        </p:nvSpPr>
        <p:spPr>
          <a:xfrm>
            <a:off x="952500" y="6841778"/>
            <a:ext cx="8591550" cy="328613"/>
          </a:xfrm>
          <a:prstGeom prst="rect">
            <a:avLst/>
          </a:prstGeom>
          <a:noFill/>
        </p:spPr>
        <p:txBody>
          <a:bodyPr wrap="square" lIns="25400" tIns="25400" rIns="25400" bIns="25400" rtlCol="0" anchor="t">
            <a:normAutofit/>
          </a:bodyPr>
          <a:lstStyle/>
          <a:p>
            <a:pPr marL="0" indent="0" algn="l">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Distributions, correlation matrices and variance spread</a:t>
            </a:r>
            <a:endParaRPr lang="en-US" sz="2100" dirty="0"/>
          </a:p>
        </p:txBody>
      </p:sp>
      <p:sp>
        <p:nvSpPr>
          <p:cNvPr id="21" name="Shape 19"/>
          <p:cNvSpPr/>
          <p:nvPr/>
        </p:nvSpPr>
        <p:spPr>
          <a:xfrm>
            <a:off x="9525000" y="7379940"/>
            <a:ext cx="7810500" cy="19050"/>
          </a:xfrm>
          <a:prstGeom prst="rect">
            <a:avLst/>
          </a:prstGeom>
          <a:solidFill>
            <a:srgbClr val="E2ECF7">
              <a:alpha val="22000"/>
            </a:srgbClr>
          </a:solidFill>
        </p:spPr>
      </p:sp>
      <p:sp>
        <p:nvSpPr>
          <p:cNvPr id="22" name="Text 20"/>
          <p:cNvSpPr/>
          <p:nvPr/>
        </p:nvSpPr>
        <p:spPr>
          <a:xfrm>
            <a:off x="9525000" y="6394103"/>
            <a:ext cx="8591550" cy="409575"/>
          </a:xfrm>
          <a:prstGeom prst="rect">
            <a:avLst/>
          </a:prstGeom>
          <a:noFill/>
        </p:spPr>
        <p:txBody>
          <a:bodyPr wrap="square" lIns="25400" tIns="25400" rIns="25400" bIns="25400" rtlCol="0" anchor="t">
            <a:normAutofit/>
          </a:bodyPr>
          <a:lstStyle/>
          <a:p>
            <a:pPr marL="0" indent="0" algn="l">
              <a:buNone/>
            </a:pPr>
            <a:r>
              <a:rPr lang="en-US" sz="2550" b="1" dirty="0">
                <a:solidFill>
                  <a:srgbClr val="EDF2F8"/>
                </a:solidFill>
                <a:latin typeface="Arial" panose="020B0604020202020204" pitchFamily="34" charset="0"/>
                <a:ea typeface="Arial" panose="020B0604020202020204" pitchFamily="34" charset="-122"/>
                <a:cs typeface="Arial" panose="020B0604020202020204" pitchFamily="34" charset="-120"/>
              </a:rPr>
              <a:t>Intelligence Explorer</a:t>
            </a:r>
            <a:endParaRPr lang="en-US" sz="2550" dirty="0"/>
          </a:p>
        </p:txBody>
      </p:sp>
      <p:sp>
        <p:nvSpPr>
          <p:cNvPr id="23" name="Text 21"/>
          <p:cNvSpPr/>
          <p:nvPr/>
        </p:nvSpPr>
        <p:spPr>
          <a:xfrm>
            <a:off x="9525000" y="6841778"/>
            <a:ext cx="8591550" cy="328613"/>
          </a:xfrm>
          <a:prstGeom prst="rect">
            <a:avLst/>
          </a:prstGeom>
          <a:noFill/>
        </p:spPr>
        <p:txBody>
          <a:bodyPr wrap="square" lIns="25400" tIns="25400" rIns="25400" bIns="25400" rtlCol="0" anchor="t">
            <a:normAutofit/>
          </a:bodyPr>
          <a:lstStyle/>
          <a:p>
            <a:pPr marL="0" indent="0" algn="l">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Column slice-and-dice, attribute profiling and search</a:t>
            </a:r>
            <a:endParaRPr lang="en-US" sz="2100" dirty="0"/>
          </a:p>
        </p:txBody>
      </p:sp>
      <p:sp>
        <p:nvSpPr>
          <p:cNvPr id="24" name="Shape 22"/>
          <p:cNvSpPr/>
          <p:nvPr/>
        </p:nvSpPr>
        <p:spPr>
          <a:xfrm>
            <a:off x="952500" y="8632478"/>
            <a:ext cx="7810500" cy="19050"/>
          </a:xfrm>
          <a:prstGeom prst="rect">
            <a:avLst/>
          </a:prstGeom>
          <a:solidFill>
            <a:srgbClr val="E2ECF7">
              <a:alpha val="22000"/>
            </a:srgbClr>
          </a:solidFill>
        </p:spPr>
      </p:sp>
      <p:sp>
        <p:nvSpPr>
          <p:cNvPr id="25" name="Text 23"/>
          <p:cNvSpPr/>
          <p:nvPr/>
        </p:nvSpPr>
        <p:spPr>
          <a:xfrm>
            <a:off x="952500" y="7646640"/>
            <a:ext cx="8591550" cy="409575"/>
          </a:xfrm>
          <a:prstGeom prst="rect">
            <a:avLst/>
          </a:prstGeom>
          <a:noFill/>
        </p:spPr>
        <p:txBody>
          <a:bodyPr wrap="square" lIns="25400" tIns="25400" rIns="25400" bIns="25400" rtlCol="0" anchor="t">
            <a:normAutofit/>
          </a:bodyPr>
          <a:lstStyle/>
          <a:p>
            <a:pPr marL="0" indent="0" algn="l">
              <a:buNone/>
            </a:pPr>
            <a:r>
              <a:rPr lang="en-US" sz="2550" b="1" dirty="0">
                <a:solidFill>
                  <a:srgbClr val="EDF2F8"/>
                </a:solidFill>
                <a:latin typeface="Arial" panose="020B0604020202020204" pitchFamily="34" charset="0"/>
                <a:ea typeface="Arial" panose="020B0604020202020204" pitchFamily="34" charset="-122"/>
                <a:cs typeface="Arial" panose="020B0604020202020204" pitchFamily="34" charset="-120"/>
              </a:rPr>
              <a:t>C-Suite Reports</a:t>
            </a:r>
            <a:endParaRPr lang="en-US" sz="2550" dirty="0"/>
          </a:p>
        </p:txBody>
      </p:sp>
      <p:sp>
        <p:nvSpPr>
          <p:cNvPr id="26" name="Text 24"/>
          <p:cNvSpPr/>
          <p:nvPr/>
        </p:nvSpPr>
        <p:spPr>
          <a:xfrm>
            <a:off x="952500" y="8094315"/>
            <a:ext cx="8591550" cy="328613"/>
          </a:xfrm>
          <a:prstGeom prst="rect">
            <a:avLst/>
          </a:prstGeom>
          <a:noFill/>
        </p:spPr>
        <p:txBody>
          <a:bodyPr wrap="square" lIns="25400" tIns="25400" rIns="25400" bIns="25400" rtlCol="0" anchor="t">
            <a:normAutofit/>
          </a:bodyPr>
          <a:lstStyle/>
          <a:p>
            <a:pPr marL="0" indent="0" algn="l">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Automated PDF briefings and multi-tab Excel exports</a:t>
            </a:r>
            <a:endParaRPr lang="en-US" sz="2100" dirty="0"/>
          </a:p>
        </p:txBody>
      </p:sp>
      <p:sp>
        <p:nvSpPr>
          <p:cNvPr id="27" name="Shape 25"/>
          <p:cNvSpPr/>
          <p:nvPr/>
        </p:nvSpPr>
        <p:spPr>
          <a:xfrm>
            <a:off x="9525000" y="8632478"/>
            <a:ext cx="7810500" cy="19050"/>
          </a:xfrm>
          <a:prstGeom prst="rect">
            <a:avLst/>
          </a:prstGeom>
          <a:solidFill>
            <a:srgbClr val="E2ECF7">
              <a:alpha val="22000"/>
            </a:srgbClr>
          </a:solidFill>
        </p:spPr>
      </p:sp>
      <p:sp>
        <p:nvSpPr>
          <p:cNvPr id="28" name="Text 26"/>
          <p:cNvSpPr/>
          <p:nvPr/>
        </p:nvSpPr>
        <p:spPr>
          <a:xfrm>
            <a:off x="9525000" y="7646640"/>
            <a:ext cx="8591550" cy="409575"/>
          </a:xfrm>
          <a:prstGeom prst="rect">
            <a:avLst/>
          </a:prstGeom>
          <a:noFill/>
        </p:spPr>
        <p:txBody>
          <a:bodyPr wrap="square" lIns="25400" tIns="25400" rIns="25400" bIns="25400" rtlCol="0" anchor="t">
            <a:normAutofit/>
          </a:bodyPr>
          <a:lstStyle/>
          <a:p>
            <a:pPr marL="0" indent="0" algn="l">
              <a:buNone/>
            </a:pPr>
            <a:r>
              <a:rPr lang="en-US" sz="2550" b="1" dirty="0">
                <a:solidFill>
                  <a:srgbClr val="57D2E6"/>
                </a:solidFill>
                <a:latin typeface="Arial" panose="020B0604020202020204" pitchFamily="34" charset="0"/>
                <a:ea typeface="Arial" panose="020B0604020202020204" pitchFamily="34" charset="-122"/>
                <a:cs typeface="Arial" panose="020B0604020202020204" pitchFamily="34" charset="-120"/>
              </a:rPr>
              <a:t>Dark and light themes</a:t>
            </a:r>
            <a:endParaRPr lang="en-US" sz="2550" dirty="0"/>
          </a:p>
        </p:txBody>
      </p:sp>
      <p:sp>
        <p:nvSpPr>
          <p:cNvPr id="29" name="Text 27"/>
          <p:cNvSpPr/>
          <p:nvPr/>
        </p:nvSpPr>
        <p:spPr>
          <a:xfrm>
            <a:off x="9525000" y="8094315"/>
            <a:ext cx="8591550" cy="328613"/>
          </a:xfrm>
          <a:prstGeom prst="rect">
            <a:avLst/>
          </a:prstGeom>
          <a:noFill/>
        </p:spPr>
        <p:txBody>
          <a:bodyPr wrap="square" lIns="25400" tIns="25400" rIns="25400" bIns="25400" rtlCol="0" anchor="t">
            <a:normAutofit/>
          </a:bodyPr>
          <a:lstStyle/>
          <a:p>
            <a:pPr marL="0" indent="0" algn="l">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Built for boardroom projection and desk review alike</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1622"/>
        </a:solidFill>
        <a:effectLst/>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p:spPr>
        <p:txBody>
          <a:bodyPr wrap="square" lIns="25400" tIns="25400" rIns="25400" bIns="25400" rtlCol="0" anchor="t">
            <a:normAutofit/>
          </a:bodyPr>
          <a:lstStyle/>
          <a:p>
            <a:pPr marL="0" indent="0" algn="l">
              <a:buNone/>
            </a:pPr>
            <a:r>
              <a:rPr lang="en-US" sz="1800" b="1" kern="0" spc="360" dirty="0">
                <a:solidFill>
                  <a:srgbClr val="57D2E6"/>
                </a:solidFill>
                <a:latin typeface="Arial" panose="020B0604020202020204" pitchFamily="34" charset="0"/>
                <a:ea typeface="Arial" panose="020B0604020202020204" pitchFamily="34" charset="-122"/>
                <a:cs typeface="Arial" panose="020B0604020202020204" pitchFamily="34" charset="-120"/>
              </a:rPr>
              <a:t>10 — NEXT</a:t>
            </a:r>
            <a:endParaRPr lang="en-US" sz="1800" dirty="0"/>
          </a:p>
        </p:txBody>
      </p:sp>
      <p:sp>
        <p:nvSpPr>
          <p:cNvPr id="3" name="Text 1"/>
          <p:cNvSpPr/>
          <p:nvPr/>
        </p:nvSpPr>
        <p:spPr>
          <a:xfrm>
            <a:off x="952500" y="1423988"/>
            <a:ext cx="15304770" cy="1379190"/>
          </a:xfrm>
          <a:prstGeom prst="rect">
            <a:avLst/>
          </a:prstGeom>
          <a:noFill/>
        </p:spPr>
        <p:txBody>
          <a:bodyPr wrap="square" lIns="25400" tIns="25400" rIns="25400" bIns="25400" rtlCol="0" anchor="t">
            <a:normAutofit/>
          </a:bodyPr>
          <a:lstStyle/>
          <a:p>
            <a:pPr marL="0" indent="0" algn="l">
              <a:lnSpc>
                <a:spcPct val="96000"/>
              </a:lnSpc>
              <a:buNone/>
            </a:pPr>
            <a:r>
              <a:rPr lang="en-US" sz="4800" b="1" kern="0" spc="-96" dirty="0">
                <a:solidFill>
                  <a:srgbClr val="EDF2F8"/>
                </a:solidFill>
                <a:latin typeface="Arial" panose="020B0604020202020204" pitchFamily="34" charset="0"/>
                <a:ea typeface="Arial" panose="020B0604020202020204" pitchFamily="34" charset="-122"/>
                <a:cs typeface="Arial" panose="020B0604020202020204" pitchFamily="34" charset="-120"/>
              </a:rPr>
              <a:t>Four moves take the dashboard from capstone artefact to planning tool</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p:spPr>
      </p:sp>
      <p:sp>
        <p:nvSpPr>
          <p:cNvPr id="5" name="Shape 3"/>
          <p:cNvSpPr/>
          <p:nvPr/>
        </p:nvSpPr>
        <p:spPr>
          <a:xfrm>
            <a:off x="952500" y="3622328"/>
            <a:ext cx="16383000" cy="19050"/>
          </a:xfrm>
          <a:prstGeom prst="rect">
            <a:avLst/>
          </a:prstGeom>
          <a:solidFill>
            <a:srgbClr val="E2ECF7">
              <a:alpha val="22000"/>
            </a:srgbClr>
          </a:solidFill>
        </p:spPr>
      </p:sp>
      <p:sp>
        <p:nvSpPr>
          <p:cNvPr id="6" name="Shape 4"/>
          <p:cNvSpPr/>
          <p:nvPr/>
        </p:nvSpPr>
        <p:spPr>
          <a:xfrm>
            <a:off x="952500" y="4584353"/>
            <a:ext cx="16383000" cy="19050"/>
          </a:xfrm>
          <a:prstGeom prst="rect">
            <a:avLst/>
          </a:prstGeom>
          <a:solidFill>
            <a:srgbClr val="E2ECF7">
              <a:alpha val="22000"/>
            </a:srgbClr>
          </a:solidFill>
        </p:spPr>
      </p:sp>
      <p:sp>
        <p:nvSpPr>
          <p:cNvPr id="7" name="Text 5"/>
          <p:cNvSpPr/>
          <p:nvPr/>
        </p:nvSpPr>
        <p:spPr>
          <a:xfrm>
            <a:off x="952500" y="3927128"/>
            <a:ext cx="647700" cy="409575"/>
          </a:xfrm>
          <a:prstGeom prst="rect">
            <a:avLst/>
          </a:prstGeom>
          <a:noFill/>
        </p:spPr>
        <p:txBody>
          <a:bodyPr wrap="square" lIns="25400" tIns="25400" rIns="25400" bIns="25400" rtlCol="0" anchor="t">
            <a:normAutofit/>
          </a:bodyPr>
          <a:lstStyle/>
          <a:p>
            <a:pPr marL="0" indent="0" algn="l">
              <a:buNone/>
            </a:pPr>
            <a:r>
              <a:rPr lang="en-US" sz="2550" b="1" dirty="0">
                <a:solidFill>
                  <a:srgbClr val="57D2E6"/>
                </a:solidFill>
                <a:latin typeface="Arial" panose="020B0604020202020204" pitchFamily="34" charset="0"/>
                <a:ea typeface="Arial" panose="020B0604020202020204" pitchFamily="34" charset="-122"/>
                <a:cs typeface="Arial" panose="020B0604020202020204" pitchFamily="34" charset="-120"/>
              </a:rPr>
              <a:t>01</a:t>
            </a:r>
            <a:endParaRPr lang="en-US" sz="2550" dirty="0"/>
          </a:p>
        </p:txBody>
      </p:sp>
      <p:sp>
        <p:nvSpPr>
          <p:cNvPr id="8" name="Text 6"/>
          <p:cNvSpPr/>
          <p:nvPr/>
        </p:nvSpPr>
        <p:spPr>
          <a:xfrm>
            <a:off x="2057400" y="3941415"/>
            <a:ext cx="13535047" cy="390525"/>
          </a:xfrm>
          <a:prstGeom prst="rect">
            <a:avLst/>
          </a:prstGeom>
          <a:noFill/>
        </p:spPr>
        <p:txBody>
          <a:bodyPr wrap="square" lIns="25400" tIns="25400" rIns="25400" bIns="25400" rtlCol="0" anchor="t">
            <a:normAutofit/>
          </a:bodyPr>
          <a:lstStyle/>
          <a:p>
            <a:pPr marL="0" indent="0" algn="l">
              <a:buNone/>
            </a:pPr>
            <a:r>
              <a:rPr lang="en-US" sz="2550" dirty="0">
                <a:solidFill>
                  <a:srgbClr val="EDF2F8"/>
                </a:solidFill>
                <a:latin typeface="Arial" panose="020B0604020202020204" pitchFamily="34" charset="0"/>
                <a:ea typeface="Arial" panose="020B0604020202020204" pitchFamily="34" charset="-122"/>
                <a:cs typeface="Arial" panose="020B0604020202020204" pitchFamily="34" charset="-120"/>
              </a:rPr>
              <a:t>Run the hygiene pipeline in production so every refresh lands at 98.5% completeness</a:t>
            </a:r>
            <a:endParaRPr lang="en-US" sz="2550" dirty="0"/>
          </a:p>
        </p:txBody>
      </p:sp>
      <p:sp>
        <p:nvSpPr>
          <p:cNvPr id="9" name="Shape 7"/>
          <p:cNvSpPr/>
          <p:nvPr/>
        </p:nvSpPr>
        <p:spPr>
          <a:xfrm>
            <a:off x="952500" y="5546378"/>
            <a:ext cx="16383000" cy="19050"/>
          </a:xfrm>
          <a:prstGeom prst="rect">
            <a:avLst/>
          </a:prstGeom>
          <a:solidFill>
            <a:srgbClr val="E2ECF7">
              <a:alpha val="22000"/>
            </a:srgbClr>
          </a:solidFill>
        </p:spPr>
      </p:sp>
      <p:sp>
        <p:nvSpPr>
          <p:cNvPr id="10" name="Text 8"/>
          <p:cNvSpPr/>
          <p:nvPr/>
        </p:nvSpPr>
        <p:spPr>
          <a:xfrm>
            <a:off x="952500" y="4889153"/>
            <a:ext cx="647700" cy="409575"/>
          </a:xfrm>
          <a:prstGeom prst="rect">
            <a:avLst/>
          </a:prstGeom>
          <a:noFill/>
        </p:spPr>
        <p:txBody>
          <a:bodyPr wrap="square" lIns="25400" tIns="25400" rIns="25400" bIns="25400" rtlCol="0" anchor="t">
            <a:normAutofit/>
          </a:bodyPr>
          <a:lstStyle/>
          <a:p>
            <a:pPr marL="0" indent="0" algn="l">
              <a:buNone/>
            </a:pPr>
            <a:r>
              <a:rPr lang="en-US" sz="2550" b="1" dirty="0">
                <a:solidFill>
                  <a:srgbClr val="57D2E6"/>
                </a:solidFill>
                <a:latin typeface="Arial" panose="020B0604020202020204" pitchFamily="34" charset="0"/>
                <a:ea typeface="Arial" panose="020B0604020202020204" pitchFamily="34" charset="-122"/>
                <a:cs typeface="Arial" panose="020B0604020202020204" pitchFamily="34" charset="-120"/>
              </a:rPr>
              <a:t>02</a:t>
            </a:r>
            <a:endParaRPr lang="en-US" sz="2550" dirty="0"/>
          </a:p>
        </p:txBody>
      </p:sp>
      <p:sp>
        <p:nvSpPr>
          <p:cNvPr id="11" name="Text 9"/>
          <p:cNvSpPr/>
          <p:nvPr/>
        </p:nvSpPr>
        <p:spPr>
          <a:xfrm>
            <a:off x="2057400" y="4903440"/>
            <a:ext cx="11812890" cy="390525"/>
          </a:xfrm>
          <a:prstGeom prst="rect">
            <a:avLst/>
          </a:prstGeom>
          <a:noFill/>
        </p:spPr>
        <p:txBody>
          <a:bodyPr wrap="square" lIns="25400" tIns="25400" rIns="25400" bIns="25400" rtlCol="0" anchor="t">
            <a:normAutofit/>
          </a:bodyPr>
          <a:lstStyle/>
          <a:p>
            <a:pPr marL="0" indent="0" algn="l">
              <a:buNone/>
            </a:pPr>
            <a:r>
              <a:rPr lang="en-US" sz="2550" dirty="0">
                <a:solidFill>
                  <a:srgbClr val="EDF2F8"/>
                </a:solidFill>
                <a:latin typeface="Arial" panose="020B0604020202020204" pitchFamily="34" charset="0"/>
                <a:ea typeface="Arial" panose="020B0604020202020204" pitchFamily="34" charset="-122"/>
                <a:cs typeface="Arial" panose="020B0604020202020204" pitchFamily="34" charset="-120"/>
              </a:rPr>
              <a:t>Close the Q1 FY24-25 gap at source before extending the forecast window</a:t>
            </a:r>
            <a:endParaRPr lang="en-US" sz="2550" dirty="0"/>
          </a:p>
        </p:txBody>
      </p:sp>
      <p:sp>
        <p:nvSpPr>
          <p:cNvPr id="12" name="Shape 10"/>
          <p:cNvSpPr/>
          <p:nvPr/>
        </p:nvSpPr>
        <p:spPr>
          <a:xfrm>
            <a:off x="952500" y="6508403"/>
            <a:ext cx="16383000" cy="19050"/>
          </a:xfrm>
          <a:prstGeom prst="rect">
            <a:avLst/>
          </a:prstGeom>
          <a:solidFill>
            <a:srgbClr val="E2ECF7">
              <a:alpha val="22000"/>
            </a:srgbClr>
          </a:solidFill>
        </p:spPr>
      </p:sp>
      <p:sp>
        <p:nvSpPr>
          <p:cNvPr id="13" name="Text 11"/>
          <p:cNvSpPr/>
          <p:nvPr/>
        </p:nvSpPr>
        <p:spPr>
          <a:xfrm>
            <a:off x="952500" y="5851178"/>
            <a:ext cx="647700" cy="409575"/>
          </a:xfrm>
          <a:prstGeom prst="rect">
            <a:avLst/>
          </a:prstGeom>
          <a:noFill/>
        </p:spPr>
        <p:txBody>
          <a:bodyPr wrap="square" lIns="25400" tIns="25400" rIns="25400" bIns="25400" rtlCol="0" anchor="t">
            <a:normAutofit/>
          </a:bodyPr>
          <a:lstStyle/>
          <a:p>
            <a:pPr marL="0" indent="0" algn="l">
              <a:buNone/>
            </a:pPr>
            <a:r>
              <a:rPr lang="en-US" sz="2550" b="1" dirty="0">
                <a:solidFill>
                  <a:srgbClr val="57D2E6"/>
                </a:solidFill>
                <a:latin typeface="Arial" panose="020B0604020202020204" pitchFamily="34" charset="0"/>
                <a:ea typeface="Arial" panose="020B0604020202020204" pitchFamily="34" charset="-122"/>
                <a:cs typeface="Arial" panose="020B0604020202020204" pitchFamily="34" charset="-120"/>
              </a:rPr>
              <a:t>03</a:t>
            </a:r>
            <a:endParaRPr lang="en-US" sz="2550" dirty="0"/>
          </a:p>
        </p:txBody>
      </p:sp>
      <p:sp>
        <p:nvSpPr>
          <p:cNvPr id="14" name="Text 12"/>
          <p:cNvSpPr/>
          <p:nvPr/>
        </p:nvSpPr>
        <p:spPr>
          <a:xfrm>
            <a:off x="2057400" y="5865465"/>
            <a:ext cx="11406805" cy="390525"/>
          </a:xfrm>
          <a:prstGeom prst="rect">
            <a:avLst/>
          </a:prstGeom>
          <a:noFill/>
        </p:spPr>
        <p:txBody>
          <a:bodyPr wrap="square" lIns="25400" tIns="25400" rIns="25400" bIns="25400" rtlCol="0" anchor="t">
            <a:normAutofit/>
          </a:bodyPr>
          <a:lstStyle/>
          <a:p>
            <a:pPr marL="0" indent="0" algn="l">
              <a:buNone/>
            </a:pPr>
            <a:r>
              <a:rPr lang="en-US" sz="2550" dirty="0">
                <a:solidFill>
                  <a:srgbClr val="EDF2F8"/>
                </a:solidFill>
                <a:latin typeface="Arial" panose="020B0604020202020204" pitchFamily="34" charset="0"/>
                <a:ea typeface="Arial" panose="020B0604020202020204" pitchFamily="34" charset="-122"/>
                <a:cs typeface="Arial" panose="020B0604020202020204" pitchFamily="34" charset="-120"/>
              </a:rPr>
              <a:t>Extend coverage from 15 SKUs to the full 154-SKU portfolio, hub by hub</a:t>
            </a:r>
            <a:endParaRPr lang="en-US" sz="2550" dirty="0"/>
          </a:p>
        </p:txBody>
      </p:sp>
      <p:sp>
        <p:nvSpPr>
          <p:cNvPr id="15" name="Shape 13"/>
          <p:cNvSpPr/>
          <p:nvPr/>
        </p:nvSpPr>
        <p:spPr>
          <a:xfrm>
            <a:off x="952500" y="7470428"/>
            <a:ext cx="16383000" cy="19050"/>
          </a:xfrm>
          <a:prstGeom prst="rect">
            <a:avLst/>
          </a:prstGeom>
          <a:solidFill>
            <a:srgbClr val="E2ECF7">
              <a:alpha val="22000"/>
            </a:srgbClr>
          </a:solidFill>
        </p:spPr>
      </p:sp>
      <p:sp>
        <p:nvSpPr>
          <p:cNvPr id="16" name="Text 14"/>
          <p:cNvSpPr/>
          <p:nvPr/>
        </p:nvSpPr>
        <p:spPr>
          <a:xfrm>
            <a:off x="952500" y="6813203"/>
            <a:ext cx="647700" cy="409575"/>
          </a:xfrm>
          <a:prstGeom prst="rect">
            <a:avLst/>
          </a:prstGeom>
          <a:noFill/>
        </p:spPr>
        <p:txBody>
          <a:bodyPr wrap="square" lIns="25400" tIns="25400" rIns="25400" bIns="25400" rtlCol="0" anchor="t">
            <a:normAutofit/>
          </a:bodyPr>
          <a:lstStyle/>
          <a:p>
            <a:pPr marL="0" indent="0" algn="l">
              <a:buNone/>
            </a:pPr>
            <a:r>
              <a:rPr lang="en-US" sz="2550" b="1" dirty="0">
                <a:solidFill>
                  <a:srgbClr val="57D2E6"/>
                </a:solidFill>
                <a:latin typeface="Arial" panose="020B0604020202020204" pitchFamily="34" charset="0"/>
                <a:ea typeface="Arial" panose="020B0604020202020204" pitchFamily="34" charset="-122"/>
                <a:cs typeface="Arial" panose="020B0604020202020204" pitchFamily="34" charset="-120"/>
              </a:rPr>
              <a:t>04</a:t>
            </a:r>
            <a:endParaRPr lang="en-US" sz="2550" dirty="0"/>
          </a:p>
        </p:txBody>
      </p:sp>
      <p:sp>
        <p:nvSpPr>
          <p:cNvPr id="17" name="Text 15"/>
          <p:cNvSpPr/>
          <p:nvPr/>
        </p:nvSpPr>
        <p:spPr>
          <a:xfrm>
            <a:off x="2057400" y="6827490"/>
            <a:ext cx="14450846" cy="390525"/>
          </a:xfrm>
          <a:prstGeom prst="rect">
            <a:avLst/>
          </a:prstGeom>
          <a:noFill/>
        </p:spPr>
        <p:txBody>
          <a:bodyPr wrap="square" lIns="25400" tIns="25400" rIns="25400" bIns="25400" rtlCol="0" anchor="t">
            <a:normAutofit/>
          </a:bodyPr>
          <a:lstStyle/>
          <a:p>
            <a:pPr marL="0" indent="0" algn="l">
              <a:buNone/>
            </a:pPr>
            <a:r>
              <a:rPr lang="en-US" sz="2550" dirty="0">
                <a:solidFill>
                  <a:srgbClr val="EDF2F8"/>
                </a:solidFill>
                <a:latin typeface="Arial" panose="020B0604020202020204" pitchFamily="34" charset="0"/>
                <a:ea typeface="Arial" panose="020B0604020202020204" pitchFamily="34" charset="-122"/>
                <a:cs typeface="Arial" panose="020B0604020202020204" pitchFamily="34" charset="-120"/>
              </a:rPr>
              <a:t>Convert the 12-week forecast into safety-stock and allocation targets for SBD and MAA first</a:t>
            </a:r>
            <a:endParaRPr lang="en-US" sz="2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1622"/>
        </a:solidFill>
        <a:effectLst/>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p:spPr>
        <p:txBody>
          <a:bodyPr wrap="square" lIns="25400" tIns="25400" rIns="25400" bIns="25400" rtlCol="0" anchor="t">
            <a:normAutofit/>
          </a:bodyPr>
          <a:lstStyle/>
          <a:p>
            <a:pPr marL="0" indent="0" algn="l">
              <a:buNone/>
            </a:pPr>
            <a:r>
              <a:rPr lang="en-US" sz="1800" b="1" kern="0" spc="360" dirty="0">
                <a:solidFill>
                  <a:srgbClr val="57D2E6"/>
                </a:solidFill>
                <a:latin typeface="Arial" panose="020B0604020202020204" pitchFamily="34" charset="0"/>
                <a:ea typeface="Arial" panose="020B0604020202020204" pitchFamily="34" charset="-122"/>
                <a:cs typeface="Arial" panose="020B0604020202020204" pitchFamily="34" charset="-120"/>
              </a:rPr>
              <a:t>11 — MODEL PROGRESS</a:t>
            </a:r>
            <a:endParaRPr lang="en-US" sz="1800" dirty="0"/>
          </a:p>
        </p:txBody>
      </p:sp>
      <p:sp>
        <p:nvSpPr>
          <p:cNvPr id="3" name="Text 1"/>
          <p:cNvSpPr/>
          <p:nvPr/>
        </p:nvSpPr>
        <p:spPr>
          <a:xfrm>
            <a:off x="952500" y="1423988"/>
            <a:ext cx="15304770" cy="1379190"/>
          </a:xfrm>
          <a:prstGeom prst="rect">
            <a:avLst/>
          </a:prstGeom>
          <a:noFill/>
        </p:spPr>
        <p:txBody>
          <a:bodyPr wrap="square" lIns="25400" tIns="25400" rIns="25400" bIns="25400" rtlCol="0" anchor="t">
            <a:normAutofit/>
          </a:bodyPr>
          <a:lstStyle/>
          <a:p>
            <a:pPr marL="0" indent="0" algn="l">
              <a:lnSpc>
                <a:spcPct val="96000"/>
              </a:lnSpc>
              <a:buNone/>
            </a:pPr>
            <a:r>
              <a:rPr lang="en-US" sz="4800" b="1" kern="0" spc="-96" dirty="0">
                <a:solidFill>
                  <a:srgbClr val="EDF2F8"/>
                </a:solidFill>
                <a:latin typeface="Arial" panose="020B0604020202020204" pitchFamily="34" charset="0"/>
                <a:ea typeface="Arial" panose="020B0604020202020204" pitchFamily="34" charset="-122"/>
                <a:cs typeface="Arial" panose="020B0604020202020204" pitchFamily="34" charset="-120"/>
              </a:rPr>
              <a:t>ARIMA is scored and shipping; the machine-learning track is still in validation</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p:spPr>
      </p:sp>
      <p:sp>
        <p:nvSpPr>
          <p:cNvPr id="5" name="Shape 3"/>
          <p:cNvSpPr/>
          <p:nvPr/>
        </p:nvSpPr>
        <p:spPr>
          <a:xfrm>
            <a:off x="10763250" y="3127028"/>
            <a:ext cx="19050" cy="6397972"/>
          </a:xfrm>
          <a:prstGeom prst="rect">
            <a:avLst/>
          </a:prstGeom>
          <a:solidFill>
            <a:srgbClr val="E2ECF7">
              <a:alpha val="22000"/>
            </a:srgbClr>
          </a:solidFill>
        </p:spPr>
      </p:sp>
      <p:sp>
        <p:nvSpPr>
          <p:cNvPr id="6" name="Shape 4"/>
          <p:cNvSpPr/>
          <p:nvPr/>
        </p:nvSpPr>
        <p:spPr>
          <a:xfrm>
            <a:off x="952500" y="4246215"/>
            <a:ext cx="9144000" cy="19050"/>
          </a:xfrm>
          <a:prstGeom prst="rect">
            <a:avLst/>
          </a:prstGeom>
          <a:solidFill>
            <a:srgbClr val="E2ECF7">
              <a:alpha val="22000"/>
            </a:srgbClr>
          </a:solidFill>
        </p:spPr>
      </p:sp>
      <p:sp>
        <p:nvSpPr>
          <p:cNvPr id="7" name="Shape 5"/>
          <p:cNvSpPr/>
          <p:nvPr/>
        </p:nvSpPr>
        <p:spPr>
          <a:xfrm>
            <a:off x="952500" y="3622328"/>
            <a:ext cx="9144000" cy="19050"/>
          </a:xfrm>
          <a:prstGeom prst="rect">
            <a:avLst/>
          </a:prstGeom>
          <a:solidFill>
            <a:srgbClr val="E2ECF7">
              <a:alpha val="22000"/>
            </a:srgbClr>
          </a:solidFill>
        </p:spPr>
      </p:sp>
      <p:sp>
        <p:nvSpPr>
          <p:cNvPr id="8" name="Text 6"/>
          <p:cNvSpPr/>
          <p:nvPr/>
        </p:nvSpPr>
        <p:spPr>
          <a:xfrm>
            <a:off x="952500" y="3812828"/>
            <a:ext cx="4310673" cy="300038"/>
          </a:xfrm>
          <a:prstGeom prst="rect">
            <a:avLst/>
          </a:prstGeom>
          <a:noFill/>
        </p:spPr>
        <p:txBody>
          <a:bodyPr wrap="square" lIns="25400" tIns="25400" rIns="25400" bIns="25400" rtlCol="0" anchor="t">
            <a:normAutofit/>
          </a:bodyPr>
          <a:lstStyle/>
          <a:p>
            <a:pPr marL="0" indent="0" algn="l">
              <a:buNone/>
            </a:pPr>
            <a:r>
              <a:rPr lang="en-US" sz="1800" b="1" kern="0" spc="252" dirty="0">
                <a:solidFill>
                  <a:srgbClr val="93A5BB"/>
                </a:solidFill>
                <a:latin typeface="Arial" panose="020B0604020202020204" pitchFamily="34" charset="0"/>
                <a:ea typeface="Arial" panose="020B0604020202020204" pitchFamily="34" charset="-122"/>
                <a:cs typeface="Arial" panose="020B0604020202020204" pitchFamily="34" charset="-120"/>
              </a:rPr>
              <a:t>MODEL</a:t>
            </a:r>
            <a:endParaRPr lang="en-US" sz="1800" dirty="0"/>
          </a:p>
        </p:txBody>
      </p:sp>
      <p:sp>
        <p:nvSpPr>
          <p:cNvPr id="9" name="Text 7"/>
          <p:cNvSpPr/>
          <p:nvPr/>
        </p:nvSpPr>
        <p:spPr>
          <a:xfrm>
            <a:off x="4871293" y="3812828"/>
            <a:ext cx="2873864" cy="300038"/>
          </a:xfrm>
          <a:prstGeom prst="rect">
            <a:avLst/>
          </a:prstGeom>
          <a:noFill/>
        </p:spPr>
        <p:txBody>
          <a:bodyPr wrap="square" lIns="25400" tIns="25400" rIns="25400" bIns="25400" rtlCol="0" anchor="t">
            <a:normAutofit/>
          </a:bodyPr>
          <a:lstStyle/>
          <a:p>
            <a:pPr marL="0" indent="0" algn="l">
              <a:buNone/>
            </a:pPr>
            <a:r>
              <a:rPr lang="en-US" sz="1800" b="1" kern="0" spc="252" dirty="0">
                <a:solidFill>
                  <a:srgbClr val="93A5BB"/>
                </a:solidFill>
                <a:latin typeface="Arial" panose="020B0604020202020204" pitchFamily="34" charset="0"/>
                <a:ea typeface="Arial" panose="020B0604020202020204" pitchFamily="34" charset="-122"/>
                <a:cs typeface="Arial" panose="020B0604020202020204" pitchFamily="34" charset="-120"/>
              </a:rPr>
              <a:t>STATUS</a:t>
            </a:r>
            <a:endParaRPr lang="en-US" sz="1800" dirty="0"/>
          </a:p>
        </p:txBody>
      </p:sp>
      <p:sp>
        <p:nvSpPr>
          <p:cNvPr id="10" name="Text 8"/>
          <p:cNvSpPr/>
          <p:nvPr/>
        </p:nvSpPr>
        <p:spPr>
          <a:xfrm>
            <a:off x="7222644" y="3812828"/>
            <a:ext cx="2873782" cy="300038"/>
          </a:xfrm>
          <a:prstGeom prst="rect">
            <a:avLst/>
          </a:prstGeom>
          <a:noFill/>
        </p:spPr>
        <p:txBody>
          <a:bodyPr wrap="square" lIns="25400" tIns="25400" rIns="25400" bIns="25400" rtlCol="0" anchor="t">
            <a:normAutofit/>
          </a:bodyPr>
          <a:lstStyle/>
          <a:p>
            <a:pPr marL="0" indent="0" algn="r">
              <a:buNone/>
            </a:pPr>
            <a:r>
              <a:rPr lang="en-US" sz="1800" b="1" kern="0" spc="252" dirty="0">
                <a:solidFill>
                  <a:srgbClr val="93A5BB"/>
                </a:solidFill>
                <a:latin typeface="Arial" panose="020B0604020202020204" pitchFamily="34" charset="0"/>
                <a:ea typeface="Arial" panose="020B0604020202020204" pitchFamily="34" charset="-122"/>
                <a:cs typeface="Arial" panose="020B0604020202020204" pitchFamily="34" charset="-120"/>
              </a:rPr>
              <a:t>SERIES SCORED</a:t>
            </a:r>
            <a:endParaRPr lang="en-US" sz="1800" dirty="0"/>
          </a:p>
        </p:txBody>
      </p:sp>
      <p:sp>
        <p:nvSpPr>
          <p:cNvPr id="11" name="Shape 9"/>
          <p:cNvSpPr/>
          <p:nvPr/>
        </p:nvSpPr>
        <p:spPr>
          <a:xfrm>
            <a:off x="952500" y="5032028"/>
            <a:ext cx="9144000" cy="19050"/>
          </a:xfrm>
          <a:prstGeom prst="rect">
            <a:avLst/>
          </a:prstGeom>
          <a:solidFill>
            <a:srgbClr val="E2ECF7">
              <a:alpha val="22000"/>
            </a:srgbClr>
          </a:solidFill>
        </p:spPr>
      </p:sp>
      <p:sp>
        <p:nvSpPr>
          <p:cNvPr id="12" name="Text 10"/>
          <p:cNvSpPr/>
          <p:nvPr/>
        </p:nvSpPr>
        <p:spPr>
          <a:xfrm>
            <a:off x="952500" y="4493865"/>
            <a:ext cx="4310673" cy="347663"/>
          </a:xfrm>
          <a:prstGeom prst="rect">
            <a:avLst/>
          </a:prstGeom>
          <a:noFill/>
        </p:spPr>
        <p:txBody>
          <a:bodyPr wrap="square" lIns="25400" tIns="25400" rIns="25400" bIns="25400" rtlCol="0" anchor="t">
            <a:normAutofit/>
          </a:bodyPr>
          <a:lstStyle/>
          <a:p>
            <a:pPr marL="0" indent="0" algn="l">
              <a:buNone/>
            </a:pPr>
            <a:r>
              <a:rPr lang="en-US" sz="2100" b="1" dirty="0">
                <a:solidFill>
                  <a:srgbClr val="EDF2F8"/>
                </a:solidFill>
                <a:latin typeface="Arial" panose="020B0604020202020204" pitchFamily="34" charset="0"/>
                <a:ea typeface="Arial" panose="020B0604020202020204" pitchFamily="34" charset="-122"/>
                <a:cs typeface="Arial" panose="020B0604020202020204" pitchFamily="34" charset="-120"/>
              </a:rPr>
              <a:t>ARIMA (1,1,1)</a:t>
            </a:r>
            <a:endParaRPr lang="en-US" sz="2100" dirty="0"/>
          </a:p>
        </p:txBody>
      </p:sp>
      <p:sp>
        <p:nvSpPr>
          <p:cNvPr id="13" name="Text 11"/>
          <p:cNvSpPr/>
          <p:nvPr/>
        </p:nvSpPr>
        <p:spPr>
          <a:xfrm>
            <a:off x="4871293" y="4493865"/>
            <a:ext cx="2873864" cy="347663"/>
          </a:xfrm>
          <a:prstGeom prst="rect">
            <a:avLst/>
          </a:prstGeom>
          <a:noFill/>
        </p:spPr>
        <p:txBody>
          <a:bodyPr wrap="square" lIns="25400" tIns="25400" rIns="25400" bIns="25400" rtlCol="0" anchor="t">
            <a:normAutofit/>
          </a:bodyPr>
          <a:lstStyle/>
          <a:p>
            <a:pPr marL="0" indent="0" algn="l">
              <a:buNone/>
            </a:pPr>
            <a:r>
              <a:rPr lang="en-US" sz="2100" b="1" dirty="0">
                <a:solidFill>
                  <a:srgbClr val="57D2E6"/>
                </a:solidFill>
                <a:latin typeface="Arial" panose="020B0604020202020204" pitchFamily="34" charset="0"/>
                <a:ea typeface="Arial" panose="020B0604020202020204" pitchFamily="34" charset="-122"/>
                <a:cs typeface="Arial" panose="020B0604020202020204" pitchFamily="34" charset="-120"/>
              </a:rPr>
              <a:t>Scored, exporting</a:t>
            </a:r>
            <a:endParaRPr lang="en-US" sz="2100" dirty="0"/>
          </a:p>
        </p:txBody>
      </p:sp>
      <p:sp>
        <p:nvSpPr>
          <p:cNvPr id="14" name="Text 12"/>
          <p:cNvSpPr/>
          <p:nvPr/>
        </p:nvSpPr>
        <p:spPr>
          <a:xfrm>
            <a:off x="7222644" y="4508153"/>
            <a:ext cx="2873782" cy="328613"/>
          </a:xfrm>
          <a:prstGeom prst="rect">
            <a:avLst/>
          </a:prstGeom>
          <a:noFill/>
        </p:spPr>
        <p:txBody>
          <a:bodyPr wrap="square" lIns="25400" tIns="25400" rIns="25400" bIns="25400" rtlCol="0" anchor="t">
            <a:normAutofit/>
          </a:bodyPr>
          <a:lstStyle/>
          <a:p>
            <a:pPr marL="0" indent="0" algn="r">
              <a:buNone/>
            </a:pPr>
            <a:r>
              <a:rPr lang="en-US" sz="2100" dirty="0">
                <a:solidFill>
                  <a:srgbClr val="EDF2F8"/>
                </a:solidFill>
                <a:latin typeface="Arial" panose="020B0604020202020204" pitchFamily="34" charset="0"/>
                <a:ea typeface="Arial" panose="020B0604020202020204" pitchFamily="34" charset="-122"/>
                <a:cs typeface="Arial" panose="020B0604020202020204" pitchFamily="34" charset="-120"/>
              </a:rPr>
              <a:t>42</a:t>
            </a:r>
            <a:endParaRPr lang="en-US" sz="2100" dirty="0"/>
          </a:p>
        </p:txBody>
      </p:sp>
      <p:sp>
        <p:nvSpPr>
          <p:cNvPr id="15" name="Shape 13"/>
          <p:cNvSpPr/>
          <p:nvPr/>
        </p:nvSpPr>
        <p:spPr>
          <a:xfrm>
            <a:off x="952500" y="5817840"/>
            <a:ext cx="9144000" cy="19050"/>
          </a:xfrm>
          <a:prstGeom prst="rect">
            <a:avLst/>
          </a:prstGeom>
          <a:solidFill>
            <a:srgbClr val="E2ECF7">
              <a:alpha val="22000"/>
            </a:srgbClr>
          </a:solidFill>
        </p:spPr>
      </p:sp>
      <p:sp>
        <p:nvSpPr>
          <p:cNvPr id="16" name="Text 14"/>
          <p:cNvSpPr/>
          <p:nvPr/>
        </p:nvSpPr>
        <p:spPr>
          <a:xfrm>
            <a:off x="952500" y="5279678"/>
            <a:ext cx="4310673" cy="347663"/>
          </a:xfrm>
          <a:prstGeom prst="rect">
            <a:avLst/>
          </a:prstGeom>
          <a:noFill/>
        </p:spPr>
        <p:txBody>
          <a:bodyPr wrap="square" lIns="25400" tIns="25400" rIns="25400" bIns="25400" rtlCol="0" anchor="t">
            <a:normAutofit/>
          </a:bodyPr>
          <a:lstStyle/>
          <a:p>
            <a:pPr marL="0" indent="0" algn="l">
              <a:buNone/>
            </a:pPr>
            <a:r>
              <a:rPr lang="en-US" sz="2100" b="1" dirty="0">
                <a:solidFill>
                  <a:srgbClr val="EDF2F8"/>
                </a:solidFill>
                <a:latin typeface="Arial" panose="020B0604020202020204" pitchFamily="34" charset="0"/>
                <a:ea typeface="Arial" panose="020B0604020202020204" pitchFamily="34" charset="-122"/>
                <a:cs typeface="Arial" panose="020B0604020202020204" pitchFamily="34" charset="-120"/>
              </a:rPr>
              <a:t>SARIMA (1,1,1,12)</a:t>
            </a:r>
            <a:endParaRPr lang="en-US" sz="2100" dirty="0"/>
          </a:p>
        </p:txBody>
      </p:sp>
      <p:sp>
        <p:nvSpPr>
          <p:cNvPr id="17" name="Text 15"/>
          <p:cNvSpPr/>
          <p:nvPr/>
        </p:nvSpPr>
        <p:spPr>
          <a:xfrm>
            <a:off x="4871293" y="5279678"/>
            <a:ext cx="2873864" cy="347663"/>
          </a:xfrm>
          <a:prstGeom prst="rect">
            <a:avLst/>
          </a:prstGeom>
          <a:noFill/>
        </p:spPr>
        <p:txBody>
          <a:bodyPr wrap="square" lIns="25400" tIns="25400" rIns="25400" bIns="25400" rtlCol="0" anchor="t">
            <a:normAutofit/>
          </a:bodyPr>
          <a:lstStyle/>
          <a:p>
            <a:pPr marL="0" indent="0" algn="l">
              <a:buNone/>
            </a:pPr>
            <a:r>
              <a:rPr lang="en-US" sz="2100" b="1" dirty="0">
                <a:solidFill>
                  <a:srgbClr val="93A5BB"/>
                </a:solidFill>
                <a:latin typeface="Arial" panose="020B0604020202020204" pitchFamily="34" charset="0"/>
                <a:ea typeface="Arial" panose="020B0604020202020204" pitchFamily="34" charset="-122"/>
                <a:cs typeface="Arial" panose="020B0604020202020204" pitchFamily="34" charset="-120"/>
              </a:rPr>
              <a:t>In validation</a:t>
            </a:r>
            <a:endParaRPr lang="en-US" sz="2100" dirty="0"/>
          </a:p>
        </p:txBody>
      </p:sp>
      <p:sp>
        <p:nvSpPr>
          <p:cNvPr id="18" name="Text 16"/>
          <p:cNvSpPr/>
          <p:nvPr/>
        </p:nvSpPr>
        <p:spPr>
          <a:xfrm>
            <a:off x="7222644" y="5293965"/>
            <a:ext cx="2873782" cy="328613"/>
          </a:xfrm>
          <a:prstGeom prst="rect">
            <a:avLst/>
          </a:prstGeom>
          <a:noFill/>
        </p:spPr>
        <p:txBody>
          <a:bodyPr wrap="square" lIns="25400" tIns="25400" rIns="25400" bIns="25400" rtlCol="0" anchor="t">
            <a:normAutofit/>
          </a:bodyPr>
          <a:lstStyle/>
          <a:p>
            <a:pPr marL="0" indent="0" algn="r">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a:t>
            </a:r>
            <a:endParaRPr lang="en-US" sz="2100" dirty="0"/>
          </a:p>
        </p:txBody>
      </p:sp>
      <p:sp>
        <p:nvSpPr>
          <p:cNvPr id="19" name="Shape 17"/>
          <p:cNvSpPr/>
          <p:nvPr/>
        </p:nvSpPr>
        <p:spPr>
          <a:xfrm>
            <a:off x="952500" y="6603653"/>
            <a:ext cx="9144000" cy="19050"/>
          </a:xfrm>
          <a:prstGeom prst="rect">
            <a:avLst/>
          </a:prstGeom>
          <a:solidFill>
            <a:srgbClr val="E2ECF7">
              <a:alpha val="22000"/>
            </a:srgbClr>
          </a:solidFill>
        </p:spPr>
      </p:sp>
      <p:sp>
        <p:nvSpPr>
          <p:cNvPr id="20" name="Text 18"/>
          <p:cNvSpPr/>
          <p:nvPr/>
        </p:nvSpPr>
        <p:spPr>
          <a:xfrm>
            <a:off x="952500" y="6065490"/>
            <a:ext cx="4310673" cy="347663"/>
          </a:xfrm>
          <a:prstGeom prst="rect">
            <a:avLst/>
          </a:prstGeom>
          <a:noFill/>
        </p:spPr>
        <p:txBody>
          <a:bodyPr wrap="square" lIns="25400" tIns="25400" rIns="25400" bIns="25400" rtlCol="0" anchor="t">
            <a:normAutofit/>
          </a:bodyPr>
          <a:lstStyle/>
          <a:p>
            <a:pPr marL="0" indent="0" algn="l">
              <a:buNone/>
            </a:pPr>
            <a:r>
              <a:rPr lang="en-US" sz="2100" b="1" dirty="0">
                <a:solidFill>
                  <a:srgbClr val="EDF2F8"/>
                </a:solidFill>
                <a:latin typeface="Arial" panose="020B0604020202020204" pitchFamily="34" charset="0"/>
                <a:ea typeface="Arial" panose="020B0604020202020204" pitchFamily="34" charset="-122"/>
                <a:cs typeface="Arial" panose="020B0604020202020204" pitchFamily="34" charset="-120"/>
              </a:rPr>
              <a:t>Exponential Smoothing</a:t>
            </a:r>
            <a:endParaRPr lang="en-US" sz="2100" dirty="0"/>
          </a:p>
        </p:txBody>
      </p:sp>
      <p:sp>
        <p:nvSpPr>
          <p:cNvPr id="21" name="Text 19"/>
          <p:cNvSpPr/>
          <p:nvPr/>
        </p:nvSpPr>
        <p:spPr>
          <a:xfrm>
            <a:off x="4871293" y="6065490"/>
            <a:ext cx="2873864" cy="347663"/>
          </a:xfrm>
          <a:prstGeom prst="rect">
            <a:avLst/>
          </a:prstGeom>
          <a:noFill/>
        </p:spPr>
        <p:txBody>
          <a:bodyPr wrap="square" lIns="25400" tIns="25400" rIns="25400" bIns="25400" rtlCol="0" anchor="t">
            <a:normAutofit/>
          </a:bodyPr>
          <a:lstStyle/>
          <a:p>
            <a:pPr marL="0" indent="0" algn="l">
              <a:buNone/>
            </a:pPr>
            <a:r>
              <a:rPr lang="en-US" sz="2100" b="1" dirty="0">
                <a:solidFill>
                  <a:srgbClr val="93A5BB"/>
                </a:solidFill>
                <a:latin typeface="Arial" panose="020B0604020202020204" pitchFamily="34" charset="0"/>
                <a:ea typeface="Arial" panose="020B0604020202020204" pitchFamily="34" charset="-122"/>
                <a:cs typeface="Arial" panose="020B0604020202020204" pitchFamily="34" charset="-120"/>
              </a:rPr>
              <a:t>In validation</a:t>
            </a:r>
            <a:endParaRPr lang="en-US" sz="2100" dirty="0"/>
          </a:p>
        </p:txBody>
      </p:sp>
      <p:sp>
        <p:nvSpPr>
          <p:cNvPr id="22" name="Text 20"/>
          <p:cNvSpPr/>
          <p:nvPr/>
        </p:nvSpPr>
        <p:spPr>
          <a:xfrm>
            <a:off x="7222644" y="6079778"/>
            <a:ext cx="2873782" cy="328613"/>
          </a:xfrm>
          <a:prstGeom prst="rect">
            <a:avLst/>
          </a:prstGeom>
          <a:noFill/>
        </p:spPr>
        <p:txBody>
          <a:bodyPr wrap="square" lIns="25400" tIns="25400" rIns="25400" bIns="25400" rtlCol="0" anchor="t">
            <a:normAutofit/>
          </a:bodyPr>
          <a:lstStyle/>
          <a:p>
            <a:pPr marL="0" indent="0" algn="r">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a:t>
            </a:r>
            <a:endParaRPr lang="en-US" sz="2100" dirty="0"/>
          </a:p>
        </p:txBody>
      </p:sp>
      <p:sp>
        <p:nvSpPr>
          <p:cNvPr id="23" name="Shape 21"/>
          <p:cNvSpPr/>
          <p:nvPr/>
        </p:nvSpPr>
        <p:spPr>
          <a:xfrm>
            <a:off x="952500" y="7389465"/>
            <a:ext cx="9144000" cy="19050"/>
          </a:xfrm>
          <a:prstGeom prst="rect">
            <a:avLst/>
          </a:prstGeom>
          <a:solidFill>
            <a:srgbClr val="E2ECF7">
              <a:alpha val="22000"/>
            </a:srgbClr>
          </a:solidFill>
        </p:spPr>
      </p:sp>
      <p:sp>
        <p:nvSpPr>
          <p:cNvPr id="24" name="Text 22"/>
          <p:cNvSpPr/>
          <p:nvPr/>
        </p:nvSpPr>
        <p:spPr>
          <a:xfrm>
            <a:off x="952500" y="6851303"/>
            <a:ext cx="4310673" cy="347663"/>
          </a:xfrm>
          <a:prstGeom prst="rect">
            <a:avLst/>
          </a:prstGeom>
          <a:noFill/>
        </p:spPr>
        <p:txBody>
          <a:bodyPr wrap="square" lIns="25400" tIns="25400" rIns="25400" bIns="25400" rtlCol="0" anchor="t">
            <a:normAutofit/>
          </a:bodyPr>
          <a:lstStyle/>
          <a:p>
            <a:pPr marL="0" indent="0" algn="l">
              <a:buNone/>
            </a:pPr>
            <a:r>
              <a:rPr lang="en-US" sz="2100" b="1" dirty="0">
                <a:solidFill>
                  <a:srgbClr val="EDF2F8"/>
                </a:solidFill>
                <a:latin typeface="Arial" panose="020B0604020202020204" pitchFamily="34" charset="0"/>
                <a:ea typeface="Arial" panose="020B0604020202020204" pitchFamily="34" charset="-122"/>
                <a:cs typeface="Arial" panose="020B0604020202020204" pitchFamily="34" charset="-120"/>
              </a:rPr>
              <a:t>Random Forest</a:t>
            </a:r>
            <a:endParaRPr lang="en-US" sz="2100" dirty="0"/>
          </a:p>
        </p:txBody>
      </p:sp>
      <p:sp>
        <p:nvSpPr>
          <p:cNvPr id="25" name="Text 23"/>
          <p:cNvSpPr/>
          <p:nvPr/>
        </p:nvSpPr>
        <p:spPr>
          <a:xfrm>
            <a:off x="4871293" y="6851303"/>
            <a:ext cx="2873864" cy="347663"/>
          </a:xfrm>
          <a:prstGeom prst="rect">
            <a:avLst/>
          </a:prstGeom>
          <a:noFill/>
        </p:spPr>
        <p:txBody>
          <a:bodyPr wrap="square" lIns="25400" tIns="25400" rIns="25400" bIns="25400" rtlCol="0" anchor="t">
            <a:normAutofit/>
          </a:bodyPr>
          <a:lstStyle/>
          <a:p>
            <a:pPr marL="0" indent="0" algn="l">
              <a:buNone/>
            </a:pPr>
            <a:r>
              <a:rPr lang="en-US" sz="2100" b="1" dirty="0">
                <a:solidFill>
                  <a:srgbClr val="93A5BB"/>
                </a:solidFill>
                <a:latin typeface="Arial" panose="020B0604020202020204" pitchFamily="34" charset="0"/>
                <a:ea typeface="Arial" panose="020B0604020202020204" pitchFamily="34" charset="-122"/>
                <a:cs typeface="Arial" panose="020B0604020202020204" pitchFamily="34" charset="-120"/>
              </a:rPr>
              <a:t>Built, unscored</a:t>
            </a:r>
            <a:endParaRPr lang="en-US" sz="2100" dirty="0"/>
          </a:p>
        </p:txBody>
      </p:sp>
      <p:sp>
        <p:nvSpPr>
          <p:cNvPr id="26" name="Text 24"/>
          <p:cNvSpPr/>
          <p:nvPr/>
        </p:nvSpPr>
        <p:spPr>
          <a:xfrm>
            <a:off x="7222644" y="6865590"/>
            <a:ext cx="2873782" cy="328613"/>
          </a:xfrm>
          <a:prstGeom prst="rect">
            <a:avLst/>
          </a:prstGeom>
          <a:noFill/>
        </p:spPr>
        <p:txBody>
          <a:bodyPr wrap="square" lIns="25400" tIns="25400" rIns="25400" bIns="25400" rtlCol="0" anchor="t">
            <a:normAutofit/>
          </a:bodyPr>
          <a:lstStyle/>
          <a:p>
            <a:pPr marL="0" indent="0" algn="r">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a:t>
            </a:r>
            <a:endParaRPr lang="en-US" sz="2100" dirty="0"/>
          </a:p>
        </p:txBody>
      </p:sp>
      <p:sp>
        <p:nvSpPr>
          <p:cNvPr id="27" name="Shape 25"/>
          <p:cNvSpPr/>
          <p:nvPr/>
        </p:nvSpPr>
        <p:spPr>
          <a:xfrm>
            <a:off x="952500" y="8175278"/>
            <a:ext cx="9144000" cy="19050"/>
          </a:xfrm>
          <a:prstGeom prst="rect">
            <a:avLst/>
          </a:prstGeom>
          <a:solidFill>
            <a:srgbClr val="E2ECF7">
              <a:alpha val="22000"/>
            </a:srgbClr>
          </a:solidFill>
        </p:spPr>
      </p:sp>
      <p:sp>
        <p:nvSpPr>
          <p:cNvPr id="28" name="Text 26"/>
          <p:cNvSpPr/>
          <p:nvPr/>
        </p:nvSpPr>
        <p:spPr>
          <a:xfrm>
            <a:off x="952500" y="7637115"/>
            <a:ext cx="4310673" cy="347663"/>
          </a:xfrm>
          <a:prstGeom prst="rect">
            <a:avLst/>
          </a:prstGeom>
          <a:noFill/>
        </p:spPr>
        <p:txBody>
          <a:bodyPr wrap="square" lIns="25400" tIns="25400" rIns="25400" bIns="25400" rtlCol="0" anchor="t">
            <a:normAutofit/>
          </a:bodyPr>
          <a:lstStyle/>
          <a:p>
            <a:pPr marL="0" indent="0" algn="l">
              <a:buNone/>
            </a:pPr>
            <a:r>
              <a:rPr lang="en-US" sz="2100" b="1" dirty="0">
                <a:solidFill>
                  <a:srgbClr val="EDF2F8"/>
                </a:solidFill>
                <a:latin typeface="Arial" panose="020B0604020202020204" pitchFamily="34" charset="0"/>
                <a:ea typeface="Arial" panose="020B0604020202020204" pitchFamily="34" charset="-122"/>
                <a:cs typeface="Arial" panose="020B0604020202020204" pitchFamily="34" charset="-120"/>
              </a:rPr>
              <a:t>Gradient Boosting</a:t>
            </a:r>
            <a:endParaRPr lang="en-US" sz="2100" dirty="0"/>
          </a:p>
        </p:txBody>
      </p:sp>
      <p:sp>
        <p:nvSpPr>
          <p:cNvPr id="29" name="Text 27"/>
          <p:cNvSpPr/>
          <p:nvPr/>
        </p:nvSpPr>
        <p:spPr>
          <a:xfrm>
            <a:off x="4871293" y="7637115"/>
            <a:ext cx="2873864" cy="347663"/>
          </a:xfrm>
          <a:prstGeom prst="rect">
            <a:avLst/>
          </a:prstGeom>
          <a:noFill/>
        </p:spPr>
        <p:txBody>
          <a:bodyPr wrap="square" lIns="25400" tIns="25400" rIns="25400" bIns="25400" rtlCol="0" anchor="t">
            <a:normAutofit/>
          </a:bodyPr>
          <a:lstStyle/>
          <a:p>
            <a:pPr marL="0" indent="0" algn="l">
              <a:buNone/>
            </a:pPr>
            <a:r>
              <a:rPr lang="en-US" sz="2100" b="1" dirty="0">
                <a:solidFill>
                  <a:srgbClr val="93A5BB"/>
                </a:solidFill>
                <a:latin typeface="Arial" panose="020B0604020202020204" pitchFamily="34" charset="0"/>
                <a:ea typeface="Arial" panose="020B0604020202020204" pitchFamily="34" charset="-122"/>
                <a:cs typeface="Arial" panose="020B0604020202020204" pitchFamily="34" charset="-120"/>
              </a:rPr>
              <a:t>Built, unscored</a:t>
            </a:r>
            <a:endParaRPr lang="en-US" sz="2100" dirty="0"/>
          </a:p>
        </p:txBody>
      </p:sp>
      <p:sp>
        <p:nvSpPr>
          <p:cNvPr id="30" name="Text 28"/>
          <p:cNvSpPr/>
          <p:nvPr/>
        </p:nvSpPr>
        <p:spPr>
          <a:xfrm>
            <a:off x="7222644" y="7651403"/>
            <a:ext cx="2873782" cy="328613"/>
          </a:xfrm>
          <a:prstGeom prst="rect">
            <a:avLst/>
          </a:prstGeom>
          <a:noFill/>
        </p:spPr>
        <p:txBody>
          <a:bodyPr wrap="square" lIns="25400" tIns="25400" rIns="25400" bIns="25400" rtlCol="0" anchor="t">
            <a:normAutofit/>
          </a:bodyPr>
          <a:lstStyle/>
          <a:p>
            <a:pPr marL="0" indent="0" algn="r">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a:t>
            </a:r>
            <a:endParaRPr lang="en-US" sz="2100" dirty="0"/>
          </a:p>
        </p:txBody>
      </p:sp>
      <p:sp>
        <p:nvSpPr>
          <p:cNvPr id="31" name="Text 29"/>
          <p:cNvSpPr/>
          <p:nvPr/>
        </p:nvSpPr>
        <p:spPr>
          <a:xfrm>
            <a:off x="11449050" y="3622328"/>
            <a:ext cx="6475095" cy="300038"/>
          </a:xfrm>
          <a:prstGeom prst="rect">
            <a:avLst/>
          </a:prstGeom>
          <a:noFill/>
        </p:spPr>
        <p:txBody>
          <a:bodyPr wrap="square" lIns="25400" tIns="25400" rIns="25400" bIns="25400" rtlCol="0" anchor="t">
            <a:normAutofit/>
          </a:bodyPr>
          <a:lstStyle/>
          <a:p>
            <a:pPr marL="0" indent="0" algn="l">
              <a:buNone/>
            </a:pPr>
            <a:r>
              <a:rPr lang="en-US" sz="1800" b="1" kern="0" spc="288" dirty="0">
                <a:solidFill>
                  <a:srgbClr val="57D2E6"/>
                </a:solidFill>
                <a:latin typeface="Arial" panose="020B0604020202020204" pitchFamily="34" charset="0"/>
                <a:ea typeface="Arial" panose="020B0604020202020204" pitchFamily="34" charset="-122"/>
                <a:cs typeface="Arial" panose="020B0604020202020204" pitchFamily="34" charset="-120"/>
              </a:rPr>
              <a:t>ACCEPTANCE GATES</a:t>
            </a:r>
            <a:endParaRPr lang="en-US" sz="1800" dirty="0"/>
          </a:p>
        </p:txBody>
      </p:sp>
      <p:sp>
        <p:nvSpPr>
          <p:cNvPr id="32" name="Shape 30"/>
          <p:cNvSpPr/>
          <p:nvPr/>
        </p:nvSpPr>
        <p:spPr>
          <a:xfrm>
            <a:off x="11449050" y="4751040"/>
            <a:ext cx="5886450" cy="19050"/>
          </a:xfrm>
          <a:prstGeom prst="rect">
            <a:avLst/>
          </a:prstGeom>
          <a:solidFill>
            <a:srgbClr val="E2ECF7">
              <a:alpha val="22000"/>
            </a:srgbClr>
          </a:solidFill>
        </p:spPr>
      </p:sp>
      <p:sp>
        <p:nvSpPr>
          <p:cNvPr id="33" name="Text 31"/>
          <p:cNvSpPr/>
          <p:nvPr/>
        </p:nvSpPr>
        <p:spPr>
          <a:xfrm>
            <a:off x="11449050" y="4198590"/>
            <a:ext cx="841846" cy="328613"/>
          </a:xfrm>
          <a:prstGeom prst="rect">
            <a:avLst/>
          </a:prstGeom>
          <a:noFill/>
        </p:spPr>
        <p:txBody>
          <a:bodyPr wrap="square" lIns="25400" tIns="25400" rIns="25400" bIns="25400" rtlCol="0" anchor="t">
            <a:normAutofit/>
          </a:bodyPr>
          <a:lstStyle/>
          <a:p>
            <a:pPr marL="0" indent="0" algn="l">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MAPE</a:t>
            </a:r>
            <a:endParaRPr lang="en-US" sz="2100" dirty="0"/>
          </a:p>
        </p:txBody>
      </p:sp>
      <p:sp>
        <p:nvSpPr>
          <p:cNvPr id="34" name="Text 32"/>
          <p:cNvSpPr/>
          <p:nvPr/>
        </p:nvSpPr>
        <p:spPr>
          <a:xfrm>
            <a:off x="15751150" y="4131915"/>
            <a:ext cx="1742785" cy="409575"/>
          </a:xfrm>
          <a:prstGeom prst="rect">
            <a:avLst/>
          </a:prstGeom>
          <a:noFill/>
        </p:spPr>
        <p:txBody>
          <a:bodyPr wrap="square" lIns="25400" tIns="25400" rIns="25400" bIns="25400" rtlCol="0" anchor="t">
            <a:normAutofit/>
          </a:bodyPr>
          <a:lstStyle/>
          <a:p>
            <a:pPr marL="0" indent="0" algn="l">
              <a:buNone/>
            </a:pPr>
            <a:r>
              <a:rPr lang="en-US" sz="2550" b="1" dirty="0">
                <a:solidFill>
                  <a:srgbClr val="EDF2F8"/>
                </a:solidFill>
                <a:latin typeface="Arial" panose="020B0604020202020204" pitchFamily="34" charset="0"/>
                <a:ea typeface="Arial" panose="020B0604020202020204" pitchFamily="34" charset="-122"/>
                <a:cs typeface="Arial" panose="020B0604020202020204" pitchFamily="34" charset="-120"/>
              </a:rPr>
              <a:t>below 20%</a:t>
            </a:r>
            <a:endParaRPr lang="en-US" sz="2550" dirty="0"/>
          </a:p>
        </p:txBody>
      </p:sp>
      <p:sp>
        <p:nvSpPr>
          <p:cNvPr id="35" name="Shape 33"/>
          <p:cNvSpPr/>
          <p:nvPr/>
        </p:nvSpPr>
        <p:spPr>
          <a:xfrm>
            <a:off x="11449050" y="5636865"/>
            <a:ext cx="5886450" cy="19050"/>
          </a:xfrm>
          <a:prstGeom prst="rect">
            <a:avLst/>
          </a:prstGeom>
          <a:solidFill>
            <a:srgbClr val="E2ECF7">
              <a:alpha val="22000"/>
            </a:srgbClr>
          </a:solidFill>
        </p:spPr>
      </p:sp>
      <p:sp>
        <p:nvSpPr>
          <p:cNvPr id="36" name="Text 34"/>
          <p:cNvSpPr/>
          <p:nvPr/>
        </p:nvSpPr>
        <p:spPr>
          <a:xfrm>
            <a:off x="11449050" y="5084415"/>
            <a:ext cx="3130399" cy="328613"/>
          </a:xfrm>
          <a:prstGeom prst="rect">
            <a:avLst/>
          </a:prstGeom>
          <a:noFill/>
        </p:spPr>
        <p:txBody>
          <a:bodyPr wrap="square" lIns="25400" tIns="25400" rIns="25400" bIns="25400" rtlCol="0" anchor="t">
            <a:normAutofit/>
          </a:bodyPr>
          <a:lstStyle/>
          <a:p>
            <a:pPr marL="0" indent="0" algn="l">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Accuracy (100 − MAPE)</a:t>
            </a:r>
            <a:endParaRPr lang="en-US" sz="2100" dirty="0"/>
          </a:p>
        </p:txBody>
      </p:sp>
      <p:sp>
        <p:nvSpPr>
          <p:cNvPr id="37" name="Text 35"/>
          <p:cNvSpPr/>
          <p:nvPr/>
        </p:nvSpPr>
        <p:spPr>
          <a:xfrm>
            <a:off x="15714985" y="5017740"/>
            <a:ext cx="1782567" cy="409575"/>
          </a:xfrm>
          <a:prstGeom prst="rect">
            <a:avLst/>
          </a:prstGeom>
          <a:noFill/>
        </p:spPr>
        <p:txBody>
          <a:bodyPr wrap="square" lIns="25400" tIns="25400" rIns="25400" bIns="25400" rtlCol="0" anchor="t">
            <a:normAutofit/>
          </a:bodyPr>
          <a:lstStyle/>
          <a:p>
            <a:pPr marL="0" indent="0" algn="l">
              <a:buNone/>
            </a:pPr>
            <a:r>
              <a:rPr lang="en-US" sz="2550" b="1" dirty="0">
                <a:solidFill>
                  <a:srgbClr val="57D2E6"/>
                </a:solidFill>
                <a:latin typeface="Arial" panose="020B0604020202020204" pitchFamily="34" charset="0"/>
                <a:ea typeface="Arial" panose="020B0604020202020204" pitchFamily="34" charset="-122"/>
                <a:cs typeface="Arial" panose="020B0604020202020204" pitchFamily="34" charset="-120"/>
              </a:rPr>
              <a:t>above 80%</a:t>
            </a:r>
            <a:endParaRPr lang="en-US" sz="2550" dirty="0"/>
          </a:p>
        </p:txBody>
      </p:sp>
      <p:sp>
        <p:nvSpPr>
          <p:cNvPr id="38" name="Shape 36"/>
          <p:cNvSpPr/>
          <p:nvPr/>
        </p:nvSpPr>
        <p:spPr>
          <a:xfrm>
            <a:off x="11449050" y="6522690"/>
            <a:ext cx="5886450" cy="19050"/>
          </a:xfrm>
          <a:prstGeom prst="rect">
            <a:avLst/>
          </a:prstGeom>
          <a:solidFill>
            <a:srgbClr val="E2ECF7">
              <a:alpha val="22000"/>
            </a:srgbClr>
          </a:solidFill>
        </p:spPr>
      </p:sp>
      <p:sp>
        <p:nvSpPr>
          <p:cNvPr id="39" name="Text 37"/>
          <p:cNvSpPr/>
          <p:nvPr/>
        </p:nvSpPr>
        <p:spPr>
          <a:xfrm>
            <a:off x="11449050" y="5970240"/>
            <a:ext cx="2118665" cy="328613"/>
          </a:xfrm>
          <a:prstGeom prst="rect">
            <a:avLst/>
          </a:prstGeom>
          <a:noFill/>
        </p:spPr>
        <p:txBody>
          <a:bodyPr wrap="square" lIns="25400" tIns="25400" rIns="25400" bIns="25400" rtlCol="0" anchor="t">
            <a:normAutofit/>
          </a:bodyPr>
          <a:lstStyle/>
          <a:p>
            <a:pPr marL="0" indent="0" algn="l">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MAE and RMSE</a:t>
            </a:r>
            <a:endParaRPr lang="en-US" sz="2100" dirty="0"/>
          </a:p>
        </p:txBody>
      </p:sp>
      <p:sp>
        <p:nvSpPr>
          <p:cNvPr id="40" name="Text 38"/>
          <p:cNvSpPr/>
          <p:nvPr/>
        </p:nvSpPr>
        <p:spPr>
          <a:xfrm>
            <a:off x="15211499" y="5903565"/>
            <a:ext cx="2336401" cy="409575"/>
          </a:xfrm>
          <a:prstGeom prst="rect">
            <a:avLst/>
          </a:prstGeom>
          <a:noFill/>
        </p:spPr>
        <p:txBody>
          <a:bodyPr wrap="square" lIns="25400" tIns="25400" rIns="25400" bIns="25400" rtlCol="0" anchor="t">
            <a:normAutofit/>
          </a:bodyPr>
          <a:lstStyle/>
          <a:p>
            <a:pPr marL="0" indent="0" algn="l">
              <a:buNone/>
            </a:pPr>
            <a:r>
              <a:rPr lang="en-US" sz="2550" b="1" dirty="0">
                <a:solidFill>
                  <a:srgbClr val="EDF2F8"/>
                </a:solidFill>
                <a:latin typeface="Arial" panose="020B0604020202020204" pitchFamily="34" charset="0"/>
                <a:ea typeface="Arial" panose="020B0604020202020204" pitchFamily="34" charset="-122"/>
                <a:cs typeface="Arial" panose="020B0604020202020204" pitchFamily="34" charset="-120"/>
              </a:rPr>
              <a:t>Lower is better</a:t>
            </a:r>
            <a:endParaRPr lang="en-US" sz="2550" dirty="0"/>
          </a:p>
        </p:txBody>
      </p:sp>
      <p:sp>
        <p:nvSpPr>
          <p:cNvPr id="41" name="Text 39"/>
          <p:cNvSpPr/>
          <p:nvPr/>
        </p:nvSpPr>
        <p:spPr>
          <a:xfrm>
            <a:off x="11449050" y="6827490"/>
            <a:ext cx="6063044" cy="1238250"/>
          </a:xfrm>
          <a:prstGeom prst="rect">
            <a:avLst/>
          </a:prstGeom>
          <a:noFill/>
        </p:spPr>
        <p:txBody>
          <a:bodyPr wrap="square" lIns="25400" tIns="25400" rIns="25400" bIns="25400" rtlCol="0" anchor="t">
            <a:normAutofit/>
          </a:bodyPr>
          <a:lstStyle/>
          <a:p>
            <a:pPr marL="0" indent="0" algn="l">
              <a:lnSpc>
                <a:spcPct val="129000"/>
              </a:lnSpc>
              <a:buNone/>
            </a:pPr>
            <a:r>
              <a:rPr lang="en-US" sz="2100" dirty="0">
                <a:solidFill>
                  <a:srgbClr val="93A5BB"/>
                </a:solidFill>
                <a:latin typeface="Arial" panose="020B0604020202020204" pitchFamily="34" charset="0"/>
                <a:ea typeface="Arial" panose="020B0604020202020204" pitchFamily="34" charset="-122"/>
                <a:cs typeface="Arial" panose="020B0604020202020204" pitchFamily="34" charset="-120"/>
              </a:rPr>
              <a:t>Every series is scored on all four metrics against a held-out 20% window before it is promoted into the planning view.</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4840</Words>
  <Application>WPS Presentation</Application>
  <PresentationFormat>On-screen Show (16:9)</PresentationFormat>
  <Paragraphs>410</Paragraphs>
  <Slides>11</Slides>
  <Notes>11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Arial</vt:lpstr>
      <vt:lpstr>SimSun</vt:lpstr>
      <vt:lpstr>Wingdings</vt:lpstr>
      <vt:lpstr>Arial</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TC100</cp:lastModifiedBy>
  <cp:revision>2</cp:revision>
  <dcterms:created xsi:type="dcterms:W3CDTF">2026-09-11T15:58:00Z</dcterms:created>
  <dcterms:modified xsi:type="dcterms:W3CDTF">2026-09-11T16:42:37Z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7B9CFEFDB7E94DF2BEAF0F175F01DCEB_12</vt:lpwstr>
  </property>
  <property fmtid="{D5CDD505-2E9C-101B-9397-08002B2CF9AE}" pid="3" name="KSOProductBuildVer">
    <vt:lpwstr>1033-12.1.0.28032</vt:lpwstr>
  </property>
</Properties>
</file>