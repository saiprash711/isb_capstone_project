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B3BC1-3435-4922-B1E6-8C2E3EDC7514}" v="2" dt="2026-09-12T04:45:29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prasanth Sarathy" userId="58c28257-1b20-4287-a4fd-fb9da70deabe" providerId="ADAL" clId="{2C07885E-BAA0-4DF0-9ACD-A012AA52114A}"/>
    <pc:docChg chg="modSld">
      <pc:chgData name="Saiprasanth Sarathy" userId="58c28257-1b20-4287-a4fd-fb9da70deabe" providerId="ADAL" clId="{2C07885E-BAA0-4DF0-9ACD-A012AA52114A}" dt="2026-09-12T04:45:29.793" v="50"/>
      <pc:docMkLst>
        <pc:docMk/>
      </pc:docMkLst>
      <pc:sldChg chg="modSp mod">
        <pc:chgData name="Saiprasanth Sarathy" userId="58c28257-1b20-4287-a4fd-fb9da70deabe" providerId="ADAL" clId="{2C07885E-BAA0-4DF0-9ACD-A012AA52114A}" dt="2026-09-12T04:45:29.793" v="50"/>
        <pc:sldMkLst>
          <pc:docMk/>
          <pc:sldMk cId="0" sldId="256"/>
        </pc:sldMkLst>
        <pc:spChg chg="mod">
          <ac:chgData name="Saiprasanth Sarathy" userId="58c28257-1b20-4287-a4fd-fb9da70deabe" providerId="ADAL" clId="{2C07885E-BAA0-4DF0-9ACD-A012AA52114A}" dt="2026-09-12T04:45:29.793" v="50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Saiprasanth Sarathy" userId="58c28257-1b20-4287-a4fd-fb9da70deabe" providerId="ADAL" clId="{2C07885E-BAA0-4DF0-9ACD-A012AA52114A}" dt="2026-09-12T04:42:36.176" v="47" actId="1076"/>
        <pc:sldMkLst>
          <pc:docMk/>
          <pc:sldMk cId="0" sldId="266"/>
        </pc:sldMkLst>
        <pc:graphicFrameChg chg="modGraphic">
          <ac:chgData name="Saiprasanth Sarathy" userId="58c28257-1b20-4287-a4fd-fb9da70deabe" providerId="ADAL" clId="{2C07885E-BAA0-4DF0-9ACD-A012AA52114A}" dt="2026-09-12T04:41:29.444" v="40" actId="20577"/>
          <ac:graphicFrameMkLst>
            <pc:docMk/>
            <pc:sldMk cId="0" sldId="266"/>
            <ac:graphicFrameMk id="4" creationId="{00000000-0000-0000-0000-000000000000}"/>
          </ac:graphicFrameMkLst>
        </pc:graphicFrameChg>
        <pc:picChg chg="mod">
          <ac:chgData name="Saiprasanth Sarathy" userId="58c28257-1b20-4287-a4fd-fb9da70deabe" providerId="ADAL" clId="{2C07885E-BAA0-4DF0-9ACD-A012AA52114A}" dt="2026-09-12T04:42:05.751" v="42" actId="1076"/>
          <ac:picMkLst>
            <pc:docMk/>
            <pc:sldMk cId="0" sldId="266"/>
            <ac:picMk id="23" creationId="{00000000-0000-0000-0000-000000000000}"/>
          </ac:picMkLst>
        </pc:picChg>
        <pc:picChg chg="mod">
          <ac:chgData name="Saiprasanth Sarathy" userId="58c28257-1b20-4287-a4fd-fb9da70deabe" providerId="ADAL" clId="{2C07885E-BAA0-4DF0-9ACD-A012AA52114A}" dt="2026-09-12T04:42:17.483" v="45" actId="1076"/>
          <ac:picMkLst>
            <pc:docMk/>
            <pc:sldMk cId="0" sldId="266"/>
            <ac:picMk id="24" creationId="{00000000-0000-0000-0000-000000000000}"/>
          </ac:picMkLst>
        </pc:picChg>
        <pc:picChg chg="mod">
          <ac:chgData name="Saiprasanth Sarathy" userId="58c28257-1b20-4287-a4fd-fb9da70deabe" providerId="ADAL" clId="{2C07885E-BAA0-4DF0-9ACD-A012AA52114A}" dt="2026-09-12T04:42:36.176" v="47" actId="1076"/>
          <ac:picMkLst>
            <pc:docMk/>
            <pc:sldMk cId="0" sldId="266"/>
            <ac:picMk id="2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93827"/>
            <a:ext cx="1171575" cy="342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475" y="4193827"/>
            <a:ext cx="714375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725" y="4193827"/>
            <a:ext cx="9239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9525" y="4193827"/>
            <a:ext cx="5810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4193827"/>
            <a:ext cx="75247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321272"/>
            <a:ext cx="11581447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F0F6FC"/>
                </a:solidFill>
                <a:latin typeface="Plus Jakarta Sans"/>
              </a:rPr>
              <a:t>ISB Capstone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050827"/>
            <a:ext cx="1102995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0" i="0" u="none" dirty="0">
                <a:solidFill>
                  <a:srgbClr val="58A6FF"/>
                </a:solidFill>
                <a:latin typeface="Plus Jakarta Sans Medium"/>
              </a:rPr>
              <a:t>Demand Prediction by Stock Keeping Unit (SKU)</a:t>
            </a:r>
            <a:endParaRPr sz="1650" b="0" i="0" u="none" dirty="0">
              <a:solidFill>
                <a:srgbClr val="58A6FF"/>
              </a:solidFill>
              <a:latin typeface="Plus Jakarta Sans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1025" y="3698527"/>
            <a:ext cx="110299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0F6FC"/>
                </a:solidFill>
                <a:latin typeface="Plus Jakarta Sans"/>
              </a:rPr>
              <a:t>Sponsor:</a:t>
            </a:r>
            <a:r>
              <a:rPr sz="1350" b="0" i="0" u="none">
                <a:solidFill>
                  <a:srgbClr val="8B949E"/>
                </a:solidFill>
                <a:latin typeface="Plus Jakarta Sans"/>
              </a:rPr>
              <a:t> Deloitte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28887"/>
            <a:ext cx="2566987" cy="1171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987" y="2528887"/>
            <a:ext cx="2566987" cy="117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890962"/>
            <a:ext cx="2566987" cy="1171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987" y="3890962"/>
            <a:ext cx="2566987" cy="1171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02 —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852737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Five hubs and 154 SKUs carry the South India room AC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238500"/>
            <a:ext cx="50577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Forecasting demand and optimizing supply chain distribution for Room Air Conditioners across South India.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67150"/>
            <a:ext cx="50577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Better forecasts at hub level translate directly into lower safety stock, fewer inter-hub transfers and fewer stockouts in peak season.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824162"/>
            <a:ext cx="207525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MAA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76587"/>
            <a:ext cx="1976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Regional Distribution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9262" y="2824162"/>
            <a:ext cx="207525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SBD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9262" y="3176587"/>
            <a:ext cx="1976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Secunderabad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186237"/>
            <a:ext cx="207525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COK &amp; BLR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538662"/>
            <a:ext cx="1976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Cochin &amp; Bangalore Hubs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9262" y="4186237"/>
            <a:ext cx="207525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154 SKUs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9262" y="4538662"/>
            <a:ext cx="1976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Active portfolio scope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90837"/>
            <a:ext cx="1619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76600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905250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14625"/>
            <a:ext cx="351785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714625"/>
            <a:ext cx="3517850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714625"/>
            <a:ext cx="3517850" cy="2162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03 — Data Profile &amp; Volume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09900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8A6FF"/>
                </a:solidFill>
                <a:latin typeface="JetBrains Mono"/>
              </a:rPr>
              <a:t>82,034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433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Transaction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957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Billing data spans 3 fiscal years from July 2022 to June 2024 with 95% baseline completeness.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009900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8A6FF"/>
                </a:solidFill>
                <a:latin typeface="JetBrains Mono"/>
              </a:rPr>
              <a:t>28.77%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5433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Structural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8957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23,603 rows missing structurally in Q1 FY24-25, capping usable training history.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250" y="3009900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8A6FF"/>
                </a:solidFill>
                <a:latin typeface="JetBrains Mono"/>
              </a:rPr>
              <a:t>0.78%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35433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Returns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8250" y="38957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1,735 negative return transactions; low enough to treat as noise rather than core demand signal.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57500"/>
            <a:ext cx="5324475" cy="1876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895725"/>
            <a:ext cx="4733925" cy="7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4362450"/>
            <a:ext cx="4733925" cy="7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04 — Demand &amp; Syntetos-Boylan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743200"/>
            <a:ext cx="53244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0F6FC"/>
                </a:solidFill>
                <a:latin typeface="Plus Jakarta Sans"/>
              </a:rPr>
              <a:t>No SKU in the portfolio has smooth demand — 70% is outright lumpy, forcing a shift away from standard exponential smoothing.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152775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Outdoor vs Indoor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48050"/>
            <a:ext cx="50577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Lumpy (70.1% / 108 SKUs):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High variability in intermittent intervals.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76700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Intermittent (18.8% / 29 SKUs):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Sporadic order arrivals.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462462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Erratic (11.0% / 17 SKUs):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Unpredictable magnitude spikes.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648075"/>
            <a:ext cx="4733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9D1D9"/>
                </a:solidFill>
                <a:latin typeface="Plus Jakarta Sans"/>
              </a:rPr>
              <a:t>Outdoor Units (ODU) </a:t>
            </a:r>
            <a:r>
              <a:rPr sz="1200" b="0" i="0" u="none">
                <a:solidFill>
                  <a:srgbClr val="F0F6FC"/>
                </a:solidFill>
                <a:latin typeface="Plus Jakarta Sans"/>
              </a:rPr>
              <a:t>80.8% (729,297 units)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4114800"/>
            <a:ext cx="4733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9D1D9"/>
                </a:solidFill>
                <a:latin typeface="Plus Jakarta Sans"/>
              </a:rPr>
              <a:t>Indoor Units (IDU) </a:t>
            </a:r>
            <a:r>
              <a:rPr sz="1200" b="0" i="0" u="none">
                <a:solidFill>
                  <a:srgbClr val="F0F6FC"/>
                </a:solidFill>
                <a:latin typeface="Plus Jakarta Sans"/>
              </a:rPr>
              <a:t>19.2% (173,094 units)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1775" y="3895725"/>
            <a:ext cx="3824882" cy="762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1775" y="4362450"/>
            <a:ext cx="908893" cy="76200"/>
          </a:xfrm>
          <a:prstGeom prst="rect">
            <a:avLst/>
          </a:prstGeom>
          <a:solidFill>
            <a:srgbClr val="238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486150"/>
            <a:ext cx="18097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114800"/>
            <a:ext cx="1619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500562"/>
            <a:ext cx="1619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05 — Distribution &amp; Order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4600575"/>
            <a:ext cx="110299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Across 82,033 scored lines, standard deviation runs at roughly twice the mean on ODU and five times on IDU. Negative minima represent return transactions isolated during auditing.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533650"/>
          <a:ext cx="1102994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Measure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Mean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Std Dev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Median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Max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Billing quantity ODU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8.89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18.05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-135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180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Billing quantity IDU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2.11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10.35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-30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170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Tonnage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1.28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0.56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1.5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2.2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976562"/>
            <a:ext cx="344432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25354" y="2976562"/>
            <a:ext cx="147057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95925" y="2976562"/>
            <a:ext cx="179948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95405" y="2976562"/>
            <a:ext cx="1296441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1847" y="2976562"/>
            <a:ext cx="174143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33285" y="2976562"/>
            <a:ext cx="127768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433762"/>
            <a:ext cx="344432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25354" y="3433762"/>
            <a:ext cx="147057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95925" y="3433762"/>
            <a:ext cx="179948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95405" y="3433762"/>
            <a:ext cx="1296441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91847" y="3433762"/>
            <a:ext cx="174143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333285" y="3433762"/>
            <a:ext cx="127768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3890962"/>
            <a:ext cx="344432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25354" y="3890962"/>
            <a:ext cx="147057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95925" y="3890962"/>
            <a:ext cx="179948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95405" y="3890962"/>
            <a:ext cx="1296441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91847" y="3890962"/>
            <a:ext cx="174143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33285" y="3890962"/>
            <a:ext cx="127768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4348162"/>
            <a:ext cx="344432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25354" y="4348162"/>
            <a:ext cx="147057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95925" y="4348162"/>
            <a:ext cx="179948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95405" y="4348162"/>
            <a:ext cx="1296441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91847" y="4348162"/>
            <a:ext cx="174143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33285" y="4348162"/>
            <a:ext cx="1277689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7956"/>
            <a:ext cx="5324475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7956"/>
            <a:ext cx="5324475" cy="2195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06 — Methodology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323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Models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99323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Feature Engineering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40906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ARIMA (1,1,1) &amp; SARIMA (1,1,1,12)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26668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Exponential Smoothing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12431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Random Forest &amp; Gradient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3440906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Calendar features (week, month, quarter, day of year)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3826668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Lag features &amp; rolling averages (2 &amp; 4 weeks)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4212431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80/20 train-validation split scored on MAE, RMSE, MAPE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479006"/>
            <a:ext cx="2000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864768"/>
            <a:ext cx="2000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250531"/>
            <a:ext cx="20002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479006"/>
            <a:ext cx="1428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864768"/>
            <a:ext cx="1428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250531"/>
            <a:ext cx="1428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14625"/>
            <a:ext cx="3517850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714625"/>
            <a:ext cx="3517850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714625"/>
            <a:ext cx="3517850" cy="2162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07 — Results &amp; Volume Forecast by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09900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8A6FF"/>
                </a:solidFill>
                <a:latin typeface="JetBrains Mono"/>
              </a:rPr>
              <a:t>12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433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Forward 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895725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Running across 42 branch-SKU active series covering 15 distinct SKUs.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009900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8A6FF"/>
                </a:solidFill>
                <a:latin typeface="JetBrains Mono"/>
              </a:rPr>
              <a:t>91,504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275" y="35433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Units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8957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Projected forward starting 26 May 2024, with SBD and MAA absorbing 63% of volume.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250" y="3009900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8A6FF"/>
                </a:solidFill>
                <a:latin typeface="JetBrains Mono"/>
              </a:rPr>
              <a:t>34.7%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250" y="35433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SBD Hub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8250" y="38957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Secunderabad represents the single largest distribution node for regional stock allocation.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886075"/>
            <a:ext cx="5324475" cy="1819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08 — Hygiene Actions &amp;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1775" y="3181350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Post-Cleaning Gains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3533775"/>
            <a:ext cx="4733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Completeness: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Lifted from 95% to 98.49%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857625"/>
            <a:ext cx="4733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Training Convergence: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~18% faster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4181475"/>
            <a:ext cx="47339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Storage Efficiency: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+5.44% optimization 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217068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Pruned 4,463 redundant duplicate transaction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02831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Imputed or isolated 94,435 null data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88593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Normalized schema across 23 attributes and ISO dates.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55168"/>
            <a:ext cx="18097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640931"/>
            <a:ext cx="180975" cy="1619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26693"/>
            <a:ext cx="1809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81325"/>
            <a:ext cx="3517850" cy="1628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00" y="2981325"/>
            <a:ext cx="3517850" cy="162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981325"/>
            <a:ext cx="3517850" cy="1628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09 — Solution Delivery &amp; Dashboard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766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Executive Cockpit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6290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Health, volume and distribution telemetry at a glance for leadership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275" y="32766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Demand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275" y="3629025"/>
            <a:ext cx="29273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Forward SKU demand by branch across 4 to 52 week planning horizons.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8250" y="3276600"/>
            <a:ext cx="30736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Data Quality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8250" y="3629025"/>
            <a:ext cx="2927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Completeness scoring, null variance analysis and automated schema diagnostics.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95625"/>
            <a:ext cx="5324475" cy="1400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1325"/>
            <a:ext cx="5324475" cy="1628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10 — Next Steps &amp; Scaling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90900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01 &amp;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43325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Run the hygiene pipeline in production so every refresh lands at 98.5% completeness. Close Q1 FY24-25 gaps at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76600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03 &amp;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629025"/>
            <a:ext cx="47339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949E"/>
                </a:solidFill>
                <a:latin typeface="Plus Jakarta Sans"/>
              </a:rPr>
              <a:t>Extend coverage from 15 SKUs to the full 154-SKU portfolio. Convert 12-week forecasts into safety-stock and allocation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11 — Project Timeline &amp; Model 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031855"/>
              </p:ext>
            </p:extLst>
          </p:nvPr>
        </p:nvGraphicFramePr>
        <p:xfrm>
          <a:off x="581025" y="2881312"/>
          <a:ext cx="532447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Plus Jakarta Sans SemiBold"/>
                        </a:rPr>
                        <a:t>Series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ARIMA (1,1,1)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C9D1D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SARIMA (1,1,1,12)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C9D1D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9D1D9"/>
                          </a:solidFill>
                          <a:latin typeface="Plus Jakarta Sans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25" b="0" i="0" u="none" dirty="0">
                        <a:solidFill>
                          <a:srgbClr val="C9D1D9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C9D1D9"/>
                          </a:solidFill>
                          <a:latin typeface="Plus Jakarta Sans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324225"/>
            <a:ext cx="20876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68637" y="3324225"/>
            <a:ext cx="21017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70387" y="3324225"/>
            <a:ext cx="11351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200" y="3217068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75% Complete: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Dashboard and ARIMA models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602831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Fully functional 7-page interactive Streamlit dashboard deployed.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988593"/>
            <a:ext cx="5057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Current sprint focuses on ML validation &amp; expanding SKU scope.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3781425"/>
            <a:ext cx="20876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68637" y="3781425"/>
            <a:ext cx="21017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70387" y="3781425"/>
            <a:ext cx="11351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238625"/>
            <a:ext cx="20876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68637" y="4238625"/>
            <a:ext cx="21017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70387" y="4238625"/>
            <a:ext cx="11351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695825"/>
            <a:ext cx="20876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68637" y="4695825"/>
            <a:ext cx="21017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70387" y="4695825"/>
            <a:ext cx="1135112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55168"/>
            <a:ext cx="1428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640931"/>
            <a:ext cx="1809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026693"/>
            <a:ext cx="14287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8462" y="3483769"/>
            <a:ext cx="609600" cy="2381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2816" y="3907630"/>
            <a:ext cx="885825" cy="2381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8637" y="4349681"/>
            <a:ext cx="108585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7956"/>
            <a:ext cx="5324475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7956"/>
            <a:ext cx="5324475" cy="2195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12 — Challenges &amp;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323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Key Challenges Faced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99323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Solutions &amp; Pivots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40906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28.77% structural gap in Q1 FY24-25.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26668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70% lumpy demand requiring specialized treatment.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12431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Large dataset (82K records) requiring 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3440906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Built statistical and ML tracks in parallel.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3826668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Applied Syntetos-Boylan classification before modeling.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4212431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Separated EDA, cleaning, and forecasting modules.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479006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864768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250531"/>
            <a:ext cx="16192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479006"/>
            <a:ext cx="1238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864768"/>
            <a:ext cx="12382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250531"/>
            <a:ext cx="12382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5125"/>
            <a:ext cx="5395912" cy="1781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905125"/>
            <a:ext cx="5395912" cy="1781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13 — Dashboard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00400"/>
            <a:ext cx="5045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Core Views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52825"/>
            <a:ext cx="48053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Executive Cockpit: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Health &amp; volume telemetry.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57625"/>
            <a:ext cx="48053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Demand Forecasting: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4–52 week forward 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62425"/>
            <a:ext cx="48053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Data Quality Radar: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Completeness &amp; null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337" y="3200400"/>
            <a:ext cx="50456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Core Views 4–7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337" y="3552825"/>
            <a:ext cx="48053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Cleaning Studio: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Deduplication &amp; standardization.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37" y="3857625"/>
            <a:ext cx="48053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Statistical Deep-Dive: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Distributions &amp; correlation.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337" y="4162425"/>
            <a:ext cx="480536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0F6FC"/>
                </a:solidFill>
                <a:latin typeface="Plus Jakarta Sans"/>
              </a:rPr>
              <a:t>C-Suite Reports:</a:t>
            </a:r>
            <a:r>
              <a:rPr sz="1200" b="0" i="0" u="none">
                <a:solidFill>
                  <a:srgbClr val="8B949E"/>
                </a:solidFill>
                <a:latin typeface="Plus Jakarta Sans"/>
              </a:rPr>
              <a:t> Automated PDF &amp; Excel exports.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7956"/>
            <a:ext cx="5324475" cy="21955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7956"/>
            <a:ext cx="5324475" cy="2195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0F6FC"/>
                </a:solidFill>
                <a:latin typeface="Plus Jakarta Sans"/>
              </a:rPr>
              <a:t>14 — 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9323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Core Frameworks &amp; Libraries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993231"/>
            <a:ext cx="497062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58A6FF"/>
                </a:solidFill>
                <a:latin typeface="Plus Jakarta Sans"/>
              </a:rPr>
              <a:t>Performance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40906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Presentation: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Streamlit 1.30+, Plotly 5.18+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26668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Analytics: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Pandas 2.1+, NumPy, SciPy 1.11+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12431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9D1D9"/>
                </a:solidFill>
                <a:latin typeface="Plus Jakarta Sans"/>
              </a:rPr>
              <a:t>Forecasting:</a:t>
            </a:r>
            <a:r>
              <a:rPr sz="1275" b="0" i="0" u="none">
                <a:solidFill>
                  <a:srgbClr val="C9D1D9"/>
                </a:solidFill>
                <a:latin typeface="Plus Jakarta Sans"/>
              </a:rPr>
              <a:t> Statsmodels 0.14+, Scikit-learn 1.3+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475" y="3440906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Cached data loading reduces load time by 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475" y="3826668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Lazy chart evaluation for responsive UI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8475" y="4212431"/>
            <a:ext cx="44672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9D1D9"/>
                </a:solidFill>
                <a:latin typeface="Plus Jakarta Sans"/>
              </a:rPr>
              <a:t>Efficient pandas vectorization for 82K+ rows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479006"/>
            <a:ext cx="2000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864768"/>
            <a:ext cx="2000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250531"/>
            <a:ext cx="20002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479006"/>
            <a:ext cx="1428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864768"/>
            <a:ext cx="1428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250531"/>
            <a:ext cx="142875" cy="161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827</Words>
  <Application>Microsoft Office PowerPoint</Application>
  <PresentationFormat>Widescreen</PresentationFormat>
  <Paragraphs>138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JetBrains Mono</vt:lpstr>
      <vt:lpstr>Plus Jakarta Sans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Saiprasanth Sarathy</cp:lastModifiedBy>
  <cp:revision>1</cp:revision>
  <dcterms:created xsi:type="dcterms:W3CDTF">2013-01-27T09:14:16Z</dcterms:created>
  <dcterms:modified xsi:type="dcterms:W3CDTF">2026-09-12T04:45:35Z</dcterms:modified>
  <cp:category/>
</cp:coreProperties>
</file>